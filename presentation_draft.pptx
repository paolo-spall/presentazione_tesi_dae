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E4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44A4C-F480-9F77-23EC-D3A15925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379671-CC85-6E11-F041-81C696F9C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FE5C13-A3B5-20DC-F429-54DA5CF69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88C91-73E1-1C0D-90E5-A9AEB073DE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828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unim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1168"/>
            <a:ext cx="2743200" cy="6217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1440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87452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&amp; Frontier Methods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3464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379476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79476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79476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Simulator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91440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6519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80060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187452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6519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Comparison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80060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283464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6519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applied to autonomous exploration?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validate DRL as a drop-in decision-maker inside a modular exploration pipeline</a:t>
            </a:r>
            <a:endParaRPr lang="en-US" dirty="0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20922800-AC85-8C8E-D387-FB1501F05660}"/>
              </a:ext>
            </a:extLst>
          </p:cNvPr>
          <p:cNvSpPr/>
          <p:nvPr/>
        </p:nvSpPr>
        <p:spPr>
          <a:xfrm>
            <a:off x="384048" y="3476171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u="sng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u="sng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no human guidance — the robot decides where to go next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trade-off: exploit known areas vs. explore unknown space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search &amp; rescue, warehouse automation, planetary rovers</a:t>
            </a:r>
            <a:endParaRPr lang="en-US" sz="14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3891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Frontier: boundary between explored (free) and unknown cells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cells are grouped into clusters; each has a centroid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navigates to chosen centroids to progressively map the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clusters are split via median-axis strategy for finer resolution</a:t>
            </a:r>
            <a:endParaRPr lang="en-US" sz="1400" dirty="0"/>
          </a:p>
        </p:txBody>
      </p:sp>
      <p:pic>
        <p:nvPicPr>
          <p:cNvPr id="8" name="Image 0" descr="/home/claude/assets/frontiers_0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92040" y="896112"/>
            <a:ext cx="39776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892040" y="484632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 detected on a 20×20 grid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749040"/>
            <a:ext cx="4389120" cy="100584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813048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policies (nearest, largest) are deterministic and non-adaptive — the DRL module aims to learn a better selection strategy.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state s, takes action a, receives reward 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maximize cumulative discounted reward G = Σ γ^t r_t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estimates Q(s,a) via Bellman updates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914400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Q-Network (DQN)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approximates Q(s,a) for large state spaces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Replay: decorrelates training samples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Network: stabilizes updates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2697480"/>
            <a:ext cx="8503920" cy="2103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76148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Formalization for Frontier Selection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 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 features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(position, size, distance)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2432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2432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one of 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6344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 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6344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coverage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penalty signals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9340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 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9340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under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observability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modular pipeline: the DRL module plugs in as the frontier-selection decision-maker.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43684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62172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280660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99148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" y="2542032"/>
            <a:ext cx="7891272" cy="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26364" y="2578608"/>
            <a:ext cx="7891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Updated map feedback loop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Hybrid Agent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pipeline handles low-level navigation and 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 focuses only on high-level frontier selection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0060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Decision-Making Module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Encapsulates only the frontier-selection policy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Plug-and-play: interchangeable with any other decision strategy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Agent-Environment Simulator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Gymnasium environment: partially observable grid world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(20×20 and 30×30 cells) with random obstacle 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of the occupancy grid at each step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when coverage exceeds threshold or step budget is spent</a:t>
            </a:r>
            <a:endParaRPr lang="en-US" sz="1400" dirty="0"/>
          </a:p>
        </p:txBody>
      </p:sp>
      <p:pic>
        <p:nvPicPr>
          <p:cNvPr id="8" name="Image 0" descr="/home/claude/assets/exploration_env1_20x2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709160" y="914400"/>
            <a:ext cx="4206240" cy="3840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09160" y="4736592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true map · Right: agent's belief map (partial observability)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11480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feature vector: distance, size, angle, coordinates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(max clusters)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(agent-centered) or absolute coordinates tested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 applied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914400"/>
            <a:ext cx="411480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actions (beyond active clusters) handled via masking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at coverage threshold or step budget exceeded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reward configurations compared across the experimental campaign: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261872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— Relative / Sorted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newly explored cells at each step (relative gain)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sorted by distance (closest cluster first)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padding penalty for inactive action slots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Caused degenerate policy — agent always picks action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261872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— Absolute / Unsorted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absolute coverage reached (clearer exploration signal)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padding penalty — avoids degenerate exploitation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First configuration yielding a non-degenerate policy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206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 search: reward × observation set → best config per reward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lr, batch size, target update interval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500k / 750k / 1M steps comparison</a:t>
            </a:r>
            <a:endParaRPr lang="en-US" sz="14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63440" y="896112"/>
            <a:ext cx="4251960" cy="40233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3364992"/>
            <a:ext cx="4206240" cy="144475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3438144"/>
            <a:ext cx="397764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greedy distance policy (always selects the nearest frontier centroid). Evaluation over 20 independent test episodes per map size.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(relative)  ·  Sorted observations  ·  Distance penalty  ·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785616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partial convergence via degenerate action-0 policy</a:t>
            </a:r>
            <a:endParaRPr lang="en-US" sz="9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78561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catastrophic explosion (log₁₀ → 6)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20040" y="4069080"/>
            <a:ext cx="8503920" cy="71323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11480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Reward hacking: agent always selects action 0. Root cause — sorted observations make the padding penalty trivially exploitable.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targeted modifications resolved the degenerate behavior: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98448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observations → padding always at end → action 0 always maps to the nearest cluster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truncation penalty → always-picking-action-0 is the locally optimal (degenerate) strategy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8503920" cy="1920240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9077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Applied → Model 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distance sorting → all actions equally accessible at each step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padding penalty → agent no longer exploits padding as a reward shortcut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absolute reward → clearer and more stable exploration signal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(absolute)  ·  Unsorted observations  ·  Soft padding penalty  ·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785616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monotone convergence to ~13</a:t>
            </a:r>
            <a:endParaRPr lang="en-US" sz="900" dirty="0"/>
          </a:p>
        </p:txBody>
      </p:sp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78561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stable, no explosion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20040" y="4069080"/>
            <a:ext cx="8503920" cy="713232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11480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First non-degenerate policy. Reward converges steadily; loss remains bounded throughout training.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Comparison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20 test episodes per map size. Metric: mean exploration coverage (%) at episode end.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256032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Obs.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20×20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30×30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(baseline)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frontier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847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Degenerate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Converged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B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numerical results, coverage curves and statistical comparisons are reported in the thesis.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Splitting — Visual Detail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114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frontier cluster exceeds a size threshold it is split along the median axis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increases action resolution: agent can select finer-grained targets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figure shows two resulting sub-clusters after splitting a large boundary region</a:t>
            </a:r>
            <a:endParaRPr lang="en-US" sz="1400" dirty="0"/>
          </a:p>
        </p:txBody>
      </p:sp>
      <p:pic>
        <p:nvPicPr>
          <p:cNvPr id="8" name="Image 0" descr="/home/claude/assets/frontiers_comparison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0" y="896112"/>
            <a:ext cx="434340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0" y="4901184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original large cluster · Right: after median-axis split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337560"/>
            <a:ext cx="4114800" cy="14173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410712"/>
            <a:ext cx="388620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splitting, oversized clusters with a single centroid reduce the DRL agent's ability to distinguish distinct exploration targets, limiting policy quality.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that observation ordering and penalty magnitude critically shape the learned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sorted observations and softening the padding penalty yielded the first non-degenerate policy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transfer to real robots, multi-agent settings, dynamic and 3D environments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5A361-1298-5AD4-0919-BDE18F4DC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FCDCC7-AF0C-BD5D-F8D3-E980C39B7AA0}"/>
              </a:ext>
            </a:extLst>
          </p:cNvPr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DD1A691-E8BE-2D6F-6ECC-57F22A8E669F}"/>
              </a:ext>
            </a:extLst>
          </p:cNvPr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11A8095-D03A-2161-2712-30513E2BE325}"/>
              </a:ext>
            </a:extLst>
          </p:cNvPr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84966EF-96BF-E51B-03FD-8F407B257619}"/>
              </a:ext>
            </a:extLst>
          </p:cNvPr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F265EC9-0851-3E7B-0747-6F05F87154C7}"/>
              </a:ext>
            </a:extLst>
          </p:cNvPr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0778CC6-CBE4-A49A-77D6-61E79B7928FB}"/>
              </a:ext>
            </a:extLst>
          </p:cNvPr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that observation ordering and penalty magnitude critically shape the learned policy</a:t>
            </a:r>
            <a:endParaRPr lang="en-US" sz="13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0AF75A-8462-A13C-97ED-2AB9A14C5961}"/>
              </a:ext>
            </a:extLst>
          </p:cNvPr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30BB152-9B8F-7B41-1D01-EFA0134D9AF2}"/>
              </a:ext>
            </a:extLst>
          </p:cNvPr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sorted observations and softening the padding penalty yielded the first non-degenerate policy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B83BAFC-B50B-1EC8-B3D7-FADA157AF2C5}"/>
              </a:ext>
            </a:extLst>
          </p:cNvPr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518284A-0ECA-C870-64BD-BB7BA09EF05E}"/>
              </a:ext>
            </a:extLst>
          </p:cNvPr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8C7006B-D1C0-98E2-135B-767EA1F85D2A}"/>
              </a:ext>
            </a:extLst>
          </p:cNvPr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C8271B1-E1FB-A587-37E3-587D180ED04A}"/>
              </a:ext>
            </a:extLst>
          </p:cNvPr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transfer to real robots, multi-agent settings, dynamic and 3D environments</a:t>
            </a:r>
            <a:endParaRPr lang="en-US" sz="13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C7520149-61A3-6D81-04FE-BDC68D26EF5F}"/>
              </a:ext>
            </a:extLst>
          </p:cNvPr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5A3BAA8-F025-3D40-B9E0-8730A930931A}"/>
              </a:ext>
            </a:extLst>
          </p:cNvPr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37795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1236</TotalTime>
  <Words>1473</Words>
  <Application>Microsoft Office PowerPoint</Application>
  <PresentationFormat>Presentazione su schermo (16:9)</PresentationFormat>
  <Paragraphs>223</Paragraphs>
  <Slides>18</Slides>
  <Notes>18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3</cp:revision>
  <dcterms:created xsi:type="dcterms:W3CDTF">2026-04-01T11:00:14Z</dcterms:created>
  <dcterms:modified xsi:type="dcterms:W3CDTF">2026-04-07T10:08:06Z</dcterms:modified>
</cp:coreProperties>
</file>