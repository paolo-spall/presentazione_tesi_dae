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4A4C-F480-9F77-23EC-D3A15925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79671-CC85-6E11-F041-81C696F9C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E5C13-A3B5-20DC-F429-54DA5CF69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88C91-73E1-1C0D-90E5-A9AEB073D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2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unim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2743200" cy="6217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Dipartimento di Scienze e Metodi dell'Ingegneria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Magistrale in Digital Automation Engineering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6276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in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Autonomous Exploration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246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di: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Lorenzo Sabattini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Dott. Mattia Catellani  ·  Dott. Mattia Mantovani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 2024/2025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804672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144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64008" cy="804672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745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&amp; Frontier Methods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64008" cy="804672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8346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94760"/>
            <a:ext cx="64008" cy="8046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7947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Simulator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91440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914400"/>
            <a:ext cx="64008" cy="8046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91440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00600" y="187452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874520"/>
            <a:ext cx="64008" cy="8046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18745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416052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834640"/>
            <a:ext cx="64008" cy="8046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8346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D6E4F0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Deep Reinforcement Learning (DRL) be applied to autonomous exploration?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14644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is complex task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analytical methods exist but present some limitations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methods can provide more adaptive models</a:t>
            </a: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validate DRL as a drop-in decision-maker inside a modular exploration pipeline</a:t>
            </a:r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0922800-AC85-8C8E-D387-FB1501F05660}"/>
              </a:ext>
            </a:extLst>
          </p:cNvPr>
          <p:cNvSpPr/>
          <p:nvPr/>
        </p:nvSpPr>
        <p:spPr>
          <a:xfrm>
            <a:off x="384048" y="3476171"/>
            <a:ext cx="8412480" cy="960120"/>
          </a:xfrm>
          <a:prstGeom prst="rect">
            <a:avLst/>
          </a:prstGeom>
          <a:solidFill>
            <a:srgbClr val="D6E4F0"/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u="sng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u="sng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Exploration: systematically map an unknown environment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Autonomous: no human guidance — the robot decides where to go next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trade-off: exploit known areas vs. explore unknown space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search &amp; rescue, warehouse automation, planetary rovers</a:t>
            </a:r>
            <a:endParaRPr lang="en-US" sz="1400" dirty="0"/>
          </a:p>
        </p:txBody>
      </p:sp>
      <p:pic>
        <p:nvPicPr>
          <p:cNvPr id="8" name="Image 0" descr="/home/claude/assets/frontiers_pic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914400"/>
            <a:ext cx="36576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exploration illustration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Exploration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Frontier: boundary between explored (free) and unknown cells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cells are grouped into clusters; each has a centroid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navigates to chosen centroids to progressively map the environment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clusters are split via median-axis strategy for finer resolution</a:t>
            </a:r>
            <a:endParaRPr lang="en-US" sz="1400" dirty="0"/>
          </a:p>
        </p:txBody>
      </p:sp>
      <p:pic>
        <p:nvPicPr>
          <p:cNvPr id="8" name="Image 0" descr="/home/claude/assets/frontiers_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2040" y="896112"/>
            <a:ext cx="39776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92040" y="48463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clusters detected on a 20×20 grid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3749040"/>
            <a:ext cx="43891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813048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policies (nearest, largest) are deterministic and non-adaptive — the DRL module aims to learn a better selection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0690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40690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state s, takes action a, receives reward r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cumulative discounted reward G = Σ γ^t r_t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estimates Q(s,a) via Bellman updates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690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14400"/>
            <a:ext cx="4069080" cy="36576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 (DQN)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16736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approximates Q(s,a) for large state spaces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Replay: decorrelates training samples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Network: stabilizes updates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8503920" cy="2103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61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Formalization for Frontier Selection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0906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01568"/>
            <a:ext cx="1965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cluster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(position, size, distance)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4328" y="30906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24328" y="3401568"/>
            <a:ext cx="1965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of 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clusters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0906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401568"/>
            <a:ext cx="1965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coverage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penalty signals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309067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 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93408" y="3401568"/>
            <a:ext cx="1965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under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observability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pipeline: the DRL module plugs in as the frontier-selection decision-maker.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" y="1353312"/>
            <a:ext cx="1417320" cy="987552"/>
          </a:xfrm>
          <a:prstGeom prst="rect">
            <a:avLst/>
          </a:prstGeom>
          <a:solidFill>
            <a:srgbClr val="28527A"/>
          </a:solidFill>
          <a:ln w="12700">
            <a:solidFill>
              <a:srgbClr val="2852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" y="1353312"/>
            <a:ext cx="1417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43684" y="1847088"/>
            <a:ext cx="201168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4852" y="1353312"/>
            <a:ext cx="1417320" cy="98755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4852" y="1353312"/>
            <a:ext cx="1417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62172" y="1847088"/>
            <a:ext cx="201168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63340" y="1353312"/>
            <a:ext cx="1417320" cy="987552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1353312"/>
            <a:ext cx="1417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Decision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80660" y="1847088"/>
            <a:ext cx="201168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1828" y="1353312"/>
            <a:ext cx="1417320" cy="98755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1828" y="1353312"/>
            <a:ext cx="1417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99148" y="1847088"/>
            <a:ext cx="201168" cy="0"/>
          </a:xfrm>
          <a:prstGeom prst="line">
            <a:avLst/>
          </a:prstGeom>
          <a:noFill/>
          <a:ln w="25400">
            <a:solidFill>
              <a:srgbClr val="1A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0316" y="1353312"/>
            <a:ext cx="1417320" cy="987552"/>
          </a:xfrm>
          <a:prstGeom prst="rect">
            <a:avLst/>
          </a:prstGeom>
          <a:solidFill>
            <a:srgbClr val="28527A"/>
          </a:solidFill>
          <a:ln w="12700">
            <a:solidFill>
              <a:srgbClr val="2852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0316" y="1353312"/>
            <a:ext cx="1417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" y="2542032"/>
            <a:ext cx="7891272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26364" y="2578608"/>
            <a:ext cx="7891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Updated map feedback 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397764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Hybrid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337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pipeline handles low-level navigation and mapping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 focuses only on high-level frontier selection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971800"/>
            <a:ext cx="397764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449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Decision-Making Module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337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only the frontier-selection policy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Plug-and-play: interchangeable with any other decision strategy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Agent-Environment Simulator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251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Gymnasium environment: partially observable grid world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maps (20×20 and 30×30 cells) with random obstacle placement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a local window of the occupancy grid at each step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ends when coverage exceeds threshold or step budget is spent</a:t>
            </a:r>
            <a:endParaRPr lang="en-US" sz="1400" dirty="0"/>
          </a:p>
        </p:txBody>
      </p:sp>
      <p:pic>
        <p:nvPicPr>
          <p:cNvPr id="8" name="Image 0" descr="/home/claude/assets/exploration_env1_20x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914400"/>
            <a:ext cx="420624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473659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true map · Right: agent's belief map (partial observability)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Observations &amp; Actions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4114800" cy="3886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411480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feature vector: distance, size, angle, coordinates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to fixed length N (max clusters) for consistent DNN input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(agent-centered) or absolute coordinates tested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 random order — no sorting applied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14800" cy="3886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114800" cy="36576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16736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select one of N frontier cluster centroids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actions (beyond active clusters) handled via masking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centroid passed to Path Planner for navigation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ends at coverage threshold or step budget exceeded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Reward Shaping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reward configurations compared across the experimental campaign: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4069080" cy="3429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4069080" cy="36576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7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1 — Relative / Sorted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newly explored cells at each step (relative gain)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sorted by distance (closest cluster first)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padding penalty for inactive action slots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Caused degenerate policy — agent always picks action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069080" cy="3429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61872"/>
            <a:ext cx="406908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07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2 — Absolute / Unsorted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6420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= absolute coverage reached (clearer exploration signal)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 random order — no sorting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padding penalty — avoids degenerate exploitation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First configuration yielding a non-degenerate policy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Campaign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Config search: reward × observation set → best config per reward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Hyperparameter optimization: lr, batch size, target update interval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Training budget: 500k / 750k / 1M steps comparison</a:t>
            </a:r>
            <a:endParaRPr lang="en-US" sz="1400" dirty="0"/>
          </a:p>
        </p:txBody>
      </p:sp>
      <p:pic>
        <p:nvPicPr>
          <p:cNvPr id="8" name="Image 0" descr="/home/claude/assets/experimental_process_whi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896112"/>
            <a:ext cx="425196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3364992"/>
            <a:ext cx="420624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438144"/>
            <a:ext cx="3977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greedy distance policy (always selects the nearest frontier centroid). Evaluation over 20 independent test episodes per map size.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1: Degenerate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850392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1 (relative)  ·  Sorted observations  ·  Distance penalty  ·  1M steps</a:t>
            </a:r>
            <a:endParaRPr lang="en-US" sz="1200" dirty="0"/>
          </a:p>
        </p:txBody>
      </p:sp>
      <p:pic>
        <p:nvPicPr>
          <p:cNvPr id="9" name="Image 0" descr="/home/claude/assets/relative_sorted_1e6_loss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63040"/>
            <a:ext cx="5212080" cy="23225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7856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 — partial convergence via degenerate action-0 policy</a:t>
            </a:r>
            <a:endParaRPr lang="en-US" sz="900" dirty="0"/>
          </a:p>
        </p:txBody>
      </p:sp>
      <p:pic>
        <p:nvPicPr>
          <p:cNvPr id="11" name="Image 1" descr="/home/claude/assets/relative_sorted_1e6_train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3560" y="1463040"/>
            <a:ext cx="3200400" cy="23225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37856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 — catastrophic explosion (log₁₀ → 6)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" y="4069080"/>
            <a:ext cx="8503920" cy="713232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1148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Reward hacking: agent always selects action 0. Root cause — sorted observations make the padding penalty trivially exploitable.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Reward Hacking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targeted modifications resolved the degenerate behavior: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8503920" cy="1444752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observations → padding always at end → action 0 always maps to the nearest cluster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truncation penalty → always-picking-action-0 is the locally optimal (degenerate) strategy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1920240"/>
          </a:xfrm>
          <a:prstGeom prst="rect">
            <a:avLst/>
          </a:prstGeom>
          <a:solidFill>
            <a:srgbClr val="F0F8F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07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 → Model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distance sorting → all actions equally accessible at each step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padding penalty → agent no longer exploits padding as a reward shortcut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absolute reward → clearer and more stable exploration signal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850392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2 (absolute)  ·  Unsorted observations  ·  Soft padding penalty  ·  1M steps</a:t>
            </a:r>
            <a:endParaRPr lang="en-US" sz="1200" dirty="0"/>
          </a:p>
        </p:txBody>
      </p:sp>
      <p:pic>
        <p:nvPicPr>
          <p:cNvPr id="9" name="Image 0" descr="/home/claude/assets/absolute_ag_notsorted_1e6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63040"/>
            <a:ext cx="5212080" cy="23225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785616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 — monotone convergence to ~13</a:t>
            </a:r>
            <a:endParaRPr lang="en-US" sz="900" dirty="0"/>
          </a:p>
        </p:txBody>
      </p:sp>
      <p:pic>
        <p:nvPicPr>
          <p:cNvPr id="11" name="Image 1" descr="/home/claude/assets/absolute_ag_notsorted_1e6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3560" y="1463040"/>
            <a:ext cx="3200400" cy="23225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37856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 — stable, no explosion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0040" y="4069080"/>
            <a:ext cx="8503920" cy="713232"/>
          </a:xfrm>
          <a:prstGeom prst="rect">
            <a:avLst/>
          </a:prstGeom>
          <a:solidFill>
            <a:srgbClr val="F0F8F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1148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non-degenerate policy. Reward converges steadily; loss remains bounded throughout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20 test episodes per map size. Metric: mean exploration coverage (%) at episode end.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25603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20×20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30×30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frontier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4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Degenerate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Converged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numerical results, coverage curves and statistical comparisons are reported in the thesis.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8463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Splitting — Visual Detail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frontier cluster exceeds a size threshold it is split along the median axis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increases action resolution: agent can select finer-grained targets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figure shows two resulting sub-clusters after splitting a large boundary region</a:t>
            </a:r>
            <a:endParaRPr lang="en-US" sz="1400" dirty="0"/>
          </a:p>
        </p:txBody>
      </p:sp>
      <p:pic>
        <p:nvPicPr>
          <p:cNvPr id="8" name="Image 0" descr="/home/claude/assets/frontiers_comparis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896112"/>
            <a:ext cx="434340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0" y="4901184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original large cluster · Right: after median-axis split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3337560"/>
            <a:ext cx="411480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410712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splitting, oversized clusters with a single centroid reduce the DRL agent's ability to distinguish distinct exploration targets, limiting policy quality.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96926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DQN agent was successfully integrated as the decision-making module in a modular frontier-based exploration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2821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revealed that observation ordering and penalty magnitude critically shape the learned policy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87168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sorted observations and softening the padding penalty yielded the first non-degenerate policy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demonstrates convergent training with stable loss — a proof-of-concept for learned frontier selection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transfer to real robots, multi-agent settings, dynamic and 3D environments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A361-1298-5AD4-0919-BDE18F4D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FCDCC7-AF0C-BD5D-F8D3-E980C39B7AA0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D1A691-E8BE-2D6F-6ECC-57F22A8E669F}"/>
              </a:ext>
            </a:extLst>
          </p:cNvPr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1A8095-D03A-2161-2712-30513E2BE325}"/>
              </a:ext>
            </a:extLst>
          </p:cNvPr>
          <p:cNvSpPr/>
          <p:nvPr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4966EF-96BF-E51B-03FD-8F407B257619}"/>
              </a:ext>
            </a:extLst>
          </p:cNvPr>
          <p:cNvSpPr/>
          <p:nvPr/>
        </p:nvSpPr>
        <p:spPr>
          <a:xfrm>
            <a:off x="804672" y="96926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DQN agent was successfully integrated as the decision-making module in a modular frontier-based exploration pipeline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265EC9-0851-3E7B-0747-6F05F87154C7}"/>
              </a:ext>
            </a:extLst>
          </p:cNvPr>
          <p:cNvSpPr/>
          <p:nvPr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0778CC6-CBE4-A49A-77D6-61E79B7928FB}"/>
              </a:ext>
            </a:extLst>
          </p:cNvPr>
          <p:cNvSpPr/>
          <p:nvPr/>
        </p:nvSpPr>
        <p:spPr>
          <a:xfrm>
            <a:off x="804672" y="172821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revealed that observation ordering and penalty magnitude critically shape the learned policy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0AF75A-8462-A13C-97ED-2AB9A14C5961}"/>
              </a:ext>
            </a:extLst>
          </p:cNvPr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30BB152-9B8F-7B41-1D01-EFA0134D9AF2}"/>
              </a:ext>
            </a:extLst>
          </p:cNvPr>
          <p:cNvSpPr/>
          <p:nvPr/>
        </p:nvSpPr>
        <p:spPr>
          <a:xfrm>
            <a:off x="804672" y="2487168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sorted observations and softening the padding penalty yielded the first non-degenerate policy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B83BAFC-B50B-1EC8-B3D7-FADA157AF2C5}"/>
              </a:ext>
            </a:extLst>
          </p:cNvPr>
          <p:cNvSpPr/>
          <p:nvPr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518284A-0ECA-C870-64BD-BB7BA09EF05E}"/>
              </a:ext>
            </a:extLst>
          </p:cNvPr>
          <p:cNvSpPr/>
          <p:nvPr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demonstrates convergent training with stable loss — a proof-of-concept for learned frontier selection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8C7006B-D1C0-98E2-135B-767EA1F85D2A}"/>
              </a:ext>
            </a:extLst>
          </p:cNvPr>
          <p:cNvSpPr/>
          <p:nvPr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C8271B1-E1FB-A587-37E3-587D180ED04A}"/>
              </a:ext>
            </a:extLst>
          </p:cNvPr>
          <p:cNvSpPr/>
          <p:nvPr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transfer to real robots, multi-agent settings, dynamic and 3D environments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7520149-61A3-6D81-04FE-BDC68D26EF5F}"/>
              </a:ext>
            </a:extLst>
          </p:cNvPr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5A3BAA8-F025-3D40-B9E0-8730A930931A}"/>
              </a:ext>
            </a:extLst>
          </p:cNvPr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37795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41429A-0E20-4A37-B7F9-5B30E28FAAB5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a0536ab6-2f2e-4d83-9a69-81edefdca9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1473</Words>
  <Application>Microsoft Office PowerPoint</Application>
  <PresentationFormat>Presentazione su schermo (16:9)</PresentationFormat>
  <Paragraphs>223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in Frontier-Based Autonomous Exploration</dc:title>
  <dc:subject>PptxGenJS Presentation</dc:subject>
  <dc:creator>Paolo Spallanzani</dc:creator>
  <cp:lastModifiedBy>PAOLO SPALLANZANI</cp:lastModifiedBy>
  <cp:revision>3</cp:revision>
  <dcterms:created xsi:type="dcterms:W3CDTF">2026-04-01T11:00:14Z</dcterms:created>
  <dcterms:modified xsi:type="dcterms:W3CDTF">2026-04-07T15:08:53Z</dcterms:modified>
</cp:coreProperties>
</file>