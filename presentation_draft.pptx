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E4F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019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44A4C-F480-9F77-23EC-D3A159256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379671-CC85-6E11-F041-81C696F9C0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FE5C13-A3B5-20DC-F429-54DA5CF69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E88C91-73E1-1C0D-90E5-A9AEB073DE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8288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unim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1168"/>
            <a:ext cx="2743200" cy="6217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93268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Dipartimento di Scienze e Metodi dell'Ingegneria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2801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 di Laurea Magistrale in Digital Automation Engineering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627632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 in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Autonomous Exploration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2286000" y="3127248"/>
            <a:ext cx="45720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32461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 di Laurea di: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3566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Relatore: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Lorenzo Sabattini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914400" y="3858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Correlatori: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Dott. Mattia Catellani  ·  Dott. Mattia Mantovani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Accademico 2024/2025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1440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914400"/>
            <a:ext cx="64008" cy="80467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91440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187452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874520"/>
            <a:ext cx="64008" cy="80467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187452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&amp; Frontier Methods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283464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834640"/>
            <a:ext cx="64008" cy="80467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" y="283464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379476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379476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" y="379476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Simulator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800600" y="91440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00600" y="91440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65192" y="91440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800600" y="187452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00600" y="187452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65192" y="187452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Comparison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800600" y="283464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00600" y="283464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65192" y="283464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14400"/>
            <a:ext cx="8412480" cy="960120"/>
          </a:xfrm>
          <a:prstGeom prst="rect">
            <a:avLst/>
          </a:prstGeom>
          <a:solidFill>
            <a:srgbClr val="D6E4F0"/>
          </a:solidFill>
          <a:ln w="12700">
            <a:solidFill>
              <a:schemeClr val="accent1">
                <a:lumMod val="50000"/>
              </a:scheme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(DRL) be applied to autonomous exploration?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8229600" cy="1464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is complex task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analytical methods exist but present some limitations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 methods can provide more adaptive models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validate DRL as a drop-in decision-maker inside a modular exploration pipeline</a:t>
            </a:r>
            <a:endParaRPr lang="en-US" dirty="0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20922800-AC85-8C8E-D387-FB1501F05660}"/>
              </a:ext>
            </a:extLst>
          </p:cNvPr>
          <p:cNvSpPr/>
          <p:nvPr/>
        </p:nvSpPr>
        <p:spPr>
          <a:xfrm>
            <a:off x="384048" y="3476171"/>
            <a:ext cx="8412480" cy="960120"/>
          </a:xfrm>
          <a:prstGeom prst="rect">
            <a:avLst/>
          </a:prstGeom>
          <a:solidFill>
            <a:srgbClr val="D6E4F0"/>
          </a:solidFill>
          <a:ln w="12700">
            <a:solidFill>
              <a:schemeClr val="accent1">
                <a:lumMod val="50000"/>
              </a:schemeClr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u="sng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u="sng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Exploration: systematically map an unknown environment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Autonomous: no human guidance — the robot decides where to go next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trade-off: exploit known areas vs. explore unknown space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search &amp; rescue, warehouse automation, planetary rovers</a:t>
            </a:r>
            <a:endParaRPr lang="en-US" sz="1400" dirty="0"/>
          </a:p>
        </p:txBody>
      </p:sp>
      <p:pic>
        <p:nvPicPr>
          <p:cNvPr id="8" name="Image 0" descr="/home/claude/assets/frontiers_pictur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57800" y="914400"/>
            <a:ext cx="3657600" cy="3246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257800" y="4160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 illustration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3891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Frontier: boundary between explored (free) and unknown cells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cells are grouped into clusters; each has a centroid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navigates to chosen centroids to progressively map the environment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clusters are split via median-axis strategy for finer resolution</a:t>
            </a:r>
            <a:endParaRPr lang="en-US" sz="1400" dirty="0"/>
          </a:p>
        </p:txBody>
      </p:sp>
      <p:pic>
        <p:nvPicPr>
          <p:cNvPr id="8" name="Image 0" descr="/home/claude/assets/frontiers_0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92040" y="896112"/>
            <a:ext cx="39776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892040" y="4846320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clusters detected on a 20×20 grid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65760" y="3749040"/>
            <a:ext cx="4389120" cy="100584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3813048"/>
            <a:ext cx="4160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policies (nearest, largest) are deterministic and non-adaptive — the DRL module aims to learn a better selection strategy.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914400"/>
            <a:ext cx="4069080" cy="16459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914400"/>
            <a:ext cx="406908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316736"/>
            <a:ext cx="3840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observes state s, takes action a, receives reward r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maximize cumulative discounted reward G = Σ γ^t r_t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 estimates Q(s,a) via Bellman updates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914400"/>
            <a:ext cx="4069080" cy="16459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0" y="914400"/>
            <a:ext cx="406908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Q-Network (DQN)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92040" y="1316736"/>
            <a:ext cx="3840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 approximates Q(s,a) for large state spaces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Replay: decorrelates training samples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Network: stabilizes updates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0040" y="2697480"/>
            <a:ext cx="8503920" cy="21031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76148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 Formalization for Frontier Selection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 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cluster features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(position, size, distance)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624328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624328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one of 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clusters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663440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 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63440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coverage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penalty signals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93408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 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93408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 under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observability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modular pipeline: the DRL module plugs in as the frontier-selection decision-maker.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" y="1353312"/>
            <a:ext cx="1417320" cy="987552"/>
          </a:xfrm>
          <a:prstGeom prst="rect">
            <a:avLst/>
          </a:prstGeom>
          <a:solidFill>
            <a:srgbClr val="28527A"/>
          </a:solidFill>
          <a:ln w="12700">
            <a:solidFill>
              <a:srgbClr val="2852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6364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&amp;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043684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44852" y="1353312"/>
            <a:ext cx="1417320" cy="98755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44852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62172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63340" y="1353312"/>
            <a:ext cx="1417320" cy="98755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63340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Decision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280660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1828" y="1353312"/>
            <a:ext cx="1417320" cy="98755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1828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99148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00316" y="1353312"/>
            <a:ext cx="1417320" cy="987552"/>
          </a:xfrm>
          <a:prstGeom prst="rect">
            <a:avLst/>
          </a:prstGeom>
          <a:solidFill>
            <a:srgbClr val="28527A"/>
          </a:solidFill>
          <a:ln w="12700">
            <a:solidFill>
              <a:srgbClr val="2852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00316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" y="2542032"/>
            <a:ext cx="7891272" cy="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626364" y="2578608"/>
            <a:ext cx="7891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Updated map feedback loop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971800"/>
            <a:ext cx="3977640" cy="173736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04495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Hybrid Agent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3337560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pipeline handles low-level navigation and mapping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 focuses only on high-level frontier selection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800600" y="2971800"/>
            <a:ext cx="3977640" cy="173736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0" y="304495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Decision-Making Module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37760" y="3337560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Encapsulates only the frontier-selection policy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Plug-and-play: interchangeable with any other decision strategy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Agent-Environment Simulator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2519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Gymnasium environment: partially observable grid world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maps (20×20 and 30×30 cells) with random obstacle placement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observes a local window of the occupancy grid at each step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ends when coverage exceeds threshold or step budget is spent</a:t>
            </a:r>
            <a:endParaRPr lang="en-US" sz="1400" dirty="0"/>
          </a:p>
        </p:txBody>
      </p:sp>
      <p:pic>
        <p:nvPicPr>
          <p:cNvPr id="8" name="Image 0" descr="/home/claude/assets/exploration_env1_20x20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709160" y="914400"/>
            <a:ext cx="4206240" cy="3840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709160" y="4736592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true map · Right: agent's belief map (partial observability)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Observations &amp; Actions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914400"/>
            <a:ext cx="4114800" cy="38862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914400"/>
            <a:ext cx="411480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Space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316736"/>
            <a:ext cx="3840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setup: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Per-cluster frontiers information vector: 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centroids position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gain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Agent position (optional)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Padded to fixed length N (max clusters) for consistent DNN input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914400"/>
            <a:ext cx="4114800" cy="38862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9160" y="914400"/>
            <a:ext cx="411480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Space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1316736"/>
            <a:ext cx="3840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Discrete: select one of N frontier cluster centroids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actions (beyond active clusters) handled via masking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centroid passed to Path Planner for navigation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ends at coverage threshold or step budget exceeded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Reward Shaping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reward configurations compared across the experimental campaign: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61872"/>
            <a:ext cx="4069080" cy="34290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261872"/>
            <a:ext cx="406908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3075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1 — Relative / Sorted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1664208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= newly explored cells at each step (relative gain)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sorted by distance (closest cluster first)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padding penalty for inactive action slots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Caused degenerate policy — agent always picks action 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1261872"/>
            <a:ext cx="4069080" cy="34290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1261872"/>
            <a:ext cx="406908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13075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2 — Absolute / Unsorted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1664208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= absolute coverage reached (clearer exploration signal)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in random order — no sorting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padding penalty — avoids degenerate exploitation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First configuration yielding a non-degenerate policy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Campaign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1" y="914400"/>
            <a:ext cx="4346786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Configuration search: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× observation set </a:t>
            </a: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best configuration per reward</a:t>
            </a:r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Hyperparameter optimization: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converged to a single optimal hyperparameter set</a:t>
            </a:r>
          </a:p>
          <a:p>
            <a:pPr>
              <a:spcAft>
                <a:spcPts val="500"/>
              </a:spcAft>
              <a:buSzPct val="100000"/>
            </a:pP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Training budget: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500k / 750k / 1M time steps </a:t>
            </a: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 best models selected</a:t>
            </a:r>
            <a:endParaRPr lang="en-US" sz="1300" dirty="0"/>
          </a:p>
        </p:txBody>
      </p:sp>
      <p:pic>
        <p:nvPicPr>
          <p:cNvPr id="8" name="Image 0" descr="/home/claude/assets/experimental_process_whit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37814" y="797559"/>
            <a:ext cx="4377586" cy="41422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65760" y="3364992"/>
            <a:ext cx="4206240" cy="1207008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3337560"/>
            <a:ext cx="3977640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greedy distance policy (always selects the nearest frontier centroid). Evaluation over 100 independent test episodes per map size.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1: Degenerate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96112"/>
            <a:ext cx="8503920" cy="475488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Config: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1 (relative)  ·  Sorted observations  ·  Distance penalty  ·  1M steps</a:t>
            </a:r>
            <a:endParaRPr lang="en-US" sz="1200" dirty="0"/>
          </a:p>
        </p:txBody>
      </p:sp>
      <p:pic>
        <p:nvPicPr>
          <p:cNvPr id="9" name="Image 0" descr="/home/claude/assets/relative_sorted_1e6_loss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463040"/>
            <a:ext cx="5212080" cy="232257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0040" y="367724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 — partial convergence via degenerate action-0 policy</a:t>
            </a:r>
            <a:endParaRPr lang="en-US" sz="900" dirty="0"/>
          </a:p>
        </p:txBody>
      </p:sp>
      <p:pic>
        <p:nvPicPr>
          <p:cNvPr id="11" name="Image 1" descr="/home/claude/assets/relative_sorted_1e6_train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23560" y="1463040"/>
            <a:ext cx="3200400" cy="23225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36772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 — catastrophic explosion (log₁₀ → 6)</a:t>
            </a:r>
            <a:endParaRPr lang="en-US" sz="900" dirty="0"/>
          </a:p>
        </p:txBody>
      </p:sp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945D122D-FE56-F66D-9E60-75297FD910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4257202"/>
              </p:ext>
            </p:extLst>
          </p:nvPr>
        </p:nvGraphicFramePr>
        <p:xfrm>
          <a:off x="352044" y="4005244"/>
          <a:ext cx="4219956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6652">
                  <a:extLst>
                    <a:ext uri="{9D8B030D-6E8A-4147-A177-3AD203B41FA5}">
                      <a16:colId xmlns:a16="http://schemas.microsoft.com/office/drawing/2014/main" val="2279340693"/>
                    </a:ext>
                  </a:extLst>
                </a:gridCol>
                <a:gridCol w="1406652">
                  <a:extLst>
                    <a:ext uri="{9D8B030D-6E8A-4147-A177-3AD203B41FA5}">
                      <a16:colId xmlns:a16="http://schemas.microsoft.com/office/drawing/2014/main" val="2914056647"/>
                    </a:ext>
                  </a:extLst>
                </a:gridCol>
                <a:gridCol w="1406652">
                  <a:extLst>
                    <a:ext uri="{9D8B030D-6E8A-4147-A177-3AD203B41FA5}">
                      <a16:colId xmlns:a16="http://schemas.microsoft.com/office/drawing/2014/main" val="201198834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Evaluation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reward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Mean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Std</a:t>
                      </a: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. Dev.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859134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9868980"/>
                  </a:ext>
                </a:extLst>
              </a:tr>
            </a:tbl>
          </a:graphicData>
        </a:graphic>
      </p:graphicFrame>
      <p:graphicFrame>
        <p:nvGraphicFramePr>
          <p:cNvPr id="16" name="Tabella 15">
            <a:extLst>
              <a:ext uri="{FF2B5EF4-FFF2-40B4-BE49-F238E27FC236}">
                <a16:creationId xmlns:a16="http://schemas.microsoft.com/office/drawing/2014/main" id="{CCE04E66-40C1-8541-5EBD-A14D9983E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8463427"/>
              </p:ext>
            </p:extLst>
          </p:nvPr>
        </p:nvGraphicFramePr>
        <p:xfrm>
          <a:off x="5623560" y="3674531"/>
          <a:ext cx="320040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377822568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1372306556"/>
                    </a:ext>
                  </a:extLst>
                </a:gridCol>
              </a:tblGrid>
              <a:tr h="226906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Evaluation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 sz="1200" dirty="0"/>
                    </a:p>
                  </a:txBody>
                  <a:tcPr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8575100"/>
                  </a:ext>
                </a:extLst>
              </a:tr>
              <a:tr h="226906">
                <a:tc>
                  <a:txBody>
                    <a:bodyPr/>
                    <a:lstStyle/>
                    <a:p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Mean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Reward</a:t>
                      </a:r>
                      <a:endParaRPr lang="it-IT" sz="12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 err="1"/>
                        <a:t>Std</a:t>
                      </a:r>
                      <a:r>
                        <a:rPr lang="it-IT" sz="1200" dirty="0"/>
                        <a:t>. Dev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184145"/>
                  </a:ext>
                </a:extLst>
              </a:tr>
              <a:tr h="226906">
                <a:tc>
                  <a:txBody>
                    <a:bodyPr/>
                    <a:lstStyle/>
                    <a:p>
                      <a:endParaRPr lang="it-IT" sz="1200" dirty="0"/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endParaRPr lang="it-IT" sz="1200" dirty="0"/>
                    </a:p>
                  </a:txBody>
                  <a:tcPr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062418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Reward Hacking Analysis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targeted modifications resolved the degenerate behavior: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98448"/>
            <a:ext cx="8503920" cy="1444752"/>
          </a:xfrm>
          <a:prstGeom prst="rect">
            <a:avLst/>
          </a:prstGeom>
          <a:solidFill>
            <a:srgbClr val="FFF3F3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371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1664208"/>
            <a:ext cx="8138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observations → padding always at end → action 0 always maps to the nearest cluster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truncation penalty → always-picking-action-0 is the locally optimal (degenerate) strategy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2834640"/>
            <a:ext cx="8503920" cy="1920240"/>
          </a:xfrm>
          <a:prstGeom prst="rect">
            <a:avLst/>
          </a:prstGeom>
          <a:solidFill>
            <a:srgbClr val="F0F8F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9077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Applied → Model 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3218688"/>
            <a:ext cx="81381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distance sorting → all actions equally accessible at each step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 padding penalty → agent no longer exploits padding as a reward shortcut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absolute reward → clearer and more stable exploration signal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2: Successful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96112"/>
            <a:ext cx="8503920" cy="475488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Config: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2 (absolute)  ·  Unsorted observations  ·  Soft padding penalty  ·  1M steps</a:t>
            </a:r>
            <a:endParaRPr lang="en-US" sz="1200" dirty="0"/>
          </a:p>
        </p:txBody>
      </p:sp>
      <p:pic>
        <p:nvPicPr>
          <p:cNvPr id="9" name="Image 0" descr="/home/claude/assets/absolute_ag_notsorted_1e6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463040"/>
            <a:ext cx="5212080" cy="232257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0040" y="3785616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 — monotone convergence to ~13</a:t>
            </a:r>
            <a:endParaRPr lang="en-US" sz="900" dirty="0"/>
          </a:p>
        </p:txBody>
      </p:sp>
      <p:pic>
        <p:nvPicPr>
          <p:cNvPr id="11" name="Image 1" descr="/home/claude/assets/absolute_ag_notsorted_1e6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23560" y="1463040"/>
            <a:ext cx="3200400" cy="23225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3785616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 — stable, no explosion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320040" y="4069080"/>
            <a:ext cx="8503920" cy="713232"/>
          </a:xfrm>
          <a:prstGeom prst="rect">
            <a:avLst/>
          </a:prstGeom>
          <a:solidFill>
            <a:srgbClr val="F0F8F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02920" y="4114800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First non-degenerate policy. Reward converges steadily; loss remains bounded throughout training.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Comparison Summary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on 20 test episodes per map size. Metric: mean exploration coverage (%) at episode end.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298448"/>
          <a:ext cx="8503920" cy="2560320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Reward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Obs. Order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20×20 Coverage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30×30 Coverage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Greedy (baseline)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Nearest frontier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847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Degenerate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Absolute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Unsorted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thesis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thesis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Converged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B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45720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numerical results, coverage curves and statistical comparisons are reported in the thesis.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Splitting — Visual Detail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1148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frontier cluster exceeds a size threshold it is split along the median axis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Splitting increases action resolution: agent can select finer-grained targets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figure shows two resulting sub-clusters after splitting a large boundary region</a:t>
            </a:r>
            <a:endParaRPr lang="en-US" sz="1400" dirty="0"/>
          </a:p>
        </p:txBody>
      </p:sp>
      <p:pic>
        <p:nvPicPr>
          <p:cNvPr id="8" name="Image 0" descr="/home/claude/assets/frontiers_comparison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0" y="896112"/>
            <a:ext cx="4343400" cy="4023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0" y="4901184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original large cluster · Right: after median-axis split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65760" y="3337560"/>
            <a:ext cx="4114800" cy="14173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3410712"/>
            <a:ext cx="3886200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splitting, oversized clusters with a single centroid reduce the DRL agent's ability to distinguish distinct exploration targets, limiting policy quality.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DQN agent was successfully integrated as the decision-making module in a modular frontier-based exploration pipeline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hacking revealed that observation ordering and penalty magnitude critically shape the learned policy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sorted observations and softening the padding penalty yielded the first non-degenerate policy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 demonstrates convergent training with stable loss — a proof-of-concept for learned frontier selection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transfer to real robots, multi-agent settings, dynamic and 3D environments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5A361-1298-5AD4-0919-BDE18F4DC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9FCDCC7-AF0C-BD5D-F8D3-E980C39B7AA0}"/>
              </a:ext>
            </a:extLst>
          </p:cNvPr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DD1A691-E8BE-2D6F-6ECC-57F22A8E669F}"/>
              </a:ext>
            </a:extLst>
          </p:cNvPr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11A8095-D03A-2161-2712-30513E2BE325}"/>
              </a:ext>
            </a:extLst>
          </p:cNvPr>
          <p:cNvSpPr/>
          <p:nvPr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84966EF-96BF-E51B-03FD-8F407B257619}"/>
              </a:ext>
            </a:extLst>
          </p:cNvPr>
          <p:cNvSpPr/>
          <p:nvPr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DQN agent was successfully integrated as the decision-making module in a modular frontier-based exploration pipeline</a:t>
            </a:r>
            <a:endParaRPr lang="en-US" sz="13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F265EC9-0851-3E7B-0747-6F05F87154C7}"/>
              </a:ext>
            </a:extLst>
          </p:cNvPr>
          <p:cNvSpPr/>
          <p:nvPr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0778CC6-CBE4-A49A-77D6-61E79B7928FB}"/>
              </a:ext>
            </a:extLst>
          </p:cNvPr>
          <p:cNvSpPr/>
          <p:nvPr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hacking revealed that observation ordering and penalty magnitude critically shape the learned policy</a:t>
            </a:r>
            <a:endParaRPr lang="en-US" sz="13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E0AF75A-8462-A13C-97ED-2AB9A14C5961}"/>
              </a:ext>
            </a:extLst>
          </p:cNvPr>
          <p:cNvSpPr/>
          <p:nvPr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30BB152-9B8F-7B41-1D01-EFA0134D9AF2}"/>
              </a:ext>
            </a:extLst>
          </p:cNvPr>
          <p:cNvSpPr/>
          <p:nvPr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sorted observations and softening the padding penalty yielded the first non-degenerate policy</a:t>
            </a:r>
            <a:endParaRPr lang="en-US" sz="13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1B83BAFC-B50B-1EC8-B3D7-FADA157AF2C5}"/>
              </a:ext>
            </a:extLst>
          </p:cNvPr>
          <p:cNvSpPr/>
          <p:nvPr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518284A-0ECA-C870-64BD-BB7BA09EF05E}"/>
              </a:ext>
            </a:extLst>
          </p:cNvPr>
          <p:cNvSpPr/>
          <p:nvPr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 demonstrates convergent training with stable loss — a proof-of-concept for learned frontier selection</a:t>
            </a:r>
            <a:endParaRPr lang="en-US" sz="13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08C7006B-D1C0-98E2-135B-767EA1F85D2A}"/>
              </a:ext>
            </a:extLst>
          </p:cNvPr>
          <p:cNvSpPr/>
          <p:nvPr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AC8271B1-E1FB-A587-37E3-587D180ED04A}"/>
              </a:ext>
            </a:extLst>
          </p:cNvPr>
          <p:cNvSpPr/>
          <p:nvPr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transfer to real robots, multi-agent settings, dynamic and 3D environments</a:t>
            </a:r>
            <a:endParaRPr lang="en-US" sz="13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C7520149-61A3-6D81-04FE-BDC68D26EF5F}"/>
              </a:ext>
            </a:extLst>
          </p:cNvPr>
          <p:cNvSpPr/>
          <p:nvPr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5A3BAA8-F025-3D40-B9E0-8730A930931A}"/>
              </a:ext>
            </a:extLst>
          </p:cNvPr>
          <p:cNvSpPr/>
          <p:nvPr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1377958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F41429A-0E20-4A37-B7F9-5B30E28FAAB5}">
  <we:reference id="wa200010001" version="1.0.0.1" store="it-IT" storeType="OMEX"/>
  <we:alternateReferences>
    <we:reference id="WA200010001" version="1.0.0.1" store="WA200010001" storeType="OMEX"/>
  </we:alternateReferences>
  <we:properties>
    <we:property name="claude.fileId" value="&quot;a0536ab6-2f2e-4d83-9a69-81edefdca97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1784</TotalTime>
  <Words>1454</Words>
  <Application>Microsoft Office PowerPoint</Application>
  <PresentationFormat>Presentazione su schermo (16:9)</PresentationFormat>
  <Paragraphs>232</Paragraphs>
  <Slides>18</Slides>
  <Notes>18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18</vt:i4>
      </vt:variant>
    </vt:vector>
  </HeadingPairs>
  <TitlesOfParts>
    <vt:vector size="22" baseType="lpstr">
      <vt:lpstr>Arial</vt:lpstr>
      <vt:lpstr>Calibri</vt:lpstr>
      <vt:lpstr>Courier New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Reinforcement Learning in Frontier-Based Autonomous Exploration</dc:title>
  <dc:subject>PptxGenJS Presentation</dc:subject>
  <dc:creator>Paolo Spallanzani</dc:creator>
  <cp:lastModifiedBy>PAOLO SPALLANZANI</cp:lastModifiedBy>
  <cp:revision>4</cp:revision>
  <dcterms:created xsi:type="dcterms:W3CDTF">2026-04-01T11:00:14Z</dcterms:created>
  <dcterms:modified xsi:type="dcterms:W3CDTF">2026-04-07T23:37:55Z</dcterms:modified>
</cp:coreProperties>
</file>