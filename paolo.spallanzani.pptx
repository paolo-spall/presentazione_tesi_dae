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media/image6.jpg" ContentType="image/jpg"/>
  <Override PartName="/ppt/media/image7.jpg" ContentType="image/png"/>
  <Override PartName="/ppt/media/image13.jpg" ContentType="image/png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55" r:id="rId2"/>
  </p:sldMasterIdLst>
  <p:notesMasterIdLst>
    <p:notesMasterId r:id="rId26"/>
  </p:notesMasterIdLst>
  <p:sldIdLst>
    <p:sldId id="266" r:id="rId3"/>
    <p:sldId id="269" r:id="rId4"/>
    <p:sldId id="259" r:id="rId5"/>
    <p:sldId id="271" r:id="rId6"/>
    <p:sldId id="261" r:id="rId7"/>
    <p:sldId id="298" r:id="rId8"/>
    <p:sldId id="272" r:id="rId9"/>
    <p:sldId id="262" r:id="rId10"/>
    <p:sldId id="274" r:id="rId11"/>
    <p:sldId id="301" r:id="rId12"/>
    <p:sldId id="275" r:id="rId13"/>
    <p:sldId id="285" r:id="rId14"/>
    <p:sldId id="293" r:id="rId15"/>
    <p:sldId id="303" r:id="rId16"/>
    <p:sldId id="304" r:id="rId17"/>
    <p:sldId id="297" r:id="rId18"/>
    <p:sldId id="268" r:id="rId19"/>
    <p:sldId id="295" r:id="rId20"/>
    <p:sldId id="296" r:id="rId21"/>
    <p:sldId id="302" r:id="rId22"/>
    <p:sldId id="270" r:id="rId23"/>
    <p:sldId id="299" r:id="rId24"/>
    <p:sldId id="300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E4F0"/>
    <a:srgbClr val="1A2E4A"/>
    <a:srgbClr val="F5F7FA"/>
    <a:srgbClr val="4CAF50"/>
    <a:srgbClr val="C00000"/>
    <a:srgbClr val="C847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3" autoAdjust="0"/>
    <p:restoredTop sz="94564" autoAdjust="0"/>
  </p:normalViewPr>
  <p:slideViewPr>
    <p:cSldViewPr snapToGrid="0" snapToObjects="1">
      <p:cViewPr varScale="1">
        <p:scale>
          <a:sx n="107" d="100"/>
          <a:sy n="107" d="100"/>
        </p:scale>
        <p:origin x="758" y="6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4"/>
    </p:cViewPr>
  </p:sorterViewPr>
  <p:notesViewPr>
    <p:cSldViewPr snapToGrid="0" snapToObjects="1">
      <p:cViewPr varScale="1">
        <p:scale>
          <a:sx n="65" d="100"/>
          <a:sy n="65" d="100"/>
        </p:scale>
        <p:origin x="2453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6E773-304D-0695-B80C-C338BAEFE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19098D-F93F-11E3-742E-E73C99C4A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6715E9-4172-7B24-3B44-D6232A5EBA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E0895-5927-CC51-B003-92282C31E3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973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C6327-4250-763E-A628-052B56C64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C3F0A8-1A49-06BF-930E-3595AE845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8647C6-46FA-9B42-0CB0-22297E908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8EA118-BE47-C85B-9F65-71D06BDCFB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0977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2100B-E36D-2AD9-E4A2-FE9FCAD5D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6422AF-4688-128E-CA5D-EAB26F521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BA5EA-2CD4-AED6-CAEB-9FED66079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0E31A-2C70-98DD-83D9-274BDA6059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913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BD7A8-1F12-2260-B729-4A4467482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5937E6-5371-2F12-F6EE-4F70E04A23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600D65-E31C-3C9C-A2AA-FA4F21395D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15D08-8B4C-9037-2F4F-9F385213AE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2279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BEF2A485-BE30-A66E-9173-707CE568EF4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BEDA1CF-C5AE-DD5B-9342-F610121D19B1}"/>
              </a:ext>
            </a:extLst>
          </p:cNvPr>
          <p:cNvSpPr txBox="1"/>
          <p:nvPr userDrawn="1"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4AC78B8-D2E8-8FD7-43EB-3F25868399E6}"/>
              </a:ext>
            </a:extLst>
          </p:cNvPr>
          <p:cNvSpPr/>
          <p:nvPr userDrawn="1"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2" name="Footer Left"/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Author  ·  Presentation Title</a:t>
            </a:r>
          </a:p>
        </p:txBody>
      </p: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14" name="Unimore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FF9179C6-E191-5331-8606-9480C7200249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B8496F5-498E-1F51-EE9E-F1CC505A6326}"/>
              </a:ext>
            </a:extLst>
          </p:cNvPr>
          <p:cNvSpPr txBox="1"/>
          <p:nvPr userDrawn="1"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EBC8E3-3772-3517-6D88-69F15F76D304}"/>
              </a:ext>
            </a:extLst>
          </p:cNvPr>
          <p:cNvSpPr txBox="1"/>
          <p:nvPr userDrawn="1"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 content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BA9E8BA-4469-EAFF-B7DA-09787333416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6401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691527-7949-E352-4491-938A6C3CA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1216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323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espizio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526605BC-B1CA-2824-D924-78A259FD846E}"/>
              </a:ext>
            </a:extLst>
          </p:cNvPr>
          <p:cNvSpPr/>
          <p:nvPr userDrawn="1"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8B3960F7-6679-4E91-A84F-9A6E20A7E879}"/>
              </a:ext>
            </a:extLst>
          </p:cNvPr>
          <p:cNvSpPr/>
          <p:nvPr userDrawn="1"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03386294-E84F-C730-9131-561C7C53D31D}"/>
              </a:ext>
            </a:extLst>
          </p:cNvPr>
          <p:cNvSpPr/>
          <p:nvPr userDrawn="1"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848A098-266E-562A-29D8-DAABDE0F7325}"/>
              </a:ext>
            </a:extLst>
          </p:cNvPr>
          <p:cNvSpPr/>
          <p:nvPr userDrawn="1"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E5DF3F4-DC6A-CE9A-EDB9-15A7CF474C32}"/>
              </a:ext>
            </a:extLst>
          </p:cNvPr>
          <p:cNvSpPr/>
          <p:nvPr userDrawn="1"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6A2E1985-9F70-66FA-81B8-88C111D3CAD1}"/>
              </a:ext>
            </a:extLst>
          </p:cNvPr>
          <p:cNvSpPr/>
          <p:nvPr userDrawn="1"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FF24EB2-1FCF-68A9-7B8B-012D729A0F8C}"/>
              </a:ext>
            </a:extLst>
          </p:cNvPr>
          <p:cNvSpPr/>
          <p:nvPr userDrawn="1"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D378B1E1-7B7F-E3BB-F19F-235818FCA12C}"/>
              </a:ext>
            </a:extLst>
          </p:cNvPr>
          <p:cNvSpPr/>
          <p:nvPr userDrawn="1"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78AB9DC9-608E-C372-DFAB-74DA8DA9FE8C}"/>
              </a:ext>
            </a:extLst>
          </p:cNvPr>
          <p:cNvSpPr/>
          <p:nvPr userDrawn="1"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08122842-6C81-70B2-D7B4-07F57673DC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7200" y="114300"/>
            <a:ext cx="2019300" cy="72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780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>
            <a:extLst>
              <a:ext uri="{FF2B5EF4-FFF2-40B4-BE49-F238E27FC236}">
                <a16:creationId xmlns:a16="http://schemas.microsoft.com/office/drawing/2014/main" id="{EE330B32-3708-D315-1AD0-A10B738A23FC}"/>
              </a:ext>
            </a:extLst>
          </p:cNvPr>
          <p:cNvSpPr/>
          <p:nvPr userDrawn="1"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DF7A45D1-2CC8-6EAA-4EE8-FFE68F18D781}"/>
              </a:ext>
            </a:extLst>
          </p:cNvPr>
          <p:cNvSpPr/>
          <p:nvPr userDrawn="1"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04D00198-E4B5-30CC-0027-A0984F44BB91}"/>
              </a:ext>
            </a:extLst>
          </p:cNvPr>
          <p:cNvSpPr/>
          <p:nvPr userDrawn="1"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66251E09-D0A7-09EF-126D-18A49BAD8201}"/>
              </a:ext>
            </a:extLst>
          </p:cNvPr>
          <p:cNvSpPr/>
          <p:nvPr userDrawn="1"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BCE28362-0855-98A7-16B7-F75AE5519E10}"/>
              </a:ext>
            </a:extLst>
          </p:cNvPr>
          <p:cNvSpPr/>
          <p:nvPr userDrawn="1"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7B564588-27F1-D454-BF49-C741BEA540C9}"/>
              </a:ext>
            </a:extLst>
          </p:cNvPr>
          <p:cNvSpPr/>
          <p:nvPr userDrawn="1"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96D9CEE5-12B4-61A5-95C1-FFCA89560187}"/>
              </a:ext>
            </a:extLst>
          </p:cNvPr>
          <p:cNvSpPr/>
          <p:nvPr userDrawn="1"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AEADAF4D-B287-58F6-10FB-B193BEA40212}"/>
              </a:ext>
            </a:extLst>
          </p:cNvPr>
          <p:cNvSpPr/>
          <p:nvPr userDrawn="1"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4F86E7D2-0ACE-BA99-BABB-0EFACD1BC9A2}"/>
              </a:ext>
            </a:extLst>
          </p:cNvPr>
          <p:cNvSpPr/>
          <p:nvPr userDrawn="1"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61C44422-0542-B493-5AA1-72C50929A1CD}"/>
              </a:ext>
            </a:extLst>
          </p:cNvPr>
          <p:cNvSpPr/>
          <p:nvPr userDrawn="1"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970F9DB6-EB9F-417B-DA46-3CB83AC24A2D}"/>
              </a:ext>
            </a:extLst>
          </p:cNvPr>
          <p:cNvSpPr/>
          <p:nvPr userDrawn="1"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8CC124B3-CAC5-60F2-E867-12843D61BF32}"/>
              </a:ext>
            </a:extLst>
          </p:cNvPr>
          <p:cNvSpPr/>
          <p:nvPr userDrawn="1"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E7DCE628-96A6-38EF-ED31-21BF2C7F90DF}"/>
              </a:ext>
            </a:extLst>
          </p:cNvPr>
          <p:cNvSpPr/>
          <p:nvPr userDrawn="1"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304A07CA-B3AE-32F3-F8DC-F730D43B2C6A}"/>
              </a:ext>
            </a:extLst>
          </p:cNvPr>
          <p:cNvSpPr/>
          <p:nvPr userDrawn="1"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3234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2710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Unimore Logo">
            <a:extLst>
              <a:ext uri="{FF2B5EF4-FFF2-40B4-BE49-F238E27FC236}">
                <a16:creationId xmlns:a16="http://schemas.microsoft.com/office/drawing/2014/main" id="{6043A221-5444-D27B-415A-2EBF79EB34E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34467" y="4616076"/>
            <a:ext cx="1307353" cy="470647"/>
          </a:xfrm>
          <a:prstGeom prst="rect">
            <a:avLst/>
          </a:prstGeom>
        </p:spPr>
      </p:pic>
      <p:sp>
        <p:nvSpPr>
          <p:cNvPr id="4" name="Footer Left">
            <a:extLst>
              <a:ext uri="{FF2B5EF4-FFF2-40B4-BE49-F238E27FC236}">
                <a16:creationId xmlns:a16="http://schemas.microsoft.com/office/drawing/2014/main" id="{FB136CB4-7A22-1793-524D-2BE9EE009B75}"/>
              </a:ext>
            </a:extLst>
          </p:cNvPr>
          <p:cNvSpPr txBox="1"/>
          <p:nvPr userDrawn="1"/>
        </p:nvSpPr>
        <p:spPr>
          <a:xfrm>
            <a:off x="685800" y="4851399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0" r:id="rId2"/>
    <p:sldLayoutId id="2147483654" r:id="rId3"/>
    <p:sldLayoutId id="2147483669" r:id="rId4"/>
    <p:sldLayoutId id="2147483670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418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15.png"/><Relationship Id="rId4" Type="http://schemas.openxmlformats.org/officeDocument/2006/relationships/image" Target="../media/image13.jp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679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5123" y="953265"/>
            <a:ext cx="7785194" cy="960120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8696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leveraged for autonomous exploration?</a:t>
            </a:r>
            <a:endParaRPr lang="en-US" b="1" dirty="0"/>
          </a:p>
        </p:txBody>
      </p:sp>
      <p:sp>
        <p:nvSpPr>
          <p:cNvPr id="9" name="Text 7"/>
          <p:cNvSpPr/>
          <p:nvPr/>
        </p:nvSpPr>
        <p:spPr>
          <a:xfrm>
            <a:off x="756524" y="2097409"/>
            <a:ext cx="7615951" cy="10780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is a complex task</a:t>
            </a:r>
            <a:endParaRPr lang="en-US" sz="16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methods exist but present some limitations</a:t>
            </a:r>
            <a:endParaRPr lang="en-US" sz="16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methods can provide more adaptive models</a:t>
            </a:r>
            <a:endParaRPr lang="en-US" sz="1600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000FCEB4-5A5B-AECB-8434-1AA1350D5054}"/>
              </a:ext>
            </a:extLst>
          </p:cNvPr>
          <p:cNvSpPr/>
          <p:nvPr/>
        </p:nvSpPr>
        <p:spPr>
          <a:xfrm>
            <a:off x="673400" y="3324499"/>
            <a:ext cx="7827505" cy="1140342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0015EE5A-DA97-6AC7-337B-2E3B82A10631}"/>
              </a:ext>
            </a:extLst>
          </p:cNvPr>
          <p:cNvSpPr/>
          <p:nvPr/>
        </p:nvSpPr>
        <p:spPr>
          <a:xfrm>
            <a:off x="1052824" y="3766303"/>
            <a:ext cx="7023019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to investigate the possibility of integrating learning-based methods with classical ones</a:t>
            </a:r>
            <a:endParaRPr lang="en-US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9E002ABA-51D8-44C0-5622-613A998D91FA}"/>
              </a:ext>
            </a:extLst>
          </p:cNvPr>
          <p:cNvSpPr/>
          <p:nvPr/>
        </p:nvSpPr>
        <p:spPr>
          <a:xfrm>
            <a:off x="3909774" y="3293842"/>
            <a:ext cx="1324451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4336" y="1092992"/>
            <a:ext cx="4526280" cy="32321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systematically map an unknown environment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agent can perceive and moves without human guidance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autonomous exploration?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task, require simultaneous: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Mapping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Localization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Navigation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Decision making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419961" y="3687886"/>
            <a:ext cx="3136106" cy="2285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application examples</a:t>
            </a:r>
            <a:endParaRPr lang="en-US" sz="9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497BBE3-9ECA-8B02-05B1-5CA8969F94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47" r="3033"/>
          <a:stretch>
            <a:fillRect/>
          </a:stretch>
        </p:blipFill>
        <p:spPr>
          <a:xfrm>
            <a:off x="5187789" y="1277305"/>
            <a:ext cx="1757361" cy="107757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D04AF77-05C1-3B51-5275-C1DCABC700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651" b="10263"/>
          <a:stretch>
            <a:fillRect/>
          </a:stretch>
        </p:blipFill>
        <p:spPr>
          <a:xfrm>
            <a:off x="5975687" y="2421300"/>
            <a:ext cx="2043800" cy="1077575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EE99CC8A-8B36-9C8B-61FA-7500A73EB6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82" r="4233"/>
          <a:stretch>
            <a:fillRect/>
          </a:stretch>
        </p:blipFill>
        <p:spPr>
          <a:xfrm>
            <a:off x="7046588" y="1277305"/>
            <a:ext cx="1757362" cy="1077575"/>
          </a:xfrm>
          <a:prstGeom prst="rect">
            <a:avLst/>
          </a:prstGeom>
        </p:spPr>
      </p:pic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546CEDB6-C13F-EB1B-1AC8-58CA8B3E7A63}"/>
              </a:ext>
            </a:extLst>
          </p:cNvPr>
          <p:cNvCxnSpPr/>
          <p:nvPr/>
        </p:nvCxnSpPr>
        <p:spPr>
          <a:xfrm>
            <a:off x="2493163" y="3808767"/>
            <a:ext cx="27860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47D1818-D2C0-D195-C9F9-F000EE269B9B}"/>
              </a:ext>
            </a:extLst>
          </p:cNvPr>
          <p:cNvSpPr txBox="1"/>
          <p:nvPr/>
        </p:nvSpPr>
        <p:spPr>
          <a:xfrm>
            <a:off x="2836064" y="3654874"/>
            <a:ext cx="2382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 The agent must decide where to move next </a:t>
            </a:r>
            <a:endParaRPr lang="it-IT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Approaches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Best View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b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it-IT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it-IT" sz="1600" dirty="0" err="1"/>
              <a:t>ptimization</a:t>
            </a:r>
            <a:r>
              <a:rPr lang="it-IT" sz="1600" dirty="0"/>
              <a:t> </a:t>
            </a:r>
            <a:r>
              <a:rPr lang="it-IT" sz="1600" dirty="0" err="1"/>
              <a:t>problem</a:t>
            </a:r>
            <a:r>
              <a:rPr lang="it-IT" sz="1600" dirty="0"/>
              <a:t>, </a:t>
            </a:r>
            <a:r>
              <a:rPr lang="it-IT" sz="1600" dirty="0" err="1"/>
              <a:t>find</a:t>
            </a:r>
            <a:r>
              <a:rPr lang="it-IT" sz="1600" dirty="0"/>
              <a:t> the </a:t>
            </a:r>
            <a:r>
              <a:rPr lang="it-IT" sz="1600" dirty="0" err="1"/>
              <a:t>next</a:t>
            </a:r>
            <a:r>
              <a:rPr lang="it-IT" sz="1600" dirty="0"/>
              <a:t> best position for the sensing </a:t>
            </a:r>
            <a:r>
              <a:rPr lang="it-IT" sz="1600" dirty="0" err="1"/>
              <a:t>apparatus</a:t>
            </a:r>
            <a:endParaRPr lang="it-IT" sz="1600" dirty="0"/>
          </a:p>
          <a:p>
            <a:pPr>
              <a:spcAft>
                <a:spcPts val="500"/>
              </a:spcAft>
              <a:buSzPct val="100000"/>
            </a:pP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Exploration (</a:t>
            </a:r>
            <a:r>
              <a:rPr lang="it-IT" dirty="0" err="1"/>
              <a:t>Yamauchi</a:t>
            </a:r>
            <a:r>
              <a:rPr lang="it-IT" dirty="0"/>
              <a:t> 1997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/>
              <a:t>Frontiers: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between explored and unknown regions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grouped into cluster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moves toward frontier clusters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heuristics policies to decide which frontier region</a:t>
            </a:r>
            <a:endParaRPr lang="en-US" sz="16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901EC0B-66A8-4AFA-930E-484C08D7F9A2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0653542-D9B1-9A2A-6984-1A0D33716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26" t="22622" r="12733" b="21093"/>
          <a:stretch>
            <a:fillRect/>
          </a:stretch>
        </p:blipFill>
        <p:spPr>
          <a:xfrm>
            <a:off x="5794409" y="1855824"/>
            <a:ext cx="3109083" cy="1558890"/>
          </a:xfrm>
          <a:prstGeom prst="rect">
            <a:avLst/>
          </a:prstGeom>
        </p:spPr>
      </p:pic>
      <p:sp>
        <p:nvSpPr>
          <p:cNvPr id="8" name="Text 7">
            <a:extLst>
              <a:ext uri="{FF2B5EF4-FFF2-40B4-BE49-F238E27FC236}">
                <a16:creationId xmlns:a16="http://schemas.microsoft.com/office/drawing/2014/main" id="{F7F5C26E-B483-858E-04DF-EE05A7A1B5F3}"/>
              </a:ext>
            </a:extLst>
          </p:cNvPr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8">
                <a:extLst>
                  <a:ext uri="{FF2B5EF4-FFF2-40B4-BE49-F238E27FC236}">
                    <a16:creationId xmlns:a16="http://schemas.microsoft.com/office/drawing/2014/main" id="{20F013AD-F929-BC0A-5743-A5947A99B8CF}"/>
                  </a:ext>
                </a:extLst>
              </p:cNvPr>
              <p:cNvSpPr/>
              <p:nvPr/>
            </p:nvSpPr>
            <p:spPr>
              <a:xfrm>
                <a:off x="464343" y="1315880"/>
                <a:ext cx="5972175" cy="290322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An agent observe and interact with an environment and receives a scalar reward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RL loop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observe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</m:e>
                      <m:sub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300" dirty="0"/>
                  <a:t>, perform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𝑎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300" dirty="0"/>
                  <a:t> leading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300" dirty="0"/>
                  <a:t>, receives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+1</m:t>
                        </m:r>
                      </m:sub>
                    </m:sSub>
                  </m:oMath>
                </a14:m>
                <a:endParaRPr lang="en-US" sz="1300" dirty="0"/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Goal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learn to take the best action </a:t>
                </a:r>
                <a:r>
                  <a:rPr lang="en-US" sz="1300" b="1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maximize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cumulative reward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</a:p>
              <a:p>
                <a:pPr>
                  <a:spcAft>
                    <a:spcPts val="500"/>
                  </a:spcAft>
                  <a:buSzPct val="100000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behavioral Policy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Π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𝑎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|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𝑆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</m:t>
                    </m:r>
                  </m:oMath>
                </a14:m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output an action given a state 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Q-function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𝑄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𝑆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,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𝑎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</m:t>
                    </m:r>
                  </m:oMath>
                </a14:m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allow to assign a value to each action-state pair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</p:txBody>
          </p:sp>
        </mc:Choice>
        <mc:Fallback xmlns="">
          <p:sp>
            <p:nvSpPr>
              <p:cNvPr id="9" name="Text 8">
                <a:extLst>
                  <a:ext uri="{FF2B5EF4-FFF2-40B4-BE49-F238E27FC236}">
                    <a16:creationId xmlns:a16="http://schemas.microsoft.com/office/drawing/2014/main" id="{20F013AD-F929-BC0A-5743-A5947A99B8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343" y="1315880"/>
                <a:ext cx="5972175" cy="2903220"/>
              </a:xfrm>
              <a:prstGeom prst="rect">
                <a:avLst/>
              </a:prstGeom>
              <a:blipFill>
                <a:blip r:embed="rId3"/>
                <a:stretch>
                  <a:fillRect l="-204" t="-420"/>
                </a:stretch>
              </a:blipFill>
              <a:ln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>
            <a:extLst>
              <a:ext uri="{FF2B5EF4-FFF2-40B4-BE49-F238E27FC236}">
                <a16:creationId xmlns:a16="http://schemas.microsoft.com/office/drawing/2014/main" id="{0DC10423-BDC3-CDC1-6579-474E3A5724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6766" y="3677263"/>
            <a:ext cx="3113669" cy="483156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C448EB91-789F-B3B5-736B-406379695B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3522" y="2304119"/>
            <a:ext cx="1976851" cy="494213"/>
          </a:xfrm>
          <a:prstGeom prst="rect">
            <a:avLst/>
          </a:prstGeom>
        </p:spPr>
      </p:pic>
      <p:sp>
        <p:nvSpPr>
          <p:cNvPr id="19" name="Shape 22">
            <a:extLst>
              <a:ext uri="{FF2B5EF4-FFF2-40B4-BE49-F238E27FC236}">
                <a16:creationId xmlns:a16="http://schemas.microsoft.com/office/drawing/2014/main" id="{3F595427-3DD0-57FC-DAC1-7DA4377682E1}"/>
              </a:ext>
            </a:extLst>
          </p:cNvPr>
          <p:cNvSpPr/>
          <p:nvPr/>
        </p:nvSpPr>
        <p:spPr>
          <a:xfrm>
            <a:off x="2043514" y="2304119"/>
            <a:ext cx="2078853" cy="494213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20" name="Shape 22">
            <a:extLst>
              <a:ext uri="{FF2B5EF4-FFF2-40B4-BE49-F238E27FC236}">
                <a16:creationId xmlns:a16="http://schemas.microsoft.com/office/drawing/2014/main" id="{1D016AD0-8AF3-FFBE-63F2-525B866D478F}"/>
              </a:ext>
            </a:extLst>
          </p:cNvPr>
          <p:cNvSpPr/>
          <p:nvPr/>
        </p:nvSpPr>
        <p:spPr>
          <a:xfrm>
            <a:off x="1626766" y="3647386"/>
            <a:ext cx="3130972" cy="571714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678948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AAB9E-CDD0-0F57-8B7B-78926446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658FAD49-D0CC-A805-9A3D-AA6717AD0B6F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18DCC72-96ED-6DEC-7CB8-825054805F74}"/>
              </a:ext>
            </a:extLst>
          </p:cNvPr>
          <p:cNvSpPr/>
          <p:nvPr/>
        </p:nvSpPr>
        <p:spPr>
          <a:xfrm>
            <a:off x="457200" y="8886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Q Learning</a:t>
            </a:r>
            <a:endParaRPr lang="en-US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2CA31438-CC1F-2DBE-C75E-7DE4E7E15FE9}"/>
              </a:ext>
            </a:extLst>
          </p:cNvPr>
          <p:cNvSpPr/>
          <p:nvPr/>
        </p:nvSpPr>
        <p:spPr>
          <a:xfrm>
            <a:off x="457200" y="1208719"/>
            <a:ext cx="4321969" cy="85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Q-Algorithm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allows to iteratively estimate the Q-function from experience</a:t>
            </a:r>
          </a:p>
          <a:p>
            <a:pPr>
              <a:spcAft>
                <a:spcPts val="500"/>
              </a:spcAft>
              <a:buSzPct val="100000"/>
            </a:pPr>
            <a:endParaRPr lang="en-US" sz="13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38437B19-2201-552E-3177-C28E81544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235" y="3210167"/>
            <a:ext cx="3880052" cy="968554"/>
          </a:xfrm>
          <a:prstGeom prst="rect">
            <a:avLst/>
          </a:prstGeom>
        </p:spPr>
      </p:pic>
      <p:pic>
        <p:nvPicPr>
          <p:cNvPr id="18" name="Immagine 17">
            <a:extLst>
              <a:ext uri="{FF2B5EF4-FFF2-40B4-BE49-F238E27FC236}">
                <a16:creationId xmlns:a16="http://schemas.microsoft.com/office/drawing/2014/main" id="{3D30F77C-FF6D-4D81-8AA7-EAF0025AB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235" y="1525226"/>
            <a:ext cx="3832365" cy="956651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1463F26B-8A19-3D34-2B5F-CEB841A4DF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3066"/>
          <a:stretch>
            <a:fillRect/>
          </a:stretch>
        </p:blipFill>
        <p:spPr>
          <a:xfrm>
            <a:off x="455472" y="2043457"/>
            <a:ext cx="4055533" cy="3682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8">
                <a:extLst>
                  <a:ext uri="{FF2B5EF4-FFF2-40B4-BE49-F238E27FC236}">
                    <a16:creationId xmlns:a16="http://schemas.microsoft.com/office/drawing/2014/main" id="{76B6664A-4D66-2DE4-DA3E-DE9E7F71954B}"/>
                  </a:ext>
                </a:extLst>
              </p:cNvPr>
              <p:cNvSpPr/>
              <p:nvPr/>
            </p:nvSpPr>
            <p:spPr>
              <a:xfrm>
                <a:off x="543988" y="3376333"/>
                <a:ext cx="4361247" cy="956651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For high dimensional state spaces the Q-table can become excessively memory expansive 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In Deep Q-Network the Q-function mapping is approximated by Deep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Neural Network </a:t>
                </a:r>
                <a14:m>
                  <m:oMath xmlns:m="http://schemas.openxmlformats.org/officeDocument/2006/math">
                    <m:r>
                      <a:rPr lang="it-IT" sz="130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𝑄</m:t>
                    </m:r>
                    <m:d>
                      <m:dPr>
                        <m:ctrlP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,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𝑎</m:t>
                        </m:r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;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sz="1300" dirty="0"/>
              </a:p>
            </p:txBody>
          </p:sp>
        </mc:Choice>
        <mc:Fallback xmlns="">
          <p:sp>
            <p:nvSpPr>
              <p:cNvPr id="15" name="Text 8">
                <a:extLst>
                  <a:ext uri="{FF2B5EF4-FFF2-40B4-BE49-F238E27FC236}">
                    <a16:creationId xmlns:a16="http://schemas.microsoft.com/office/drawing/2014/main" id="{76B6664A-4D66-2DE4-DA3E-DE9E7F719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988" y="3376333"/>
                <a:ext cx="4361247" cy="956651"/>
              </a:xfrm>
              <a:prstGeom prst="rect">
                <a:avLst/>
              </a:prstGeom>
              <a:blipFill>
                <a:blip r:embed="rId5"/>
                <a:stretch>
                  <a:fillRect l="-279" t="-1274" b="-4459"/>
                </a:stretch>
              </a:blipFill>
              <a:ln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 7">
            <a:extLst>
              <a:ext uri="{FF2B5EF4-FFF2-40B4-BE49-F238E27FC236}">
                <a16:creationId xmlns:a16="http://schemas.microsoft.com/office/drawing/2014/main" id="{0BB49070-AA2A-F57E-8BCA-7F61D012C63B}"/>
              </a:ext>
            </a:extLst>
          </p:cNvPr>
          <p:cNvSpPr/>
          <p:nvPr/>
        </p:nvSpPr>
        <p:spPr>
          <a:xfrm>
            <a:off x="508000" y="3022999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Deep Q-Network</a:t>
            </a:r>
            <a:endParaRPr lang="en-US" dirty="0"/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72798926-5939-D7FC-D9E9-5198BF433C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662" y="1763842"/>
            <a:ext cx="3988338" cy="354014"/>
          </a:xfrm>
          <a:prstGeom prst="rect">
            <a:avLst/>
          </a:prstGeom>
        </p:spPr>
      </p:pic>
      <p:sp>
        <p:nvSpPr>
          <p:cNvPr id="23" name="Text 8">
            <a:extLst>
              <a:ext uri="{FF2B5EF4-FFF2-40B4-BE49-F238E27FC236}">
                <a16:creationId xmlns:a16="http://schemas.microsoft.com/office/drawing/2014/main" id="{55F54F12-3502-0FB5-3625-F6B89F306522}"/>
              </a:ext>
            </a:extLst>
          </p:cNvPr>
          <p:cNvSpPr/>
          <p:nvPr/>
        </p:nvSpPr>
        <p:spPr>
          <a:xfrm>
            <a:off x="508000" y="2409143"/>
            <a:ext cx="4321969" cy="45123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Q-learning the Q-function is encoded in a table called </a:t>
            </a: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Q-table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B3450AAB-B6E8-8C14-FB9A-8B6673C1DD9C}"/>
              </a:ext>
            </a:extLst>
          </p:cNvPr>
          <p:cNvSpPr/>
          <p:nvPr/>
        </p:nvSpPr>
        <p:spPr>
          <a:xfrm>
            <a:off x="626525" y="1757543"/>
            <a:ext cx="4002609" cy="608736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539750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/>
              <a:t>Hybrid modular architecture</a:t>
            </a:r>
          </a:p>
        </p:txBody>
      </p:sp>
      <p:sp>
        <p:nvSpPr>
          <p:cNvPr id="24" name="Shape 22"/>
          <p:cNvSpPr/>
          <p:nvPr/>
        </p:nvSpPr>
        <p:spPr>
          <a:xfrm>
            <a:off x="1004754" y="3093248"/>
            <a:ext cx="3311977" cy="1303020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41914" y="3153831"/>
            <a:ext cx="26112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analytical components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41914" y="3501872"/>
            <a:ext cx="2960893" cy="8000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Frontier detection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Low level navigation</a:t>
            </a:r>
          </a:p>
        </p:txBody>
      </p:sp>
      <p:sp>
        <p:nvSpPr>
          <p:cNvPr id="27" name="Shape 25"/>
          <p:cNvSpPr/>
          <p:nvPr/>
        </p:nvSpPr>
        <p:spPr>
          <a:xfrm>
            <a:off x="4754881" y="3093248"/>
            <a:ext cx="3316624" cy="1303020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92040" y="3166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component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58715" y="3526443"/>
            <a:ext cx="2851785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making module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pic>
        <p:nvPicPr>
          <p:cNvPr id="30" name="Elemento grafico 29">
            <a:extLst>
              <a:ext uri="{FF2B5EF4-FFF2-40B4-BE49-F238E27FC236}">
                <a16:creationId xmlns:a16="http://schemas.microsoft.com/office/drawing/2014/main" id="{62CBA648-A5C8-375B-CC90-4A922032D4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3500" y="1057276"/>
            <a:ext cx="6477000" cy="2286000"/>
          </a:xfrm>
          <a:prstGeom prst="rect">
            <a:avLst/>
          </a:prstGeom>
        </p:spPr>
      </p:pic>
      <p:sp>
        <p:nvSpPr>
          <p:cNvPr id="31" name="Text 27">
            <a:extLst>
              <a:ext uri="{FF2B5EF4-FFF2-40B4-BE49-F238E27FC236}">
                <a16:creationId xmlns:a16="http://schemas.microsoft.com/office/drawing/2014/main" id="{B0EE0268-342E-3264-CDCE-7421F2A88300}"/>
              </a:ext>
            </a:extLst>
          </p:cNvPr>
          <p:cNvSpPr/>
          <p:nvPr/>
        </p:nvSpPr>
        <p:spPr>
          <a:xfrm>
            <a:off x="5146491" y="3985941"/>
            <a:ext cx="2415540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of the target position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cxnSp>
        <p:nvCxnSpPr>
          <p:cNvPr id="32" name="Connettore 2 31">
            <a:extLst>
              <a:ext uri="{FF2B5EF4-FFF2-40B4-BE49-F238E27FC236}">
                <a16:creationId xmlns:a16="http://schemas.microsoft.com/office/drawing/2014/main" id="{C6BF7B3B-C3AE-5F9F-9C63-3B09C46A5C8A}"/>
              </a:ext>
            </a:extLst>
          </p:cNvPr>
          <p:cNvCxnSpPr>
            <a:cxnSpLocks/>
          </p:cNvCxnSpPr>
          <p:nvPr/>
        </p:nvCxnSpPr>
        <p:spPr>
          <a:xfrm>
            <a:off x="6225243" y="3832338"/>
            <a:ext cx="0" cy="188420"/>
          </a:xfrm>
          <a:prstGeom prst="straightConnector1">
            <a:avLst/>
          </a:prstGeom>
          <a:ln w="28575" cap="flat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573F97-AE10-444A-9306-BFF3D7DCA88C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091A1769-B9E0-690D-90A7-0369076A82EE}"/>
              </a:ext>
            </a:extLst>
          </p:cNvPr>
          <p:cNvSpPr/>
          <p:nvPr/>
        </p:nvSpPr>
        <p:spPr>
          <a:xfrm>
            <a:off x="370840" y="1364341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observable discrete map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with random obstacle 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within his perception range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observations are used to build a believes map</a:t>
            </a:r>
            <a:endParaRPr lang="en-US" sz="14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40497A2-ABCE-D9C0-95B2-62483D5DA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92" y="1085967"/>
            <a:ext cx="3278333" cy="156579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8F715845-B525-3552-E815-E5F6C2D4D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9600" y="3040282"/>
            <a:ext cx="5465652" cy="1595007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5A32195A-73EF-D939-B137-3D52DB558EEB}"/>
              </a:ext>
            </a:extLst>
          </p:cNvPr>
          <p:cNvSpPr/>
          <p:nvPr/>
        </p:nvSpPr>
        <p:spPr>
          <a:xfrm>
            <a:off x="370840" y="915257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environment – 2D occupancy grid</a:t>
            </a:r>
          </a:p>
        </p:txBody>
      </p:sp>
    </p:spTree>
    <p:extLst>
      <p:ext uri="{BB962C8B-B14F-4D97-AF65-F5344CB8AC3E}">
        <p14:creationId xmlns:p14="http://schemas.microsoft.com/office/powerpoint/2010/main" val="1959701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3B7A4-5D27-70B1-0A98-ED2995FE2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22">
            <a:extLst>
              <a:ext uri="{FF2B5EF4-FFF2-40B4-BE49-F238E27FC236}">
                <a16:creationId xmlns:a16="http://schemas.microsoft.com/office/drawing/2014/main" id="{D4EE8D53-8338-A278-7AC1-88A20B87F4E9}"/>
              </a:ext>
            </a:extLst>
          </p:cNvPr>
          <p:cNvSpPr/>
          <p:nvPr/>
        </p:nvSpPr>
        <p:spPr>
          <a:xfrm>
            <a:off x="449082" y="890646"/>
            <a:ext cx="4493490" cy="1373923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D32A6E3-1067-D149-8143-6698F5640355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73027F75-A051-76BC-591E-600C8A5CC59B}"/>
              </a:ext>
            </a:extLst>
          </p:cNvPr>
          <p:cNvSpPr/>
          <p:nvPr/>
        </p:nvSpPr>
        <p:spPr>
          <a:xfrm>
            <a:off x="633281" y="1257987"/>
            <a:ext cx="4251960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Discriminate frontier cells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theme into clusters, splitting them if needed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cluster’s centroids </a:t>
            </a:r>
            <a:endParaRPr lang="en-US" sz="140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AC0CC9D-40D3-4901-4004-A8502D9116E2}"/>
              </a:ext>
            </a:extLst>
          </p:cNvPr>
          <p:cNvSpPr/>
          <p:nvPr/>
        </p:nvSpPr>
        <p:spPr>
          <a:xfrm>
            <a:off x="633281" y="901421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detection system</a:t>
            </a:r>
          </a:p>
        </p:txBody>
      </p:sp>
      <p:sp>
        <p:nvSpPr>
          <p:cNvPr id="12" name="Shape 22">
            <a:extLst>
              <a:ext uri="{FF2B5EF4-FFF2-40B4-BE49-F238E27FC236}">
                <a16:creationId xmlns:a16="http://schemas.microsoft.com/office/drawing/2014/main" id="{32DCC85E-21BD-A456-C7F1-E4AE1506FBB9}"/>
              </a:ext>
            </a:extLst>
          </p:cNvPr>
          <p:cNvSpPr/>
          <p:nvPr/>
        </p:nvSpPr>
        <p:spPr>
          <a:xfrm>
            <a:off x="5285815" y="890646"/>
            <a:ext cx="3387038" cy="1309899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B119D0DF-27F6-E8DC-8DAA-B098EEEE2BCC}"/>
              </a:ext>
            </a:extLst>
          </p:cNvPr>
          <p:cNvSpPr/>
          <p:nvPr/>
        </p:nvSpPr>
        <p:spPr>
          <a:xfrm>
            <a:off x="5407895" y="1295014"/>
            <a:ext cx="3387038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 obstacle free path to the target position (A* algorithm)</a:t>
            </a: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1B94AC84-FA26-EB5F-63FB-A8BD8B41C148}"/>
              </a:ext>
            </a:extLst>
          </p:cNvPr>
          <p:cNvSpPr/>
          <p:nvPr/>
        </p:nvSpPr>
        <p:spPr>
          <a:xfrm>
            <a:off x="5328679" y="925470"/>
            <a:ext cx="3509117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 avoidance path planner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50650657-3A5E-C657-AF7E-7008E89CA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464" y="2445206"/>
            <a:ext cx="2091528" cy="208241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215788E4-AC38-615A-0D66-D901C167CC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0261" y="2340366"/>
            <a:ext cx="2098145" cy="218725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BBE52D13-AD2E-6F29-8B12-96B162A49A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977" y="2415439"/>
            <a:ext cx="4341516" cy="2082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5095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4BFB7-8AD0-C29E-2F95-187E3F198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1481019E-77B0-A0CC-3D93-C2CCA001A951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2" name="Shape 5">
            <a:extLst>
              <a:ext uri="{FF2B5EF4-FFF2-40B4-BE49-F238E27FC236}">
                <a16:creationId xmlns:a16="http://schemas.microsoft.com/office/drawing/2014/main" id="{698E1C71-E685-CD86-004B-1AB507233782}"/>
              </a:ext>
            </a:extLst>
          </p:cNvPr>
          <p:cNvSpPr/>
          <p:nvPr/>
        </p:nvSpPr>
        <p:spPr>
          <a:xfrm>
            <a:off x="320040" y="1499077"/>
            <a:ext cx="3151823" cy="2674622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83138C28-537B-7102-4C03-CF656624F66A}"/>
              </a:ext>
            </a:extLst>
          </p:cNvPr>
          <p:cNvSpPr/>
          <p:nvPr/>
        </p:nvSpPr>
        <p:spPr>
          <a:xfrm>
            <a:off x="457200" y="1623381"/>
            <a:ext cx="282892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setup</a:t>
            </a:r>
            <a:endParaRPr lang="en-US" sz="1400" b="1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AA628CE1-1C0B-489A-747C-3BD4D798649A}"/>
              </a:ext>
            </a:extLst>
          </p:cNvPr>
          <p:cNvSpPr/>
          <p:nvPr/>
        </p:nvSpPr>
        <p:spPr>
          <a:xfrm>
            <a:off x="457200" y="2001429"/>
            <a:ext cx="2828925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size 20x20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Obstacle probability 0.05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range n = 3 cells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Policy: greedy min distance heuristic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pic>
        <p:nvPicPr>
          <p:cNvPr id="10" name="video_heuristic">
            <a:hlinkClick r:id="" action="ppaction://media"/>
            <a:extLst>
              <a:ext uri="{FF2B5EF4-FFF2-40B4-BE49-F238E27FC236}">
                <a16:creationId xmlns:a16="http://schemas.microsoft.com/office/drawing/2014/main" id="{FB81732C-E216-E380-47B7-7767BF86530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507580" y="1379064"/>
            <a:ext cx="5614987" cy="2836438"/>
          </a:xfrm>
          <a:prstGeom prst="rect">
            <a:avLst/>
          </a:prstGeom>
        </p:spPr>
      </p:pic>
      <p:sp>
        <p:nvSpPr>
          <p:cNvPr id="15" name="Text 7">
            <a:extLst>
              <a:ext uri="{FF2B5EF4-FFF2-40B4-BE49-F238E27FC236}">
                <a16:creationId xmlns:a16="http://schemas.microsoft.com/office/drawing/2014/main" id="{C202F898-579F-B2B0-72A0-51C32FB4984A}"/>
              </a:ext>
            </a:extLst>
          </p:cNvPr>
          <p:cNvSpPr/>
          <p:nvPr/>
        </p:nvSpPr>
        <p:spPr>
          <a:xfrm>
            <a:off x="4102894" y="1346274"/>
            <a:ext cx="4419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rendering example – Heuristic policy</a:t>
            </a:r>
            <a:endParaRPr lang="en-US" sz="1400" i="1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8B26A343-4D3F-C48B-7417-ED8FCD9AAA79}"/>
              </a:ext>
            </a:extLst>
          </p:cNvPr>
          <p:cNvSpPr/>
          <p:nvPr/>
        </p:nvSpPr>
        <p:spPr>
          <a:xfrm>
            <a:off x="370840" y="915257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rendering</a:t>
            </a:r>
          </a:p>
        </p:txBody>
      </p:sp>
    </p:spTree>
    <p:extLst>
      <p:ext uri="{BB962C8B-B14F-4D97-AF65-F5344CB8AC3E}">
        <p14:creationId xmlns:p14="http://schemas.microsoft.com/office/powerpoint/2010/main" val="312267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250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magine 65">
            <a:extLst>
              <a:ext uri="{FF2B5EF4-FFF2-40B4-BE49-F238E27FC236}">
                <a16:creationId xmlns:a16="http://schemas.microsoft.com/office/drawing/2014/main" id="{18F7C838-AC57-F767-DC7C-08DC98A61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362" y="4064498"/>
            <a:ext cx="2725222" cy="540523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05F464F0-19F3-6264-96AD-9547261B3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2563" y="1058035"/>
            <a:ext cx="2568188" cy="473204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1503" y="952976"/>
            <a:ext cx="3977640" cy="2261709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8663" y="9529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  (What it sees)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678663" y="1295304"/>
            <a:ext cx="3840480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setup: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frontiers information vector: 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position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gain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Distance&gt;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Agent position (optional)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1503" y="3354699"/>
            <a:ext cx="3977640" cy="1081277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8663" y="3381561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  (What it does)</a:t>
            </a:r>
            <a:endParaRPr lang="en-US" sz="1600" dirty="0">
              <a:solidFill>
                <a:srgbClr val="1A2E4A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78663" y="3702457"/>
            <a:ext cx="3840480" cy="73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A151AF7E-644D-62B9-0E14-203A8F678F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039" y="1616488"/>
            <a:ext cx="2324889" cy="2314760"/>
          </a:xfrm>
          <a:prstGeom prst="rect">
            <a:avLst/>
          </a:prstGeom>
        </p:spPr>
      </p:pic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7FE5F316-F47F-26F1-BE4E-60B56DC9D70E}"/>
              </a:ext>
            </a:extLst>
          </p:cNvPr>
          <p:cNvCxnSpPr>
            <a:cxnSpLocks/>
          </p:cNvCxnSpPr>
          <p:nvPr/>
        </p:nvCxnSpPr>
        <p:spPr>
          <a:xfrm flipH="1" flipV="1">
            <a:off x="5196359" y="1449323"/>
            <a:ext cx="1788973" cy="1915954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A6FFBE33-21E2-E712-D5F3-2AF5260BD7AF}"/>
              </a:ext>
            </a:extLst>
          </p:cNvPr>
          <p:cNvCxnSpPr>
            <a:cxnSpLocks/>
          </p:cNvCxnSpPr>
          <p:nvPr/>
        </p:nvCxnSpPr>
        <p:spPr>
          <a:xfrm flipH="1" flipV="1">
            <a:off x="5674991" y="1449323"/>
            <a:ext cx="2679084" cy="2165415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e 45">
            <a:extLst>
              <a:ext uri="{FF2B5EF4-FFF2-40B4-BE49-F238E27FC236}">
                <a16:creationId xmlns:a16="http://schemas.microsoft.com/office/drawing/2014/main" id="{2329471A-AEDD-D01B-190F-017C34CF4038}"/>
              </a:ext>
            </a:extLst>
          </p:cNvPr>
          <p:cNvSpPr/>
          <p:nvPr/>
        </p:nvSpPr>
        <p:spPr>
          <a:xfrm>
            <a:off x="5743574" y="4072219"/>
            <a:ext cx="570384" cy="5363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8" name="Connettore 2 47">
            <a:extLst>
              <a:ext uri="{FF2B5EF4-FFF2-40B4-BE49-F238E27FC236}">
                <a16:creationId xmlns:a16="http://schemas.microsoft.com/office/drawing/2014/main" id="{8B453163-D985-04CF-1A72-31C4C666F7AD}"/>
              </a:ext>
            </a:extLst>
          </p:cNvPr>
          <p:cNvCxnSpPr>
            <a:cxnSpLocks/>
            <a:stCxn id="46" idx="7"/>
          </p:cNvCxnSpPr>
          <p:nvPr/>
        </p:nvCxnSpPr>
        <p:spPr>
          <a:xfrm flipV="1">
            <a:off x="6230427" y="3693319"/>
            <a:ext cx="2158563" cy="457447"/>
          </a:xfrm>
          <a:prstGeom prst="straightConnector1">
            <a:avLst/>
          </a:prstGeom>
          <a:ln w="19050">
            <a:solidFill>
              <a:srgbClr val="1A2E4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6E994413-5923-858F-30CD-BA0AF7218074}"/>
              </a:ext>
            </a:extLst>
          </p:cNvPr>
          <p:cNvCxnSpPr>
            <a:cxnSpLocks/>
          </p:cNvCxnSpPr>
          <p:nvPr/>
        </p:nvCxnSpPr>
        <p:spPr>
          <a:xfrm flipH="1" flipV="1">
            <a:off x="6158561" y="1456943"/>
            <a:ext cx="1637973" cy="668799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6">
            <a:extLst>
              <a:ext uri="{FF2B5EF4-FFF2-40B4-BE49-F238E27FC236}">
                <a16:creationId xmlns:a16="http://schemas.microsoft.com/office/drawing/2014/main" id="{5E6D407A-4C5B-571F-1AA3-4B3D850C2177}"/>
              </a:ext>
            </a:extLst>
          </p:cNvPr>
          <p:cNvSpPr/>
          <p:nvPr/>
        </p:nvSpPr>
        <p:spPr>
          <a:xfrm>
            <a:off x="4963023" y="3852730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Action (e.g. = 2):</a:t>
            </a:r>
          </a:p>
        </p:txBody>
      </p:sp>
      <p:sp>
        <p:nvSpPr>
          <p:cNvPr id="64" name="Text 6">
            <a:extLst>
              <a:ext uri="{FF2B5EF4-FFF2-40B4-BE49-F238E27FC236}">
                <a16:creationId xmlns:a16="http://schemas.microsoft.com/office/drawing/2014/main" id="{0B2E10E4-4556-1B9A-DDE9-627BA9E9E8A1}"/>
              </a:ext>
            </a:extLst>
          </p:cNvPr>
          <p:cNvSpPr/>
          <p:nvPr/>
        </p:nvSpPr>
        <p:spPr>
          <a:xfrm>
            <a:off x="4898369" y="877308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Observations: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AccentBar"/>
          <p:cNvSpPr/>
          <p:nvPr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Title"/>
          <p:cNvSpPr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cxnSp>
        <p:nvCxnSpPr>
          <p:cNvPr id="202" name="SepLine"/>
          <p:cNvCxnSpPr/>
          <p:nvPr/>
        </p:nvCxnSpPr>
        <p:spPr>
          <a:xfrm>
            <a:off x="317500" y="774700"/>
            <a:ext cx="8509000" cy="0"/>
          </a:xfrm>
          <a:prstGeom prst="line">
            <a:avLst/>
          </a:prstGeom>
          <a:ln w="19050">
            <a:solidFill>
              <a:srgbClr val="D6E4F0"/>
            </a:solidFill>
          </a:ln>
        </p:spPr>
      </p:cxnSp>
      <p:sp>
        <p:nvSpPr>
          <p:cNvPr id="204" name="CardHeader"/>
          <p:cNvSpPr/>
          <p:nvPr/>
        </p:nvSpPr>
        <p:spPr>
          <a:xfrm>
            <a:off x="583406" y="889000"/>
            <a:ext cx="7967664" cy="368300"/>
          </a:xfrm>
          <a:prstGeom prst="roundRect">
            <a:avLst>
              <a:gd name="adj" fmla="val 3000"/>
            </a:avLst>
          </a:prstGeom>
          <a:solidFill>
            <a:srgbClr val="E8EDF3"/>
          </a:solidFill>
          <a:ln w="6350">
            <a:solidFill>
              <a:srgbClr val="D6E4F0"/>
            </a:solidFill>
          </a:ln>
        </p:spPr>
        <p:txBody>
          <a:bodyPr wrap="square" lIns="91440" tIns="0" rIns="0" bIns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Shaping Comparison</a:t>
            </a:r>
          </a:p>
        </p:txBody>
      </p:sp>
      <p:graphicFrame>
        <p:nvGraphicFramePr>
          <p:cNvPr id="206" name="Rew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33450"/>
              </p:ext>
            </p:extLst>
          </p:nvPr>
        </p:nvGraphicFramePr>
        <p:xfrm>
          <a:off x="900112" y="1347722"/>
          <a:ext cx="7343776" cy="3017520"/>
        </p:xfrm>
        <a:graphic>
          <a:graphicData uri="http://schemas.openxmlformats.org/drawingml/2006/table">
            <a:tbl>
              <a:tblPr firstRow="1">
                <a:noFill/>
              </a:tblPr>
              <a:tblGrid>
                <a:gridCol w="22849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7066">
                  <a:extLst>
                    <a:ext uri="{9D8B030D-6E8A-4147-A177-3AD203B41FA5}">
                      <a16:colId xmlns:a16="http://schemas.microsoft.com/office/drawing/2014/main" val="3129147511"/>
                    </a:ext>
                  </a:extLst>
                </a:gridCol>
                <a:gridCol w="175667">
                  <a:extLst>
                    <a:ext uri="{9D8B030D-6E8A-4147-A177-3AD203B41FA5}">
                      <a16:colId xmlns:a16="http://schemas.microsoft.com/office/drawing/2014/main" val="3892954019"/>
                    </a:ext>
                  </a:extLst>
                </a:gridCol>
                <a:gridCol w="1153355">
                  <a:extLst>
                    <a:ext uri="{9D8B030D-6E8A-4147-A177-3AD203B41FA5}">
                      <a16:colId xmlns:a16="http://schemas.microsoft.com/office/drawing/2014/main" val="536005186"/>
                    </a:ext>
                  </a:extLst>
                </a:gridCol>
                <a:gridCol w="1141411">
                  <a:extLst>
                    <a:ext uri="{9D8B030D-6E8A-4147-A177-3AD203B41FA5}">
                      <a16:colId xmlns:a16="http://schemas.microsoft.com/office/drawing/2014/main" val="1421492333"/>
                    </a:ext>
                  </a:extLst>
                </a:gridCol>
                <a:gridCol w="1371326">
                  <a:extLst>
                    <a:ext uri="{9D8B030D-6E8A-4147-A177-3AD203B41FA5}">
                      <a16:colId xmlns:a16="http://schemas.microsoft.com/office/drawing/2014/main" val="2806643730"/>
                    </a:ext>
                  </a:extLst>
                </a:gridCol>
              </a:tblGrid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Condition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gridSpan="3"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1</a:t>
                      </a:r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b="1" dirty="0">
                        <a:solidFill>
                          <a:srgbClr val="1A2E4A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2</a:t>
                      </a:r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b="1" dirty="0">
                        <a:solidFill>
                          <a:srgbClr val="1A2E4A"/>
                        </a:solidFill>
                        <a:latin typeface="Calibri" pitchFamily="34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572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Action outcome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Action selects padding slot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continues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No new cells explored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7F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Some cells explored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proportional positive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9572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Episode termination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Exploration ≥ threshold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large positive</a:t>
                      </a:r>
                      <a:endParaRPr lang="en-US" sz="1100" dirty="0">
                        <a:solidFill>
                          <a:srgbClr val="2E7D3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terminated</a:t>
                      </a:r>
                      <a:endParaRPr lang="it-IT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Max steps exceeded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0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No progress for ≥ 20 steps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Calibri" pitchFamily="34" charset="0"/>
                        </a:rPr>
                        <a:t>intermediate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E67E2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E67E2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9572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Additional signal — Reward 2 only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Oscillating behavior detected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1558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Campaign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178051"/>
            <a:ext cx="4527031" cy="31318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Configuration search: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× observation set </a:t>
            </a: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best configuration per reward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Hyperparameter optimization: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converged to a single optimal hyperparameter set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Training budget: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/ 750k / 1M time steps </a:t>
            </a: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 best models selected</a:t>
            </a:r>
            <a:endParaRPr lang="en-US" sz="1400" dirty="0"/>
          </a:p>
        </p:txBody>
      </p:sp>
      <p:pic>
        <p:nvPicPr>
          <p:cNvPr id="8" name="Image 0" descr="/home/claude/assets/experimental_process_white.png"/>
          <p:cNvPicPr>
            <a:picLocks noChangeAspect="1"/>
          </p:cNvPicPr>
          <p:nvPr/>
        </p:nvPicPr>
        <p:blipFill>
          <a:blip r:embed="rId3"/>
          <a:srcRect t="2820" b="2625"/>
          <a:stretch>
            <a:fillRect/>
          </a:stretch>
        </p:blipFill>
        <p:spPr>
          <a:xfrm>
            <a:off x="4537813" y="833629"/>
            <a:ext cx="4450830" cy="392125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31F82-86CB-2B93-A10A-F0881A4FF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22">
            <a:extLst>
              <a:ext uri="{FF2B5EF4-FFF2-40B4-BE49-F238E27FC236}">
                <a16:creationId xmlns:a16="http://schemas.microsoft.com/office/drawing/2014/main" id="{CEB9E8F4-9A40-E685-6DE7-62ECFAEF90F3}"/>
              </a:ext>
            </a:extLst>
          </p:cNvPr>
          <p:cNvSpPr/>
          <p:nvPr/>
        </p:nvSpPr>
        <p:spPr>
          <a:xfrm>
            <a:off x="688664" y="2021653"/>
            <a:ext cx="7766503" cy="1000153"/>
          </a:xfrm>
          <a:prstGeom prst="rect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EB21816-4242-2403-BB00-E48F41181D72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34A0A1E-8666-2C5E-D4E5-44FD694B868B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</a:t>
            </a:r>
            <a:r>
              <a:rPr lang="en-US" sz="260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&amp; </a:t>
            </a: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en-US" sz="260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aselines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69C474C-6A6E-54C7-CF90-95987EF8C62B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le 0">
                <a:extLst>
                  <a:ext uri="{FF2B5EF4-FFF2-40B4-BE49-F238E27FC236}">
                    <a16:creationId xmlns:a16="http://schemas.microsoft.com/office/drawing/2014/main" id="{EDC57CE9-7DB1-F0AF-FD1B-1BE8BFDC26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39387895"/>
                  </p:ext>
                </p:extLst>
              </p:nvPr>
            </p:nvGraphicFramePr>
            <p:xfrm>
              <a:off x="4470650" y="3240069"/>
              <a:ext cx="3851910" cy="1225849"/>
            </p:xfrm>
            <a:graphic>
              <a:graphicData uri="http://schemas.openxmlformats.org/drawingml/2006/table">
                <a:tbl>
                  <a:tblPr/>
                  <a:tblGrid>
                    <a:gridCol w="128397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11449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Heuristic policy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Mean Reward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Standard dev.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i="0" dirty="0">
                              <a:ea typeface="Cambria Math" panose="02040503050406030204" pitchFamily="18" charset="0"/>
                            </a:rPr>
                            <a:t>16.48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it-IT" sz="12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en-US" sz="12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 </a:t>
                          </a:r>
                          <a:r>
                            <a:rPr lang="it-IT" sz="1200" i="0" dirty="0">
                              <a:ea typeface="Cambria Math" panose="02040503050406030204" pitchFamily="18" charset="0"/>
                            </a:rPr>
                            <a:t>1.78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15.01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it-IT" sz="12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2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it-IT" sz="12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1.12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le 0">
                <a:extLst>
                  <a:ext uri="{FF2B5EF4-FFF2-40B4-BE49-F238E27FC236}">
                    <a16:creationId xmlns:a16="http://schemas.microsoft.com/office/drawing/2014/main" id="{EDC57CE9-7DB1-F0AF-FD1B-1BE8BFDC26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39387895"/>
                  </p:ext>
                </p:extLst>
              </p:nvPr>
            </p:nvGraphicFramePr>
            <p:xfrm>
              <a:off x="4470650" y="3240069"/>
              <a:ext cx="3851910" cy="1225849"/>
            </p:xfrm>
            <a:graphic>
              <a:graphicData uri="http://schemas.openxmlformats.org/drawingml/2006/table">
                <a:tbl>
                  <a:tblPr/>
                  <a:tblGrid>
                    <a:gridCol w="128397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11449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Heuristic policy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Mean Reward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Standard dev.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i="0" dirty="0">
                              <a:ea typeface="Cambria Math" panose="02040503050406030204" pitchFamily="18" charset="0"/>
                            </a:rPr>
                            <a:t>16.48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474" t="-68421" r="-948" b="-109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15.01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474" t="-170667" r="-948" b="-10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 5">
            <a:extLst>
              <a:ext uri="{FF2B5EF4-FFF2-40B4-BE49-F238E27FC236}">
                <a16:creationId xmlns:a16="http://schemas.microsoft.com/office/drawing/2014/main" id="{B580FB8F-3A5B-8AD7-2802-80DB23ADA122}"/>
              </a:ext>
            </a:extLst>
          </p:cNvPr>
          <p:cNvSpPr/>
          <p:nvPr/>
        </p:nvSpPr>
        <p:spPr>
          <a:xfrm>
            <a:off x="733457" y="2226803"/>
            <a:ext cx="4527031" cy="4234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(training loss)</a:t>
            </a:r>
            <a:endParaRPr lang="en-US" sz="14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C97EF2BF-6C79-502E-5A29-073A2F24BD8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18" t="73066" b="6569"/>
          <a:stretch>
            <a:fillRect/>
          </a:stretch>
        </p:blipFill>
        <p:spPr>
          <a:xfrm>
            <a:off x="4379015" y="2524463"/>
            <a:ext cx="3884480" cy="278439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CA7C3BD-FBDC-BD37-8A53-4891AE992B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4222" y="2172282"/>
            <a:ext cx="3988338" cy="354014"/>
          </a:xfrm>
          <a:prstGeom prst="rect">
            <a:avLst/>
          </a:prstGeom>
        </p:spPr>
      </p:pic>
      <p:sp>
        <p:nvSpPr>
          <p:cNvPr id="10" name="Shape 22">
            <a:extLst>
              <a:ext uri="{FF2B5EF4-FFF2-40B4-BE49-F238E27FC236}">
                <a16:creationId xmlns:a16="http://schemas.microsoft.com/office/drawing/2014/main" id="{518784C9-3C4B-0D94-71D6-4DAD31EEB22C}"/>
              </a:ext>
            </a:extLst>
          </p:cNvPr>
          <p:cNvSpPr/>
          <p:nvPr/>
        </p:nvSpPr>
        <p:spPr>
          <a:xfrm>
            <a:off x="4379015" y="2224261"/>
            <a:ext cx="4002609" cy="608736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B75966A6-5387-B30B-85E6-5FE0FF060110}"/>
              </a:ext>
            </a:extLst>
          </p:cNvPr>
          <p:cNvSpPr/>
          <p:nvPr/>
        </p:nvSpPr>
        <p:spPr>
          <a:xfrm>
            <a:off x="688664" y="932745"/>
            <a:ext cx="4527031" cy="12258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cumulative episode reward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reward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reward</a:t>
            </a: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D2B65FBC-BA4A-1A4E-7B1E-08122DC9B00A}"/>
              </a:ext>
            </a:extLst>
          </p:cNvPr>
          <p:cNvSpPr/>
          <p:nvPr/>
        </p:nvSpPr>
        <p:spPr>
          <a:xfrm>
            <a:off x="688664" y="3314113"/>
            <a:ext cx="4527031" cy="5958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reward - heuristics baselines</a:t>
            </a:r>
            <a:endParaRPr lang="en-US" sz="14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6512A01C-4984-B722-8921-EDFE615C12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1415" y="1144397"/>
            <a:ext cx="1976851" cy="494213"/>
          </a:xfrm>
          <a:prstGeom prst="rect">
            <a:avLst/>
          </a:prstGeom>
        </p:spPr>
      </p:pic>
      <p:sp>
        <p:nvSpPr>
          <p:cNvPr id="14" name="Shape 22">
            <a:extLst>
              <a:ext uri="{FF2B5EF4-FFF2-40B4-BE49-F238E27FC236}">
                <a16:creationId xmlns:a16="http://schemas.microsoft.com/office/drawing/2014/main" id="{0CBFA162-1513-4B75-7735-D0A344DCD9A0}"/>
              </a:ext>
            </a:extLst>
          </p:cNvPr>
          <p:cNvSpPr/>
          <p:nvPr/>
        </p:nvSpPr>
        <p:spPr>
          <a:xfrm>
            <a:off x="5301415" y="1081397"/>
            <a:ext cx="2078853" cy="571714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17" name="Shape 22">
            <a:extLst>
              <a:ext uri="{FF2B5EF4-FFF2-40B4-BE49-F238E27FC236}">
                <a16:creationId xmlns:a16="http://schemas.microsoft.com/office/drawing/2014/main" id="{1DC4FEF8-9EF8-27DA-E6BD-C44EE18ADD4B}"/>
              </a:ext>
            </a:extLst>
          </p:cNvPr>
          <p:cNvSpPr/>
          <p:nvPr/>
        </p:nvSpPr>
        <p:spPr>
          <a:xfrm>
            <a:off x="700003" y="903634"/>
            <a:ext cx="7755333" cy="1000153"/>
          </a:xfrm>
          <a:prstGeom prst="rect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4F76B0BF-2404-9F95-FC07-620C437B4567}"/>
              </a:ext>
            </a:extLst>
          </p:cNvPr>
          <p:cNvSpPr/>
          <p:nvPr/>
        </p:nvSpPr>
        <p:spPr>
          <a:xfrm>
            <a:off x="688663" y="3145830"/>
            <a:ext cx="7766503" cy="1411882"/>
          </a:xfrm>
          <a:prstGeom prst="rect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817255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D965E-F7FD-4F40-27A9-07CD11B8F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7B1632B3-2CA7-DFEE-1BE3-AA0F1A03D650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B23E728-F0EE-D292-C168-2BFB239B251A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– Failed Attempts 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2DE7661-1140-6836-742F-A531A83E37DB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FEE4770-3A96-546F-2102-4220F96D5FE4}"/>
              </a:ext>
            </a:extLst>
          </p:cNvPr>
          <p:cNvSpPr/>
          <p:nvPr/>
        </p:nvSpPr>
        <p:spPr>
          <a:xfrm>
            <a:off x="457200" y="939547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i="1" dirty="0"/>
              <a:t>Examples of not meaningful policy learning</a:t>
            </a:r>
          </a:p>
        </p:txBody>
      </p:sp>
    </p:spTree>
    <p:extLst>
      <p:ext uri="{BB962C8B-B14F-4D97-AF65-F5344CB8AC3E}">
        <p14:creationId xmlns:p14="http://schemas.microsoft.com/office/powerpoint/2010/main" val="1602642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1: Degenerate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58" y="868434"/>
            <a:ext cx="7906705" cy="384295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841249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Configuration:   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relative positions   ·   Sorted by distance    ·   </a:t>
            </a: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  ·   1M steps</a:t>
            </a:r>
            <a:endParaRPr lang="en-US" sz="1200" dirty="0"/>
          </a:p>
        </p:txBody>
      </p:sp>
      <p:pic>
        <p:nvPicPr>
          <p:cNvPr id="9" name="Image 0" descr="/home/claude/assets/relative_sorted_1e6_loss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1" y="1402490"/>
            <a:ext cx="5029200" cy="21806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47912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</a:t>
            </a:r>
            <a:endParaRPr lang="en-US" sz="1200" dirty="0"/>
          </a:p>
        </p:txBody>
      </p:sp>
      <p:pic>
        <p:nvPicPr>
          <p:cNvPr id="11" name="Image 1" descr="/home/claude/assets/relative_sorted_1e6_train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98695" y="1402490"/>
            <a:ext cx="3088105" cy="21806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47431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</a:t>
            </a:r>
            <a:endParaRPr lang="en-US" sz="1200" dirty="0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945D122D-FE56-F66D-9E60-75297FD91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658121"/>
              </p:ext>
            </p:extLst>
          </p:nvPr>
        </p:nvGraphicFramePr>
        <p:xfrm>
          <a:off x="1548383" y="3730622"/>
          <a:ext cx="2870262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31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35131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593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600443"/>
                  </a:ext>
                </a:extLst>
              </a:tr>
              <a:tr h="259321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259321">
                <a:tc>
                  <a:txBody>
                    <a:bodyPr/>
                    <a:lstStyle/>
                    <a:p>
                      <a:r>
                        <a:rPr lang="it-IT" sz="1200" dirty="0"/>
                        <a:t>16.91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0.57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4" name="Tabella 13">
            <a:extLst>
              <a:ext uri="{FF2B5EF4-FFF2-40B4-BE49-F238E27FC236}">
                <a16:creationId xmlns:a16="http://schemas.microsoft.com/office/drawing/2014/main" id="{50146383-70B6-2311-65E8-CEB8607C37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642078"/>
              </p:ext>
            </p:extLst>
          </p:nvPr>
        </p:nvGraphicFramePr>
        <p:xfrm>
          <a:off x="4802122" y="3728314"/>
          <a:ext cx="2870263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079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500046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500046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500046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00046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</a:tblGrid>
              <a:tr h="171011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171011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204730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1.0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6">
            <a:extLst>
              <a:ext uri="{FF2B5EF4-FFF2-40B4-BE49-F238E27FC236}">
                <a16:creationId xmlns:a16="http://schemas.microsoft.com/office/drawing/2014/main" id="{D8EFB94C-0DE9-BCBB-8B88-78A5834E0A55}"/>
              </a:ext>
            </a:extLst>
          </p:cNvPr>
          <p:cNvSpPr/>
          <p:nvPr/>
        </p:nvSpPr>
        <p:spPr>
          <a:xfrm>
            <a:off x="692944" y="956968"/>
            <a:ext cx="7719536" cy="1187477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15325" y="4773168"/>
            <a:ext cx="5543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Reward Hacking Analysis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682" y="1085840"/>
            <a:ext cx="72337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8681" y="1378448"/>
            <a:ext cx="4379601" cy="6652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policy learned always chose action = 0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Diverging huge TD loss</a:t>
            </a: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DBC1CF05-FB80-5024-B303-168429DC47FC}"/>
              </a:ext>
            </a:extLst>
          </p:cNvPr>
          <p:cNvSpPr/>
          <p:nvPr/>
        </p:nvSpPr>
        <p:spPr>
          <a:xfrm>
            <a:off x="5693568" y="1373296"/>
            <a:ext cx="2557462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meaningfully learning from observations</a:t>
            </a:r>
          </a:p>
        </p:txBody>
      </p: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272714BA-2147-04E3-170B-53D1AD2B69E9}"/>
              </a:ext>
            </a:extLst>
          </p:cNvPr>
          <p:cNvCxnSpPr>
            <a:cxnSpLocks/>
          </p:cNvCxnSpPr>
          <p:nvPr/>
        </p:nvCxnSpPr>
        <p:spPr>
          <a:xfrm>
            <a:off x="5243508" y="1672580"/>
            <a:ext cx="386728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Shape 6">
            <a:extLst>
              <a:ext uri="{FF2B5EF4-FFF2-40B4-BE49-F238E27FC236}">
                <a16:creationId xmlns:a16="http://schemas.microsoft.com/office/drawing/2014/main" id="{B0F76DF1-2FC5-B064-121C-7293DA1C33E3}"/>
              </a:ext>
            </a:extLst>
          </p:cNvPr>
          <p:cNvSpPr/>
          <p:nvPr/>
        </p:nvSpPr>
        <p:spPr>
          <a:xfrm>
            <a:off x="692944" y="2301221"/>
            <a:ext cx="7719536" cy="1104743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00369533-4D61-B342-5649-10CAF7CF861D}"/>
              </a:ext>
            </a:extLst>
          </p:cNvPr>
          <p:cNvSpPr/>
          <p:nvPr/>
        </p:nvSpPr>
        <p:spPr>
          <a:xfrm>
            <a:off x="838682" y="2387229"/>
            <a:ext cx="713374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 8">
                <a:extLst>
                  <a:ext uri="{FF2B5EF4-FFF2-40B4-BE49-F238E27FC236}">
                    <a16:creationId xmlns:a16="http://schemas.microsoft.com/office/drawing/2014/main" id="{3C82A692-61BA-906F-351E-A5B833B2A71F}"/>
                  </a:ext>
                </a:extLst>
              </p:cNvPr>
              <p:cNvSpPr/>
              <p:nvPr/>
            </p:nvSpPr>
            <p:spPr>
              <a:xfrm>
                <a:off x="838682" y="2679837"/>
                <a:ext cx="7536180" cy="665227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190500" indent="-190500">
                  <a:spcAft>
                    <a:spcPts val="500"/>
                  </a:spcAft>
                  <a:buSzPct val="100000"/>
                  <a:buFontTx/>
                  <a:buChar char="•"/>
                </a:pPr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Padding always at end + Large penalty    </a:t>
                </a:r>
                <a:r>
                  <a:rPr lang="en-US" sz="1600" b="1" dirty="0">
                    <a:solidFill>
                      <a:srgbClr val="C0000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</a:t>
                </a:r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  Strong incentive to chose action = 0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Sorted Centroids    </a:t>
                </a:r>
                <a:r>
                  <a:rPr lang="en-US" sz="1600" b="1" dirty="0">
                    <a:solidFill>
                      <a:srgbClr val="C0000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  </a:t>
                </a:r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Choosing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𝑎𝑐𝑡𝑖𝑜𝑛</m:t>
                    </m:r>
                    <m:r>
                      <a:rPr lang="en-US" sz="160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=0</m:t>
                    </m:r>
                  </m:oMath>
                </a14:m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correspond to the greedy heuristic</a:t>
                </a:r>
              </a:p>
            </p:txBody>
          </p:sp>
        </mc:Choice>
        <mc:Fallback>
          <p:sp>
            <p:nvSpPr>
              <p:cNvPr id="21" name="Text 8">
                <a:extLst>
                  <a:ext uri="{FF2B5EF4-FFF2-40B4-BE49-F238E27FC236}">
                    <a16:creationId xmlns:a16="http://schemas.microsoft.com/office/drawing/2014/main" id="{3C82A692-61BA-906F-351E-A5B833B2A7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682" y="2679837"/>
                <a:ext cx="7536180" cy="665227"/>
              </a:xfrm>
              <a:prstGeom prst="rect">
                <a:avLst/>
              </a:prstGeom>
              <a:blipFill>
                <a:blip r:embed="rId3"/>
                <a:stretch>
                  <a:fillRect l="-485" t="-2752" b="-9174"/>
                </a:stretch>
              </a:blipFill>
              <a:ln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hape 9">
            <a:extLst>
              <a:ext uri="{FF2B5EF4-FFF2-40B4-BE49-F238E27FC236}">
                <a16:creationId xmlns:a16="http://schemas.microsoft.com/office/drawing/2014/main" id="{41A7ACDA-36AA-A884-BFA6-282D67B931BB}"/>
              </a:ext>
            </a:extLst>
          </p:cNvPr>
          <p:cNvSpPr/>
          <p:nvPr/>
        </p:nvSpPr>
        <p:spPr>
          <a:xfrm>
            <a:off x="707232" y="3560417"/>
            <a:ext cx="7719536" cy="936581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CCA0CA91-892A-CD4C-B72A-8B86041F787B}"/>
              </a:ext>
            </a:extLst>
          </p:cNvPr>
          <p:cNvSpPr/>
          <p:nvPr/>
        </p:nvSpPr>
        <p:spPr>
          <a:xfrm>
            <a:off x="852970" y="3624159"/>
            <a:ext cx="70337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Attempted fixes</a:t>
            </a:r>
            <a:endParaRPr lang="en-US" sz="1600" dirty="0"/>
          </a:p>
        </p:txBody>
      </p:sp>
      <p:sp>
        <p:nvSpPr>
          <p:cNvPr id="8" name="Text 11">
            <a:extLst>
              <a:ext uri="{FF2B5EF4-FFF2-40B4-BE49-F238E27FC236}">
                <a16:creationId xmlns:a16="http://schemas.microsoft.com/office/drawing/2014/main" id="{A4C249C0-D8D3-521C-D456-0E36EAED184A}"/>
              </a:ext>
            </a:extLst>
          </p:cNvPr>
          <p:cNvSpPr/>
          <p:nvPr/>
        </p:nvSpPr>
        <p:spPr>
          <a:xfrm>
            <a:off x="1147291" y="3935055"/>
            <a:ext cx="2533174" cy="42481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distance sorting </a:t>
            </a:r>
          </a:p>
        </p:txBody>
      </p:sp>
      <p:sp>
        <p:nvSpPr>
          <p:cNvPr id="11" name="Text 11">
            <a:extLst>
              <a:ext uri="{FF2B5EF4-FFF2-40B4-BE49-F238E27FC236}">
                <a16:creationId xmlns:a16="http://schemas.microsoft.com/office/drawing/2014/main" id="{5D4DEA9B-2DB3-306E-FA16-B1A2198BD0A1}"/>
              </a:ext>
            </a:extLst>
          </p:cNvPr>
          <p:cNvSpPr/>
          <p:nvPr/>
        </p:nvSpPr>
        <p:spPr>
          <a:xfrm>
            <a:off x="4735835" y="3910573"/>
            <a:ext cx="2533174" cy="439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padding penalty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0075" y="918136"/>
            <a:ext cx="7915275" cy="346784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2982" y="873149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Configuration:   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centroids positions   ·   Not-sorted    ·    Agent position    ·   Reward 2   ·   1M steps</a:t>
            </a:r>
            <a:endParaRPr lang="en-US" sz="1200" dirty="0"/>
          </a:p>
        </p:txBody>
      </p:sp>
      <p:pic>
        <p:nvPicPr>
          <p:cNvPr id="9" name="Image 0" descr="/home/claude/assets/absolute_ag_notsorted_1e6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84048" y="1360829"/>
            <a:ext cx="4924697" cy="2154196"/>
          </a:xfrm>
          <a:prstGeom prst="rect">
            <a:avLst/>
          </a:prstGeom>
        </p:spPr>
      </p:pic>
      <p:pic>
        <p:nvPicPr>
          <p:cNvPr id="11" name="Image 1" descr="/home/claude/assets/absolute_ag_notsorted_1e6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19998" y="1360828"/>
            <a:ext cx="3023937" cy="2154197"/>
          </a:xfrm>
          <a:prstGeom prst="rect">
            <a:avLst/>
          </a:prstGeom>
        </p:spPr>
      </p:pic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1B53B08E-3213-8AE6-722D-90F5AC50D2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433285"/>
              </p:ext>
            </p:extLst>
          </p:nvPr>
        </p:nvGraphicFramePr>
        <p:xfrm>
          <a:off x="1190243" y="3748435"/>
          <a:ext cx="280994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973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04973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362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600443"/>
                  </a:ext>
                </a:extLst>
              </a:tr>
              <a:tr h="236235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236235">
                <a:tc>
                  <a:txBody>
                    <a:bodyPr/>
                    <a:lstStyle/>
                    <a:p>
                      <a:r>
                        <a:rPr lang="it-IT" sz="1200" dirty="0"/>
                        <a:t>15.55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2.45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6" name="Tabella 15">
            <a:extLst>
              <a:ext uri="{FF2B5EF4-FFF2-40B4-BE49-F238E27FC236}">
                <a16:creationId xmlns:a16="http://schemas.microsoft.com/office/drawing/2014/main" id="{FB42DADA-AB9B-1D95-3072-5F611B9B5A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5275880"/>
              </p:ext>
            </p:extLst>
          </p:nvPr>
        </p:nvGraphicFramePr>
        <p:xfrm>
          <a:off x="4504942" y="3740588"/>
          <a:ext cx="3846101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9783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586082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586082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586082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34036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  <a:gridCol w="534036">
                  <a:extLst>
                    <a:ext uri="{9D8B030D-6E8A-4147-A177-3AD203B41FA5}">
                      <a16:colId xmlns:a16="http://schemas.microsoft.com/office/drawing/2014/main" val="1105224779"/>
                    </a:ext>
                  </a:extLst>
                </a:gridCol>
              </a:tblGrid>
              <a:tr h="236235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236235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273217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0.51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0.028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  <p:sp>
        <p:nvSpPr>
          <p:cNvPr id="17" name="Text 7">
            <a:extLst>
              <a:ext uri="{FF2B5EF4-FFF2-40B4-BE49-F238E27FC236}">
                <a16:creationId xmlns:a16="http://schemas.microsoft.com/office/drawing/2014/main" id="{FD04F33C-E278-23E9-0264-CAC95382EAA7}"/>
              </a:ext>
            </a:extLst>
          </p:cNvPr>
          <p:cNvSpPr/>
          <p:nvPr/>
        </p:nvSpPr>
        <p:spPr>
          <a:xfrm>
            <a:off x="320040" y="3469124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</a:t>
            </a:r>
            <a:endParaRPr lang="en-US" sz="120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CD231252-5FF8-456E-16C7-45AA245BE1D0}"/>
              </a:ext>
            </a:extLst>
          </p:cNvPr>
          <p:cNvSpPr/>
          <p:nvPr/>
        </p:nvSpPr>
        <p:spPr>
          <a:xfrm>
            <a:off x="5623560" y="346430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30961-854E-EC71-472E-591F094FC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7531578A-E3BB-09BC-59CF-EC4114E95786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E15AF7-DD8E-4136-92A0-152A05D7BDB9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C8A423E-6CBC-6285-B644-90A897F665EC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F0B0059-B144-1151-0203-90392E471778}"/>
              </a:ext>
            </a:extLst>
          </p:cNvPr>
          <p:cNvSpPr/>
          <p:nvPr/>
        </p:nvSpPr>
        <p:spPr>
          <a:xfrm>
            <a:off x="502920" y="2252281"/>
            <a:ext cx="8148161" cy="1920237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C66C2FBC-8DBB-B1B7-A2AD-9B94ED408D68}"/>
              </a:ext>
            </a:extLst>
          </p:cNvPr>
          <p:cNvSpPr/>
          <p:nvPr/>
        </p:nvSpPr>
        <p:spPr>
          <a:xfrm>
            <a:off x="588648" y="2803202"/>
            <a:ext cx="5280661" cy="10477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overall performance, comparable with heuristics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small TD loss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 action choice</a:t>
            </a: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912B23C1-5D4F-C8C2-C317-5795A8B3CE33}"/>
              </a:ext>
            </a:extLst>
          </p:cNvPr>
          <p:cNvSpPr/>
          <p:nvPr/>
        </p:nvSpPr>
        <p:spPr>
          <a:xfrm>
            <a:off x="5960747" y="3034084"/>
            <a:ext cx="2766061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genuinely learning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794BADAC-E89C-B452-949C-0D76C130C014}"/>
              </a:ext>
            </a:extLst>
          </p:cNvPr>
          <p:cNvCxnSpPr/>
          <p:nvPr/>
        </p:nvCxnSpPr>
        <p:spPr>
          <a:xfrm>
            <a:off x="5629278" y="3296978"/>
            <a:ext cx="533400" cy="0"/>
          </a:xfrm>
          <a:prstGeom prst="straightConnector1">
            <a:avLst/>
          </a:prstGeom>
          <a:ln w="28575">
            <a:solidFill>
              <a:srgbClr val="4CAF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ella 17">
            <a:extLst>
              <a:ext uri="{FF2B5EF4-FFF2-40B4-BE49-F238E27FC236}">
                <a16:creationId xmlns:a16="http://schemas.microsoft.com/office/drawing/2014/main" id="{775E278A-6ECD-2CC0-04B6-232778E09D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593258"/>
              </p:ext>
            </p:extLst>
          </p:nvPr>
        </p:nvGraphicFramePr>
        <p:xfrm>
          <a:off x="525782" y="1019557"/>
          <a:ext cx="51206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2630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1105224779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3568728515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1156081108"/>
                    </a:ext>
                  </a:extLst>
                </a:gridCol>
              </a:tblGrid>
              <a:tr h="264555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sorted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by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distance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0.62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0.085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0.063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0.003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  <p:sp>
        <p:nvSpPr>
          <p:cNvPr id="19" name="Text 8">
            <a:extLst>
              <a:ext uri="{FF2B5EF4-FFF2-40B4-BE49-F238E27FC236}">
                <a16:creationId xmlns:a16="http://schemas.microsoft.com/office/drawing/2014/main" id="{D4C2B804-F085-8FB8-F74C-F4A8DE171C55}"/>
              </a:ext>
            </a:extLst>
          </p:cNvPr>
          <p:cNvSpPr/>
          <p:nvPr/>
        </p:nvSpPr>
        <p:spPr>
          <a:xfrm>
            <a:off x="5989793" y="1286256"/>
            <a:ext cx="2766061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policy learned is </a:t>
            </a:r>
          </a:p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from the heuristic</a:t>
            </a:r>
          </a:p>
        </p:txBody>
      </p: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96C43A4C-15D6-5B2A-E554-84B6475071B3}"/>
              </a:ext>
            </a:extLst>
          </p:cNvPr>
          <p:cNvCxnSpPr>
            <a:cxnSpLocks/>
          </p:cNvCxnSpPr>
          <p:nvPr/>
        </p:nvCxnSpPr>
        <p:spPr>
          <a:xfrm>
            <a:off x="5857871" y="1588016"/>
            <a:ext cx="262891" cy="0"/>
          </a:xfrm>
          <a:prstGeom prst="straightConnector1">
            <a:avLst/>
          </a:prstGeom>
          <a:ln w="28575">
            <a:solidFill>
              <a:srgbClr val="4CAF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7">
            <a:extLst>
              <a:ext uri="{FF2B5EF4-FFF2-40B4-BE49-F238E27FC236}">
                <a16:creationId xmlns:a16="http://schemas.microsoft.com/office/drawing/2014/main" id="{F2CB1858-9EB4-4CC7-7CE9-9191E65A2805}"/>
              </a:ext>
            </a:extLst>
          </p:cNvPr>
          <p:cNvSpPr/>
          <p:nvPr/>
        </p:nvSpPr>
        <p:spPr>
          <a:xfrm>
            <a:off x="542928" y="239401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dirty="0">
              <a:solidFill>
                <a:srgbClr val="4CAF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5526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AF6A6-E9E3-70C5-C92D-6BE1B9378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22A185FB-6C81-C907-F1DB-81755007A792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8A37824-64E3-AF34-8983-0045515CEB90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A6B66D4-5DAB-F399-975C-EEF4926328F3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2" name="Shape 5">
            <a:extLst>
              <a:ext uri="{FF2B5EF4-FFF2-40B4-BE49-F238E27FC236}">
                <a16:creationId xmlns:a16="http://schemas.microsoft.com/office/drawing/2014/main" id="{B2A6FF3E-20F2-75A6-1B97-44B9FA1FE1ED}"/>
              </a:ext>
            </a:extLst>
          </p:cNvPr>
          <p:cNvSpPr/>
          <p:nvPr/>
        </p:nvSpPr>
        <p:spPr>
          <a:xfrm>
            <a:off x="320040" y="1499077"/>
            <a:ext cx="2966085" cy="2674622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3" name="Text 7">
            <a:extLst>
              <a:ext uri="{FF2B5EF4-FFF2-40B4-BE49-F238E27FC236}">
                <a16:creationId xmlns:a16="http://schemas.microsoft.com/office/drawing/2014/main" id="{4CF78298-C8EE-3DFC-B9F5-87B8383A3A3F}"/>
              </a:ext>
            </a:extLst>
          </p:cNvPr>
          <p:cNvSpPr/>
          <p:nvPr/>
        </p:nvSpPr>
        <p:spPr>
          <a:xfrm>
            <a:off x="457200" y="1623381"/>
            <a:ext cx="282892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setup</a:t>
            </a:r>
            <a:endParaRPr lang="en-US" sz="1400" b="1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3A8A94C0-CD7C-3FDC-8C84-B0A2547E143F}"/>
              </a:ext>
            </a:extLst>
          </p:cNvPr>
          <p:cNvSpPr/>
          <p:nvPr/>
        </p:nvSpPr>
        <p:spPr>
          <a:xfrm>
            <a:off x="457200" y="2001429"/>
            <a:ext cx="2828925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size 20x20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Obstacle probability 0.05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range n = 3 cells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Policy: trained </a:t>
            </a: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</a:t>
            </a:r>
            <a:endParaRPr lang="en-US" sz="1300" i="1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D30DF32F-098E-D4E1-2549-4093D93099F1}"/>
              </a:ext>
            </a:extLst>
          </p:cNvPr>
          <p:cNvSpPr/>
          <p:nvPr/>
        </p:nvSpPr>
        <p:spPr>
          <a:xfrm>
            <a:off x="370840" y="915257"/>
            <a:ext cx="32796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simulation rendering</a:t>
            </a:r>
          </a:p>
        </p:txBody>
      </p:sp>
      <p:pic>
        <p:nvPicPr>
          <p:cNvPr id="10" name="video_best-model">
            <a:hlinkClick r:id="" action="ppaction://media"/>
            <a:extLst>
              <a:ext uri="{FF2B5EF4-FFF2-40B4-BE49-F238E27FC236}">
                <a16:creationId xmlns:a16="http://schemas.microsoft.com/office/drawing/2014/main" id="{1886301F-9F9A-6B6B-4DF9-26194CA044B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304344" y="1460466"/>
            <a:ext cx="5703922" cy="2851962"/>
          </a:xfrm>
          <a:prstGeom prst="rect">
            <a:avLst/>
          </a:prstGeom>
        </p:spPr>
      </p:pic>
      <p:sp>
        <p:nvSpPr>
          <p:cNvPr id="9" name="Text 7">
            <a:extLst>
              <a:ext uri="{FF2B5EF4-FFF2-40B4-BE49-F238E27FC236}">
                <a16:creationId xmlns:a16="http://schemas.microsoft.com/office/drawing/2014/main" id="{8B651904-6CC3-8EB9-9C38-70B530C7C402}"/>
              </a:ext>
            </a:extLst>
          </p:cNvPr>
          <p:cNvSpPr/>
          <p:nvPr/>
        </p:nvSpPr>
        <p:spPr>
          <a:xfrm>
            <a:off x="4081462" y="1417601"/>
            <a:ext cx="4419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rendering example – Heuristic policy</a:t>
            </a:r>
            <a:endParaRPr 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2926436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750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Comparison Summary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9612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on 100 test episodes per map size. Metric: mean episode reward at episode end (coverage 90%).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6345146"/>
                  </p:ext>
                </p:extLst>
              </p:nvPr>
            </p:nvGraphicFramePr>
            <p:xfrm>
              <a:off x="528636" y="1578772"/>
              <a:ext cx="8086728" cy="2521740"/>
            </p:xfrm>
            <a:graphic>
              <a:graphicData uri="http://schemas.openxmlformats.org/drawingml/2006/table">
                <a:tbl>
                  <a:tblPr/>
                  <a:tblGrid>
                    <a:gridCol w="13477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Reward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Obs. Order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20×20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30×30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Outcome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16.48</a:t>
                          </a:r>
                          <a14:m>
                            <m:oMath xmlns:m="http://schemas.openxmlformats.org/officeDocument/2006/math"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 </a:t>
                          </a: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1.78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36.39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1.27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15.01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it-IT" sz="13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1.12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34.32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2.58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1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Relative - 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it-IT" sz="1300" i="0" dirty="0"/>
                            <a:t>16.91</a:t>
                          </a:r>
                          <a:r>
                            <a:rPr lang="it-IT" sz="1300" i="0" baseline="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 </a:t>
                          </a:r>
                          <a:r>
                            <a:rPr lang="it-IT" sz="1300" i="0" dirty="0"/>
                            <a:t>0.57</a:t>
                          </a:r>
                        </a:p>
                        <a:p>
                          <a:pPr marL="0" indent="0" algn="ctr">
                            <a:buNone/>
                          </a:pP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i="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C8472C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⚠ Degenerate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0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2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Absolute + Agent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Unsorted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it-IT" sz="1300" i="0" dirty="0"/>
                            <a:t>15.55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it-IT" sz="1300" i="0" dirty="0"/>
                            <a:t> 2.45</a:t>
                          </a:r>
                        </a:p>
                        <a:p>
                          <a:pPr algn="ctr"/>
                          <a:endParaRPr lang="it-IT" sz="1300" i="0" dirty="0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3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31.46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it-IT" sz="1300" b="0" i="0" u="none" strike="noStrike" kern="1200" baseline="0" smtClean="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4.75</m:t>
                              </m:r>
                            </m:oMath>
                          </a14:m>
                          <a:endParaRPr lang="it-IT" sz="1300" i="0" dirty="0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2E7D32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✓ Converged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0FB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6345146"/>
                  </p:ext>
                </p:extLst>
              </p:nvPr>
            </p:nvGraphicFramePr>
            <p:xfrm>
              <a:off x="528636" y="1578772"/>
              <a:ext cx="8086728" cy="2521740"/>
            </p:xfrm>
            <a:graphic>
              <a:graphicData uri="http://schemas.openxmlformats.org/drawingml/2006/table">
                <a:tbl>
                  <a:tblPr/>
                  <a:tblGrid>
                    <a:gridCol w="13477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Reward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Obs. Order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20×20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30×30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Outcome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905" t="-101205" r="-201357" b="-3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9099" t="-101205" r="-100450" b="-3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905" t="-201205" r="-201357" b="-2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9099" t="-201205" r="-100450" b="-2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1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Relative - 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905" t="-301205" r="-201357" b="-1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i="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C8472C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⚠ Degenerate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0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2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Absolute + Agent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Unsorted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905" t="-401205" r="-201357" b="-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9099" t="-401205" r="-100450" b="-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2E7D32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✓ Converged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0FB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93354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DRL model was successfully integrated in a modular frontier-based exploration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69249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the critical influence of observation and reward configuration on the learned policy 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46573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developed framework can be considered validated by the meaningful results obtained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end-to-end DRL system, multi-agent settings, dynamic and 3D environments, more complex information structures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1CCEB-5AA5-084F-DE39-6223F847A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0924787"/>
      </p:ext>
    </p:extLst>
  </p:cSld>
  <p:clrMapOvr>
    <a:masterClrMapping/>
  </p:clrMapOvr>
</p:sld>
</file>

<file path=ppt/theme/theme1.xml><?xml version="1.0" encoding="utf-8"?>
<a:theme xmlns:a="http://schemas.openxmlformats.org/drawingml/2006/main" name="standard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rontespizi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2737</TotalTime>
  <Words>1148</Words>
  <Application>Microsoft Office PowerPoint</Application>
  <PresentationFormat>Presentazione su schermo (16:9)</PresentationFormat>
  <Paragraphs>302</Paragraphs>
  <Slides>23</Slides>
  <Notes>15</Notes>
  <HiddenSlides>0</HiddenSlides>
  <MMClips>2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23</vt:i4>
      </vt:variant>
    </vt:vector>
  </HeadingPairs>
  <TitlesOfParts>
    <vt:vector size="29" baseType="lpstr">
      <vt:lpstr>Arial</vt:lpstr>
      <vt:lpstr>Calibri</vt:lpstr>
      <vt:lpstr>Cambria Math</vt:lpstr>
      <vt:lpstr>Courier New</vt:lpstr>
      <vt:lpstr>standard slide</vt:lpstr>
      <vt:lpstr>Frontespizio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33</cp:revision>
  <dcterms:created xsi:type="dcterms:W3CDTF">2026-04-01T11:00:14Z</dcterms:created>
  <dcterms:modified xsi:type="dcterms:W3CDTF">2026-04-09T08:05:25Z</dcterms:modified>
</cp:coreProperties>
</file>