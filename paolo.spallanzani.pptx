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6.jpg" ContentType="image/jpg"/>
  <Override PartName="/ppt/media/image7.jpg" ContentType="image/png"/>
  <Override PartName="/ppt/media/image13.jpg" ContentType="image/pn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25"/>
  </p:notesMasterIdLst>
  <p:sldIdLst>
    <p:sldId id="266" r:id="rId3"/>
    <p:sldId id="269" r:id="rId4"/>
    <p:sldId id="259" r:id="rId5"/>
    <p:sldId id="271" r:id="rId6"/>
    <p:sldId id="261" r:id="rId7"/>
    <p:sldId id="298" r:id="rId8"/>
    <p:sldId id="272" r:id="rId9"/>
    <p:sldId id="262" r:id="rId10"/>
    <p:sldId id="274" r:id="rId11"/>
    <p:sldId id="301" r:id="rId12"/>
    <p:sldId id="275" r:id="rId13"/>
    <p:sldId id="285" r:id="rId14"/>
    <p:sldId id="293" r:id="rId15"/>
    <p:sldId id="303" r:id="rId16"/>
    <p:sldId id="297" r:id="rId17"/>
    <p:sldId id="268" r:id="rId18"/>
    <p:sldId id="295" r:id="rId19"/>
    <p:sldId id="296" r:id="rId20"/>
    <p:sldId id="302" r:id="rId21"/>
    <p:sldId id="270" r:id="rId22"/>
    <p:sldId id="299" r:id="rId23"/>
    <p:sldId id="300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1A2E4A"/>
    <a:srgbClr val="F5F7FA"/>
    <a:srgbClr val="4CAF50"/>
    <a:srgbClr val="C00000"/>
    <a:srgbClr val="C847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3" autoAdjust="0"/>
    <p:restoredTop sz="94564" autoAdjust="0"/>
  </p:normalViewPr>
  <p:slideViewPr>
    <p:cSldViewPr snapToGrid="0" snapToObjects="1">
      <p:cViewPr varScale="1">
        <p:scale>
          <a:sx n="107" d="100"/>
          <a:sy n="107" d="100"/>
        </p:scale>
        <p:origin x="7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6E773-304D-0695-B80C-C338BAEFE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19098D-F93F-11E3-742E-E73C99C4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715E9-4172-7B24-3B44-D6232A5EB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0895-5927-CC51-B003-92282C31E3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973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D7A8-1F12-2260-B729-4A4467482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937E6-5371-2F12-F6EE-4F70E04A2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00D65-E31C-3C9C-A2AA-FA4F21395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15D08-8B4C-9037-2F4F-9F385213AE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227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15.png"/><Relationship Id="rId4" Type="http://schemas.openxmlformats.org/officeDocument/2006/relationships/image" Target="../media/image13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5123" y="953265"/>
            <a:ext cx="7785194" cy="9601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for autonomous exploration?</a:t>
            </a:r>
            <a:endParaRPr lang="en-US" b="1" dirty="0"/>
          </a:p>
        </p:txBody>
      </p:sp>
      <p:sp>
        <p:nvSpPr>
          <p:cNvPr id="9" name="Text 7"/>
          <p:cNvSpPr/>
          <p:nvPr/>
        </p:nvSpPr>
        <p:spPr>
          <a:xfrm>
            <a:off x="756524" y="2097409"/>
            <a:ext cx="7615951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is a complex task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methods exist but present some limitations</a:t>
            </a:r>
            <a:endParaRPr lang="en-US" sz="16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methods can provide more adaptive models</a:t>
            </a:r>
            <a:endParaRPr lang="en-US" sz="1600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673400" y="3324499"/>
            <a:ext cx="7827505" cy="114034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1052824" y="3766303"/>
            <a:ext cx="7023019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investigate the possibility of integrating learning-based methods with classical ones</a:t>
            </a:r>
            <a:endParaRPr lang="en-US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3909774" y="3293842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4336" y="1092992"/>
            <a:ext cx="4526280" cy="32321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 simultaneous: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93163" y="3808767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836064" y="3654874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and unknown regions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5794409" y="1855824"/>
            <a:ext cx="3109083" cy="155889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F7F5C26E-B483-858E-04DF-EE05A7A1B5F3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/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agent observe and interact with an environment and receives a scalar reward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RL loop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observe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, perform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 leading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, receives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Goal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learn to take the best action </a:t>
                </a:r>
                <a:r>
                  <a:rPr lang="en-US" sz="13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maximize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cumulative reward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  <a:p>
                <a:pPr>
                  <a:spcAft>
                    <a:spcPts val="500"/>
                  </a:spcAft>
                  <a:buSzPct val="100000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behavioral Policy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Π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output an action given a state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Q-function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allow to assign a value to each action-state pair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 xmlns="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43" y="1315880"/>
                <a:ext cx="5972175" cy="2903220"/>
              </a:xfrm>
              <a:prstGeom prst="rect">
                <a:avLst/>
              </a:prstGeom>
              <a:blipFill>
                <a:blip r:embed="rId3"/>
                <a:stretch>
                  <a:fillRect l="-204" t="-420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0DC10423-BDC3-CDC1-6579-474E3A572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766" y="3677263"/>
            <a:ext cx="3113669" cy="48315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C448EB91-789F-B3B5-736B-406379695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3522" y="2304119"/>
            <a:ext cx="1976851" cy="494213"/>
          </a:xfrm>
          <a:prstGeom prst="rect">
            <a:avLst/>
          </a:prstGeom>
        </p:spPr>
      </p:pic>
      <p:sp>
        <p:nvSpPr>
          <p:cNvPr id="19" name="Shape 22">
            <a:extLst>
              <a:ext uri="{FF2B5EF4-FFF2-40B4-BE49-F238E27FC236}">
                <a16:creationId xmlns:a16="http://schemas.microsoft.com/office/drawing/2014/main" id="{3F595427-3DD0-57FC-DAC1-7DA4377682E1}"/>
              </a:ext>
            </a:extLst>
          </p:cNvPr>
          <p:cNvSpPr/>
          <p:nvPr/>
        </p:nvSpPr>
        <p:spPr>
          <a:xfrm>
            <a:off x="2043514" y="2304119"/>
            <a:ext cx="2078853" cy="494213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1D016AD0-8AF3-FFBE-63F2-525B866D478F}"/>
              </a:ext>
            </a:extLst>
          </p:cNvPr>
          <p:cNvSpPr/>
          <p:nvPr/>
        </p:nvSpPr>
        <p:spPr>
          <a:xfrm>
            <a:off x="1626766" y="3647386"/>
            <a:ext cx="3130972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AAB9E-CDD0-0F57-8B7B-78926446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658FAD49-D0CC-A805-9A3D-AA6717AD0B6F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18DCC72-96ED-6DEC-7CB8-825054805F74}"/>
              </a:ext>
            </a:extLst>
          </p:cNvPr>
          <p:cNvSpPr/>
          <p:nvPr/>
        </p:nvSpPr>
        <p:spPr>
          <a:xfrm>
            <a:off x="457200" y="888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 Learning</a:t>
            </a:r>
            <a:endParaRPr 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CA31438-CC1F-2DBE-C75E-7DE4E7E15FE9}"/>
              </a:ext>
            </a:extLst>
          </p:cNvPr>
          <p:cNvSpPr/>
          <p:nvPr/>
        </p:nvSpPr>
        <p:spPr>
          <a:xfrm>
            <a:off x="457200" y="1208719"/>
            <a:ext cx="4321969" cy="85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Q-Algorithm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allows to iteratively estimate the Q-function from experience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8437B19-2201-552E-3177-C28E8154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235" y="3210167"/>
            <a:ext cx="3880052" cy="968554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3D30F77C-FF6D-4D81-8AA7-EAF0025AB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235" y="1525226"/>
            <a:ext cx="3832365" cy="95665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463F26B-8A19-3D34-2B5F-CEB841A4DF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066"/>
          <a:stretch>
            <a:fillRect/>
          </a:stretch>
        </p:blipFill>
        <p:spPr>
          <a:xfrm>
            <a:off x="455472" y="2043457"/>
            <a:ext cx="4055533" cy="3682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/>
              <p:nvPr/>
            </p:nvSpPr>
            <p:spPr>
              <a:xfrm>
                <a:off x="543988" y="3376333"/>
                <a:ext cx="4361247" cy="956651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For high dimensional state spaces the Q-table can become excessively memory expansive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In Deep Q-Network the Q-function mapping is approximated by Deep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Neural Network </a:t>
                </a:r>
                <a14:m>
                  <m:oMath xmlns:m="http://schemas.openxmlformats.org/officeDocument/2006/math">
                    <m:r>
                      <a:rPr lang="it-IT" sz="130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d>
                      <m:dPr>
                        <m:ctrlP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,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;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1300" dirty="0"/>
              </a:p>
            </p:txBody>
          </p:sp>
        </mc:Choice>
        <mc:Fallback xmlns="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88" y="3376333"/>
                <a:ext cx="4361247" cy="956651"/>
              </a:xfrm>
              <a:prstGeom prst="rect">
                <a:avLst/>
              </a:prstGeom>
              <a:blipFill>
                <a:blip r:embed="rId5"/>
                <a:stretch>
                  <a:fillRect l="-279" t="-1274" b="-4459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7">
            <a:extLst>
              <a:ext uri="{FF2B5EF4-FFF2-40B4-BE49-F238E27FC236}">
                <a16:creationId xmlns:a16="http://schemas.microsoft.com/office/drawing/2014/main" id="{0BB49070-AA2A-F57E-8BCA-7F61D012C63B}"/>
              </a:ext>
            </a:extLst>
          </p:cNvPr>
          <p:cNvSpPr/>
          <p:nvPr/>
        </p:nvSpPr>
        <p:spPr>
          <a:xfrm>
            <a:off x="508000" y="3022999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</a:t>
            </a:r>
            <a:endParaRPr lang="en-US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72798926-5939-D7FC-D9E9-5198BF433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662" y="1763842"/>
            <a:ext cx="3988338" cy="354014"/>
          </a:xfrm>
          <a:prstGeom prst="rect">
            <a:avLst/>
          </a:prstGeom>
        </p:spPr>
      </p:pic>
      <p:sp>
        <p:nvSpPr>
          <p:cNvPr id="23" name="Text 8">
            <a:extLst>
              <a:ext uri="{FF2B5EF4-FFF2-40B4-BE49-F238E27FC236}">
                <a16:creationId xmlns:a16="http://schemas.microsoft.com/office/drawing/2014/main" id="{55F54F12-3502-0FB5-3625-F6B89F306522}"/>
              </a:ext>
            </a:extLst>
          </p:cNvPr>
          <p:cNvSpPr/>
          <p:nvPr/>
        </p:nvSpPr>
        <p:spPr>
          <a:xfrm>
            <a:off x="508000" y="2409143"/>
            <a:ext cx="4321969" cy="4512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Q-learning the Q-function is encoded in a table called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3450AAB-B6E8-8C14-FB9A-8B6673C1DD9C}"/>
              </a:ext>
            </a:extLst>
          </p:cNvPr>
          <p:cNvSpPr/>
          <p:nvPr/>
        </p:nvSpPr>
        <p:spPr>
          <a:xfrm>
            <a:off x="626525" y="1757543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3975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1004754" y="3093248"/>
            <a:ext cx="3311977" cy="13030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1914" y="3153831"/>
            <a:ext cx="26112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41914" y="3501872"/>
            <a:ext cx="2960893" cy="8000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754881" y="3093248"/>
            <a:ext cx="3316624" cy="1303020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9204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58715" y="3526443"/>
            <a:ext cx="2851785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46491" y="3985941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25243" y="3832338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random obstacle 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perception range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believes map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449082" y="890646"/>
            <a:ext cx="4493490" cy="1373923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633281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clusters, splitting them if needed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633281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5285815" y="890646"/>
            <a:ext cx="3387038" cy="1309899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5407895" y="1295014"/>
            <a:ext cx="3387038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5328679" y="925470"/>
            <a:ext cx="350911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0261" y="2340366"/>
            <a:ext cx="2098145" cy="218725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BBE52D13-AD2E-6F29-8B12-96B162A49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77" y="2415439"/>
            <a:ext cx="4341516" cy="208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4BFB7-8AD0-C29E-2F95-187E3F198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81019E-77B0-A0CC-3D93-C2CCA001A95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698E1C71-E685-CD86-004B-1AB507233782}"/>
              </a:ext>
            </a:extLst>
          </p:cNvPr>
          <p:cNvSpPr/>
          <p:nvPr/>
        </p:nvSpPr>
        <p:spPr>
          <a:xfrm>
            <a:off x="320040" y="1499077"/>
            <a:ext cx="3151823" cy="267462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83138C28-537B-7102-4C03-CF656624F66A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AA628CE1-1C0B-489A-747C-3BD4D798649A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greedy min distance heuristic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pic>
        <p:nvPicPr>
          <p:cNvPr id="10" name="video_heuristic">
            <a:hlinkClick r:id="" action="ppaction://media"/>
            <a:extLst>
              <a:ext uri="{FF2B5EF4-FFF2-40B4-BE49-F238E27FC236}">
                <a16:creationId xmlns:a16="http://schemas.microsoft.com/office/drawing/2014/main" id="{FB81732C-E216-E380-47B7-7767BF8653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507580" y="1379064"/>
            <a:ext cx="5614987" cy="2836438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C202F898-579F-B2B0-72A0-51C32FB4984A}"/>
              </a:ext>
            </a:extLst>
          </p:cNvPr>
          <p:cNvSpPr/>
          <p:nvPr/>
        </p:nvSpPr>
        <p:spPr>
          <a:xfrm>
            <a:off x="4102894" y="1346274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B26A343-4D3F-C48B-7417-ED8FCD9AAA79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</a:t>
            </a:r>
          </a:p>
        </p:txBody>
      </p:sp>
    </p:spTree>
    <p:extLst>
      <p:ext uri="{BB962C8B-B14F-4D97-AF65-F5344CB8AC3E}">
        <p14:creationId xmlns:p14="http://schemas.microsoft.com/office/powerpoint/2010/main" val="3122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2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362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2563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1503" y="952976"/>
            <a:ext cx="3977640" cy="2261709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8663" y="95297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78663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Distance&gt;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1503" y="3354699"/>
            <a:ext cx="3977640" cy="1081277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8663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78663" y="370245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039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196359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674991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743574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230427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158561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4963023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4898369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583406" y="889000"/>
            <a:ext cx="7967664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333450"/>
              </p:ext>
            </p:extLst>
          </p:nvPr>
        </p:nvGraphicFramePr>
        <p:xfrm>
          <a:off x="900112" y="1347722"/>
          <a:ext cx="7343776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2849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7066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75667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153355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41411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371326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0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572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57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178051"/>
            <a:ext cx="4527031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212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1F82-86CB-2B93-A10A-F0881A4F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2">
            <a:extLst>
              <a:ext uri="{FF2B5EF4-FFF2-40B4-BE49-F238E27FC236}">
                <a16:creationId xmlns:a16="http://schemas.microsoft.com/office/drawing/2014/main" id="{CEB9E8F4-9A40-E685-6DE7-62ECFAEF90F3}"/>
              </a:ext>
            </a:extLst>
          </p:cNvPr>
          <p:cNvSpPr/>
          <p:nvPr/>
        </p:nvSpPr>
        <p:spPr>
          <a:xfrm>
            <a:off x="688664" y="2021653"/>
            <a:ext cx="776650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EB21816-4242-2403-BB00-E48F41181D7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4A0A1E-8666-2C5E-D4E5-44FD694B868B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</a:t>
            </a:r>
            <a:r>
              <a:rPr lang="en-US" sz="26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&amp; </a:t>
            </a: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2600" b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aselines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69C474C-6A6E-54C7-CF90-95987EF8C62B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2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68421" r="-948" b="-109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170667" r="-948" b="-1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 5">
            <a:extLst>
              <a:ext uri="{FF2B5EF4-FFF2-40B4-BE49-F238E27FC236}">
                <a16:creationId xmlns:a16="http://schemas.microsoft.com/office/drawing/2014/main" id="{B580FB8F-3A5B-8AD7-2802-80DB23ADA122}"/>
              </a:ext>
            </a:extLst>
          </p:cNvPr>
          <p:cNvSpPr/>
          <p:nvPr/>
        </p:nvSpPr>
        <p:spPr>
          <a:xfrm>
            <a:off x="733457" y="2226803"/>
            <a:ext cx="4527031" cy="4234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(training loss)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97EF2BF-6C79-502E-5A29-073A2F24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18" t="73066" b="6569"/>
          <a:stretch>
            <a:fillRect/>
          </a:stretch>
        </p:blipFill>
        <p:spPr>
          <a:xfrm>
            <a:off x="4379015" y="2524463"/>
            <a:ext cx="3884480" cy="27843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CA7C3BD-FBDC-BD37-8A53-4891AE992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22" y="2172282"/>
            <a:ext cx="3988338" cy="354014"/>
          </a:xfrm>
          <a:prstGeom prst="rect">
            <a:avLst/>
          </a:prstGeom>
        </p:spPr>
      </p:pic>
      <p:sp>
        <p:nvSpPr>
          <p:cNvPr id="10" name="Shape 22">
            <a:extLst>
              <a:ext uri="{FF2B5EF4-FFF2-40B4-BE49-F238E27FC236}">
                <a16:creationId xmlns:a16="http://schemas.microsoft.com/office/drawing/2014/main" id="{518784C9-3C4B-0D94-71D6-4DAD31EEB22C}"/>
              </a:ext>
            </a:extLst>
          </p:cNvPr>
          <p:cNvSpPr/>
          <p:nvPr/>
        </p:nvSpPr>
        <p:spPr>
          <a:xfrm>
            <a:off x="4379015" y="2224261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75966A6-5387-B30B-85E6-5FE0FF060110}"/>
              </a:ext>
            </a:extLst>
          </p:cNvPr>
          <p:cNvSpPr/>
          <p:nvPr/>
        </p:nvSpPr>
        <p:spPr>
          <a:xfrm>
            <a:off x="688664" y="932745"/>
            <a:ext cx="4527031" cy="12258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cumulative episode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reward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D2B65FBC-BA4A-1A4E-7B1E-08122DC9B00A}"/>
              </a:ext>
            </a:extLst>
          </p:cNvPr>
          <p:cNvSpPr/>
          <p:nvPr/>
        </p:nvSpPr>
        <p:spPr>
          <a:xfrm>
            <a:off x="688664" y="3314113"/>
            <a:ext cx="4527031" cy="5958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reward - heuristics baselines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512A01C-4984-B722-8921-EDFE615C12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1415" y="1144397"/>
            <a:ext cx="1976851" cy="494213"/>
          </a:xfrm>
          <a:prstGeom prst="rect">
            <a:avLst/>
          </a:prstGeom>
        </p:spPr>
      </p:pic>
      <p:sp>
        <p:nvSpPr>
          <p:cNvPr id="14" name="Shape 22">
            <a:extLst>
              <a:ext uri="{FF2B5EF4-FFF2-40B4-BE49-F238E27FC236}">
                <a16:creationId xmlns:a16="http://schemas.microsoft.com/office/drawing/2014/main" id="{0CBFA162-1513-4B75-7735-D0A344DCD9A0}"/>
              </a:ext>
            </a:extLst>
          </p:cNvPr>
          <p:cNvSpPr/>
          <p:nvPr/>
        </p:nvSpPr>
        <p:spPr>
          <a:xfrm>
            <a:off x="5301415" y="1081397"/>
            <a:ext cx="2078853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1DC4FEF8-9EF8-27DA-E6BD-C44EE18ADD4B}"/>
              </a:ext>
            </a:extLst>
          </p:cNvPr>
          <p:cNvSpPr/>
          <p:nvPr/>
        </p:nvSpPr>
        <p:spPr>
          <a:xfrm>
            <a:off x="700003" y="903634"/>
            <a:ext cx="7755333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4F76B0BF-2404-9F95-FC07-620C437B4567}"/>
              </a:ext>
            </a:extLst>
          </p:cNvPr>
          <p:cNvSpPr/>
          <p:nvPr/>
        </p:nvSpPr>
        <p:spPr>
          <a:xfrm>
            <a:off x="688663" y="3145830"/>
            <a:ext cx="7766503" cy="1411882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1725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58" y="868434"/>
            <a:ext cx="7906705" cy="38429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8412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relative positions   ·   Sorted by distance    ·   </a:t>
            </a: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 · 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5761" y="1402490"/>
            <a:ext cx="5029200" cy="21806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4791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98695" y="1402490"/>
            <a:ext cx="3088105" cy="21806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47431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658121"/>
              </p:ext>
            </p:extLst>
          </p:nvPr>
        </p:nvGraphicFramePr>
        <p:xfrm>
          <a:off x="1548383" y="3730622"/>
          <a:ext cx="2870262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31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35131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593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59321">
                <a:tc>
                  <a:txBody>
                    <a:bodyPr/>
                    <a:lstStyle/>
                    <a:p>
                      <a:r>
                        <a:rPr lang="it-IT" sz="1200" dirty="0"/>
                        <a:t>16.91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50146383-70B6-2311-65E8-CEB8607C3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42078"/>
              </p:ext>
            </p:extLst>
          </p:nvPr>
        </p:nvGraphicFramePr>
        <p:xfrm>
          <a:off x="4802122" y="3728314"/>
          <a:ext cx="2870263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079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0004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</a:tblGrid>
              <a:tr h="171011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71011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04730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6">
            <a:extLst>
              <a:ext uri="{FF2B5EF4-FFF2-40B4-BE49-F238E27FC236}">
                <a16:creationId xmlns:a16="http://schemas.microsoft.com/office/drawing/2014/main" id="{D8EFB94C-0DE9-BCBB-8B88-78A5834E0A55}"/>
              </a:ext>
            </a:extLst>
          </p:cNvPr>
          <p:cNvSpPr/>
          <p:nvPr/>
        </p:nvSpPr>
        <p:spPr>
          <a:xfrm>
            <a:off x="692944" y="956968"/>
            <a:ext cx="7719536" cy="1187477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315325" y="4773168"/>
            <a:ext cx="5543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682" y="1085840"/>
            <a:ext cx="72337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38681" y="1378448"/>
            <a:ext cx="4379601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policy learned always chose action = 0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Diverging huge TD loss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BC1CF05-FB80-5024-B303-168429DC47FC}"/>
              </a:ext>
            </a:extLst>
          </p:cNvPr>
          <p:cNvSpPr/>
          <p:nvPr/>
        </p:nvSpPr>
        <p:spPr>
          <a:xfrm>
            <a:off x="5693568" y="1373296"/>
            <a:ext cx="2557462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meaningfully learning from observations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272714BA-2147-04E3-170B-53D1AD2B69E9}"/>
              </a:ext>
            </a:extLst>
          </p:cNvPr>
          <p:cNvCxnSpPr>
            <a:cxnSpLocks/>
          </p:cNvCxnSpPr>
          <p:nvPr/>
        </p:nvCxnSpPr>
        <p:spPr>
          <a:xfrm>
            <a:off x="5243508" y="1672580"/>
            <a:ext cx="386728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hape 6">
            <a:extLst>
              <a:ext uri="{FF2B5EF4-FFF2-40B4-BE49-F238E27FC236}">
                <a16:creationId xmlns:a16="http://schemas.microsoft.com/office/drawing/2014/main" id="{B0F76DF1-2FC5-B064-121C-7293DA1C33E3}"/>
              </a:ext>
            </a:extLst>
          </p:cNvPr>
          <p:cNvSpPr/>
          <p:nvPr/>
        </p:nvSpPr>
        <p:spPr>
          <a:xfrm>
            <a:off x="692944" y="2301221"/>
            <a:ext cx="7719536" cy="1104743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0369533-4D61-B342-5649-10CAF7CF861D}"/>
              </a:ext>
            </a:extLst>
          </p:cNvPr>
          <p:cNvSpPr/>
          <p:nvPr/>
        </p:nvSpPr>
        <p:spPr>
          <a:xfrm>
            <a:off x="838682" y="2387229"/>
            <a:ext cx="71337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 8">
                <a:extLst>
                  <a:ext uri="{FF2B5EF4-FFF2-40B4-BE49-F238E27FC236}">
                    <a16:creationId xmlns:a16="http://schemas.microsoft.com/office/drawing/2014/main" id="{3C82A692-61BA-906F-351E-A5B833B2A71F}"/>
                  </a:ext>
                </a:extLst>
              </p:cNvPr>
              <p:cNvSpPr/>
              <p:nvPr/>
            </p:nvSpPr>
            <p:spPr>
              <a:xfrm>
                <a:off x="838682" y="2679837"/>
                <a:ext cx="7536180" cy="665227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FontTx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Padding always at end + Large penalty    </a:t>
                </a:r>
                <a:r>
                  <a:rPr lang="en-US" sz="1600" b="1" dirty="0">
                    <a:solidFill>
                      <a:srgbClr val="C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 Strong incentive to chose action = 0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Sorted Centroids    </a:t>
                </a:r>
                <a:r>
                  <a:rPr lang="en-US" sz="1600" b="1" dirty="0">
                    <a:solidFill>
                      <a:srgbClr val="C0000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 </a:t>
                </a:r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Choosing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𝑎𝑐𝑡𝑖𝑜𝑛</m:t>
                    </m:r>
                    <m:r>
                      <a:rPr lang="en-US" sz="16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=0</m:t>
                    </m:r>
                  </m:oMath>
                </a14:m>
                <a:r>
                  <a:rPr lang="en-US" sz="16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correspond to the greedy heuristic</a:t>
                </a:r>
              </a:p>
            </p:txBody>
          </p:sp>
        </mc:Choice>
        <mc:Fallback>
          <p:sp>
            <p:nvSpPr>
              <p:cNvPr id="21" name="Text 8">
                <a:extLst>
                  <a:ext uri="{FF2B5EF4-FFF2-40B4-BE49-F238E27FC236}">
                    <a16:creationId xmlns:a16="http://schemas.microsoft.com/office/drawing/2014/main" id="{3C82A692-61BA-906F-351E-A5B833B2A7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682" y="2679837"/>
                <a:ext cx="7536180" cy="665227"/>
              </a:xfrm>
              <a:prstGeom prst="rect">
                <a:avLst/>
              </a:prstGeom>
              <a:blipFill>
                <a:blip r:embed="rId3"/>
                <a:stretch>
                  <a:fillRect l="-485" t="-2752" b="-9174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hape 9">
            <a:extLst>
              <a:ext uri="{FF2B5EF4-FFF2-40B4-BE49-F238E27FC236}">
                <a16:creationId xmlns:a16="http://schemas.microsoft.com/office/drawing/2014/main" id="{41A7ACDA-36AA-A884-BFA6-282D67B931BB}"/>
              </a:ext>
            </a:extLst>
          </p:cNvPr>
          <p:cNvSpPr/>
          <p:nvPr/>
        </p:nvSpPr>
        <p:spPr>
          <a:xfrm>
            <a:off x="707232" y="3560417"/>
            <a:ext cx="7719536" cy="936581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CCA0CA91-892A-CD4C-B72A-8B86041F787B}"/>
              </a:ext>
            </a:extLst>
          </p:cNvPr>
          <p:cNvSpPr/>
          <p:nvPr/>
        </p:nvSpPr>
        <p:spPr>
          <a:xfrm>
            <a:off x="852970" y="3624159"/>
            <a:ext cx="70337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Attempted fixes</a:t>
            </a:r>
            <a:endParaRPr lang="en-US" sz="1600" dirty="0"/>
          </a:p>
        </p:txBody>
      </p:sp>
      <p:sp>
        <p:nvSpPr>
          <p:cNvPr id="8" name="Text 11">
            <a:extLst>
              <a:ext uri="{FF2B5EF4-FFF2-40B4-BE49-F238E27FC236}">
                <a16:creationId xmlns:a16="http://schemas.microsoft.com/office/drawing/2014/main" id="{A4C249C0-D8D3-521C-D456-0E36EAED184A}"/>
              </a:ext>
            </a:extLst>
          </p:cNvPr>
          <p:cNvSpPr/>
          <p:nvPr/>
        </p:nvSpPr>
        <p:spPr>
          <a:xfrm>
            <a:off x="1147291" y="3935055"/>
            <a:ext cx="2533174" cy="4248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distance sorting </a:t>
            </a: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5D4DEA9B-2DB3-306E-FA16-B1A2198BD0A1}"/>
              </a:ext>
            </a:extLst>
          </p:cNvPr>
          <p:cNvSpPr/>
          <p:nvPr/>
        </p:nvSpPr>
        <p:spPr>
          <a:xfrm>
            <a:off x="4735835" y="3910573"/>
            <a:ext cx="2533174" cy="439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 padding penalty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0075" y="918136"/>
            <a:ext cx="7915275" cy="346784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2982" y="873149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centroids positions   ·   Not-sorted    ·    Agent position    ·   Reward 2   · 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84048" y="1360829"/>
            <a:ext cx="4924697" cy="2154196"/>
          </a:xfrm>
          <a:prstGeom prst="rect">
            <a:avLst/>
          </a:prstGeom>
        </p:spPr>
      </p:pic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98" y="1360828"/>
            <a:ext cx="3023937" cy="2154197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53B08E-3213-8AE6-722D-90F5AC50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433285"/>
              </p:ext>
            </p:extLst>
          </p:nvPr>
        </p:nvGraphicFramePr>
        <p:xfrm>
          <a:off x="1190243" y="3748435"/>
          <a:ext cx="280994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973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04973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362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dirty="0"/>
                        <a:t>15.55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2.45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B42DADA-AB9B-1D95-3072-5F611B9B5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5275880"/>
              </p:ext>
            </p:extLst>
          </p:nvPr>
        </p:nvGraphicFramePr>
        <p:xfrm>
          <a:off x="4504942" y="3740588"/>
          <a:ext cx="3846101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9783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86082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34036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</a:tblGrid>
              <a:tr h="23623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236235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273217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7" name="Text 7">
            <a:extLst>
              <a:ext uri="{FF2B5EF4-FFF2-40B4-BE49-F238E27FC236}">
                <a16:creationId xmlns:a16="http://schemas.microsoft.com/office/drawing/2014/main" id="{FD04F33C-E278-23E9-0264-CAC95382EAA7}"/>
              </a:ext>
            </a:extLst>
          </p:cNvPr>
          <p:cNvSpPr/>
          <p:nvPr/>
        </p:nvSpPr>
        <p:spPr>
          <a:xfrm>
            <a:off x="320040" y="3469124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CD231252-5FF8-456E-16C7-45AA245BE1D0}"/>
              </a:ext>
            </a:extLst>
          </p:cNvPr>
          <p:cNvSpPr/>
          <p:nvPr/>
        </p:nvSpPr>
        <p:spPr>
          <a:xfrm>
            <a:off x="5623560" y="346430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502920" y="2252281"/>
            <a:ext cx="8148161" cy="1920237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66C2FBC-8DBB-B1B7-A2AD-9B94ED408D68}"/>
              </a:ext>
            </a:extLst>
          </p:cNvPr>
          <p:cNvSpPr/>
          <p:nvPr/>
        </p:nvSpPr>
        <p:spPr>
          <a:xfrm>
            <a:off x="588648" y="2803202"/>
            <a:ext cx="5280661" cy="1047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overall performance, comparable with heuristics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small TD loss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action choice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12B23C1-5D4F-C8C2-C317-5795A8B3CE33}"/>
              </a:ext>
            </a:extLst>
          </p:cNvPr>
          <p:cNvSpPr/>
          <p:nvPr/>
        </p:nvSpPr>
        <p:spPr>
          <a:xfrm>
            <a:off x="5960747" y="3034084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genuinely learning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4BADAC-E89C-B452-949C-0D76C130C014}"/>
              </a:ext>
            </a:extLst>
          </p:cNvPr>
          <p:cNvCxnSpPr/>
          <p:nvPr/>
        </p:nvCxnSpPr>
        <p:spPr>
          <a:xfrm>
            <a:off x="5629278" y="3296978"/>
            <a:ext cx="533400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775E278A-6ECD-2CC0-04B6-232778E0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93258"/>
              </p:ext>
            </p:extLst>
          </p:nvPr>
        </p:nvGraphicFramePr>
        <p:xfrm>
          <a:off x="525782" y="1019557"/>
          <a:ext cx="51206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63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3568728515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56081108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sorted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by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distance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9" name="Text 8">
            <a:extLst>
              <a:ext uri="{FF2B5EF4-FFF2-40B4-BE49-F238E27FC236}">
                <a16:creationId xmlns:a16="http://schemas.microsoft.com/office/drawing/2014/main" id="{D4C2B804-F085-8FB8-F74C-F4A8DE171C55}"/>
              </a:ext>
            </a:extLst>
          </p:cNvPr>
          <p:cNvSpPr/>
          <p:nvPr/>
        </p:nvSpPr>
        <p:spPr>
          <a:xfrm>
            <a:off x="5989793" y="1286256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learned is </a:t>
            </a:r>
          </a:p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the heuristic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96C43A4C-15D6-5B2A-E554-84B6475071B3}"/>
              </a:ext>
            </a:extLst>
          </p:cNvPr>
          <p:cNvCxnSpPr>
            <a:cxnSpLocks/>
          </p:cNvCxnSpPr>
          <p:nvPr/>
        </p:nvCxnSpPr>
        <p:spPr>
          <a:xfrm>
            <a:off x="5857871" y="1588016"/>
            <a:ext cx="262891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7">
            <a:extLst>
              <a:ext uri="{FF2B5EF4-FFF2-40B4-BE49-F238E27FC236}">
                <a16:creationId xmlns:a16="http://schemas.microsoft.com/office/drawing/2014/main" id="{F2CB1858-9EB4-4CC7-7CE9-9191E65A2805}"/>
              </a:ext>
            </a:extLst>
          </p:cNvPr>
          <p:cNvSpPr/>
          <p:nvPr/>
        </p:nvSpPr>
        <p:spPr>
          <a:xfrm>
            <a:off x="542928" y="239401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>
              <a:solidFill>
                <a:srgbClr val="4CAF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AF6A6-E9E3-70C5-C92D-6BE1B9378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22A185FB-6C81-C907-F1DB-81755007A79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A37824-64E3-AF34-8983-0045515CEB90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A6B66D4-5DAB-F399-975C-EEF4926328F3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B2A6FF3E-20F2-75A6-1B97-44B9FA1FE1ED}"/>
              </a:ext>
            </a:extLst>
          </p:cNvPr>
          <p:cNvSpPr/>
          <p:nvPr/>
        </p:nvSpPr>
        <p:spPr>
          <a:xfrm>
            <a:off x="320040" y="1499077"/>
            <a:ext cx="2966085" cy="267462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4CF78298-C8EE-3DFC-B9F5-87B8383A3A3F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3A8A94C0-CD7C-3FDC-8C84-B0A2547E143F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trained </a:t>
            </a: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300" i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30DF32F-098E-D4E1-2549-4093D93099F1}"/>
              </a:ext>
            </a:extLst>
          </p:cNvPr>
          <p:cNvSpPr/>
          <p:nvPr/>
        </p:nvSpPr>
        <p:spPr>
          <a:xfrm>
            <a:off x="370840" y="915257"/>
            <a:ext cx="32796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simulation rendering</a:t>
            </a:r>
          </a:p>
        </p:txBody>
      </p:sp>
      <p:pic>
        <p:nvPicPr>
          <p:cNvPr id="10" name="video_best-model">
            <a:hlinkClick r:id="" action="ppaction://media"/>
            <a:extLst>
              <a:ext uri="{FF2B5EF4-FFF2-40B4-BE49-F238E27FC236}">
                <a16:creationId xmlns:a16="http://schemas.microsoft.com/office/drawing/2014/main" id="{1886301F-9F9A-6B6B-4DF9-26194CA044B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304344" y="1460466"/>
            <a:ext cx="5703922" cy="2851962"/>
          </a:xfrm>
          <a:prstGeom prst="rect">
            <a:avLst/>
          </a:prstGeom>
        </p:spPr>
      </p:pic>
      <p:sp>
        <p:nvSpPr>
          <p:cNvPr id="9" name="Text 7">
            <a:extLst>
              <a:ext uri="{FF2B5EF4-FFF2-40B4-BE49-F238E27FC236}">
                <a16:creationId xmlns:a16="http://schemas.microsoft.com/office/drawing/2014/main" id="{8B651904-6CC3-8EB9-9C38-70B530C7C402}"/>
              </a:ext>
            </a:extLst>
          </p:cNvPr>
          <p:cNvSpPr/>
          <p:nvPr/>
        </p:nvSpPr>
        <p:spPr>
          <a:xfrm>
            <a:off x="4081462" y="1417601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92643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961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100 test episodes per map size. Metric: mean episode reward at episode end (coverage 90%).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345146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14:m>
                            <m:oMath xmlns:m="http://schemas.openxmlformats.org/officeDocument/2006/math"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36.39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1.27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34.32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2.58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16.91</a:t>
                          </a:r>
                          <a:r>
                            <a:rPr lang="it-IT" sz="1300" i="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/>
                            <a:t>0.57</a:t>
                          </a:r>
                        </a:p>
                        <a:p>
                          <a:pPr marL="0" indent="0" algn="ctr">
                            <a:buNone/>
                          </a:pP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15.55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it-IT" sz="1300" i="0" dirty="0"/>
                            <a:t> 2.45</a:t>
                          </a:r>
                        </a:p>
                        <a:p>
                          <a:pPr algn="ctr"/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31.46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it-IT" sz="1300" b="0" i="0" u="none" strike="noStrike" kern="1200" baseline="0" smtClean="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4.75</m:t>
                              </m:r>
                            </m:oMath>
                          </a14:m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345146"/>
                  </p:ext>
                </p:extLst>
              </p:nvPr>
            </p:nvGraphicFramePr>
            <p:xfrm>
              <a:off x="528636" y="1578772"/>
              <a:ext cx="8086728" cy="2521740"/>
            </p:xfrm>
            <a:graphic>
              <a:graphicData uri="http://schemas.openxmlformats.org/drawingml/2006/table">
                <a:tbl>
                  <a:tblPr/>
                  <a:tblGrid>
                    <a:gridCol w="13477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347788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101205" r="-201357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101205" r="-100450" b="-3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201205" r="-201357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201205" r="-100450" b="-2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301205" r="-201357" b="-10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04348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905" t="-401205" r="-201357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099" t="-401205" r="-100450" b="-72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3354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DRL model was successfully integrated in a modular frontier-based exploration pipeline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9249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the critical influence of observation and reward configuration on the learned policy 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6573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developed framework can be considered validated by the meaningful results obtained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end-to-end DRL system, multi-agent settings, dynamic and 3D environments, more complex information structures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CCEB-5AA5-084F-DE39-6223F847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924787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2714</TotalTime>
  <Words>1137</Words>
  <Application>Microsoft Office PowerPoint</Application>
  <PresentationFormat>Presentazione su schermo (16:9)</PresentationFormat>
  <Paragraphs>299</Paragraphs>
  <Slides>22</Slides>
  <Notes>14</Notes>
  <HiddenSlides>0</HiddenSlides>
  <MMClips>2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22</vt:i4>
      </vt:variant>
    </vt:vector>
  </HeadingPairs>
  <TitlesOfParts>
    <vt:vector size="28" baseType="lpstr">
      <vt:lpstr>Arial</vt:lpstr>
      <vt:lpstr>Calibri</vt:lpstr>
      <vt:lpstr>Cambria Math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32</cp:revision>
  <dcterms:created xsi:type="dcterms:W3CDTF">2026-04-01T11:00:14Z</dcterms:created>
  <dcterms:modified xsi:type="dcterms:W3CDTF">2026-04-09T07:42:14Z</dcterms:modified>
</cp:coreProperties>
</file>