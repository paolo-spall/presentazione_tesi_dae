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ppt/media/image15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6"/>
  </p:notesMasterIdLst>
  <p:sldIdLst>
    <p:sldId id="266" r:id="rId3"/>
    <p:sldId id="269" r:id="rId4"/>
    <p:sldId id="259" r:id="rId5"/>
    <p:sldId id="271" r:id="rId6"/>
    <p:sldId id="261" r:id="rId7"/>
    <p:sldId id="298" r:id="rId8"/>
    <p:sldId id="272" r:id="rId9"/>
    <p:sldId id="262" r:id="rId10"/>
    <p:sldId id="274" r:id="rId11"/>
    <p:sldId id="301" r:id="rId12"/>
    <p:sldId id="275" r:id="rId13"/>
    <p:sldId id="285" r:id="rId14"/>
    <p:sldId id="293" r:id="rId15"/>
    <p:sldId id="303" r:id="rId16"/>
    <p:sldId id="304" r:id="rId17"/>
    <p:sldId id="297" r:id="rId18"/>
    <p:sldId id="268" r:id="rId19"/>
    <p:sldId id="295" r:id="rId20"/>
    <p:sldId id="296" r:id="rId21"/>
    <p:sldId id="302" r:id="rId22"/>
    <p:sldId id="270" r:id="rId23"/>
    <p:sldId id="299" r:id="rId24"/>
    <p:sldId id="30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A87E"/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C6327-4250-763E-A628-052B56C64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3F0A8-1A49-06BF-930E-3595AE845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647C6-46FA-9B42-0CB0-22297E908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EA118-BE47-C85B-9F65-71D06BDCFB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97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CDA1E67-325E-8A04-5FE7-C3C83B3FEE60}"/>
              </a:ext>
            </a:extLst>
          </p:cNvPr>
          <p:cNvSpPr/>
          <p:nvPr userDrawn="1"/>
        </p:nvSpPr>
        <p:spPr>
          <a:xfrm>
            <a:off x="8369299" y="4849155"/>
            <a:ext cx="613335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BB13C8F1-19BB-4BF8-8A7D-0DCD894710BA}" type="slidenum">
              <a:rPr lang="en-US" sz="900" smtClean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‹N›</a:t>
            </a:fld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jp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5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5.jp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microsoft.com/office/2007/relationships/media" Target="../media/media3.mp4"/><Relationship Id="rId7" Type="http://schemas.openxmlformats.org/officeDocument/2006/relationships/image" Target="../media/image28.png"/><Relationship Id="rId2" Type="http://schemas.microsoft.com/office/2007/relationships/media" Target="../media/media2.mp4"/><Relationship Id="rId1" Type="http://schemas.openxmlformats.org/officeDocument/2006/relationships/video" Target="NULL" TargetMode="External"/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3.mp4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5123" y="953265"/>
            <a:ext cx="7785194" cy="9601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for autonomous exploration?</a:t>
            </a:r>
            <a:endParaRPr lang="en-US" b="1" dirty="0"/>
          </a:p>
        </p:txBody>
      </p:sp>
      <p:sp>
        <p:nvSpPr>
          <p:cNvPr id="9" name="Text 7"/>
          <p:cNvSpPr/>
          <p:nvPr/>
        </p:nvSpPr>
        <p:spPr>
          <a:xfrm>
            <a:off x="756524" y="2097409"/>
            <a:ext cx="7615951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a complex task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673400" y="3324499"/>
            <a:ext cx="7827505" cy="114034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1052824" y="3766303"/>
            <a:ext cx="7023019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investigate the possibility of integrating learning-based methods with classical ones</a:t>
            </a:r>
            <a:endParaRPr lang="en-US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3909774" y="3293842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336" y="1092992"/>
            <a:ext cx="4526280" cy="32321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 simultaneous: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93163" y="3808767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4" y="3654874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and unknown regions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794409" y="1855824"/>
            <a:ext cx="3109083" cy="155889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observe and interact with an environment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RL loop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learn to take the best action </a:t>
                </a:r>
                <a:r>
                  <a:rPr lang="en-US" sz="13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Q-function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blipFill>
                <a:blip r:embed="rId3"/>
                <a:stretch>
                  <a:fillRect l="-204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766" y="3841575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522" y="2268399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2043514" y="2289831"/>
            <a:ext cx="2078853" cy="439081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626766" y="3833130"/>
            <a:ext cx="3130972" cy="494213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8"/>
            <a:ext cx="4219515" cy="13630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Q-function is learned directly, the policy is a greedy heuristic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to iteratively estimate the Q-function from experience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595943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2134932"/>
            <a:ext cx="3832365" cy="95665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226309"/>
                <a:ext cx="4285981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excessively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226309"/>
                <a:ext cx="4285981" cy="956651"/>
              </a:xfrm>
              <a:prstGeom prst="rect">
                <a:avLst/>
              </a:prstGeom>
              <a:blipFill>
                <a:blip r:embed="rId4"/>
                <a:stretch>
                  <a:fillRect l="-284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2872975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9815" y="1119154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409143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endParaRPr lang="en-US" sz="1300" b="1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" name="Shape 22">
            <a:extLst>
              <a:ext uri="{FF2B5EF4-FFF2-40B4-BE49-F238E27FC236}">
                <a16:creationId xmlns:a16="http://schemas.microsoft.com/office/drawing/2014/main" id="{F59E8445-BA8A-5DD9-4838-EB1A6ACB8885}"/>
              </a:ext>
            </a:extLst>
          </p:cNvPr>
          <p:cNvSpPr/>
          <p:nvPr/>
        </p:nvSpPr>
        <p:spPr>
          <a:xfrm>
            <a:off x="4782678" y="2038290"/>
            <a:ext cx="4002609" cy="1118195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4" name="Shape 22">
            <a:extLst>
              <a:ext uri="{FF2B5EF4-FFF2-40B4-BE49-F238E27FC236}">
                <a16:creationId xmlns:a16="http://schemas.microsoft.com/office/drawing/2014/main" id="{DCB73271-015B-F599-011D-62CE9FA8D4F1}"/>
              </a:ext>
            </a:extLst>
          </p:cNvPr>
          <p:cNvSpPr/>
          <p:nvPr/>
        </p:nvSpPr>
        <p:spPr>
          <a:xfrm>
            <a:off x="4782678" y="3515256"/>
            <a:ext cx="4002609" cy="1118195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CDC299C5-A975-D889-4D40-871E336304D7}"/>
              </a:ext>
            </a:extLst>
          </p:cNvPr>
          <p:cNvSpPr/>
          <p:nvPr/>
        </p:nvSpPr>
        <p:spPr>
          <a:xfrm>
            <a:off x="4750690" y="881123"/>
            <a:ext cx="395492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endParaRPr lang="en-US" sz="11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8267" t="76940" b="2996"/>
          <a:stretch>
            <a:fillRect/>
          </a:stretch>
        </p:blipFill>
        <p:spPr>
          <a:xfrm>
            <a:off x="6163547" y="1423161"/>
            <a:ext cx="2503611" cy="274320"/>
          </a:xfrm>
          <a:prstGeom prst="rect">
            <a:avLst/>
          </a:prstGeom>
        </p:spPr>
      </p:pic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4782678" y="1112855"/>
            <a:ext cx="4002609" cy="5725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E08117A5-0A33-FEBA-F812-89D4BC048DFE}"/>
              </a:ext>
            </a:extLst>
          </p:cNvPr>
          <p:cNvSpPr/>
          <p:nvPr/>
        </p:nvSpPr>
        <p:spPr>
          <a:xfrm>
            <a:off x="4724402" y="1813961"/>
            <a:ext cx="395492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  <a:endParaRPr lang="en-US" sz="11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8E77933-013A-F08E-57B1-4DAF24CBE2F5}"/>
              </a:ext>
            </a:extLst>
          </p:cNvPr>
          <p:cNvSpPr/>
          <p:nvPr/>
        </p:nvSpPr>
        <p:spPr>
          <a:xfrm>
            <a:off x="4782679" y="3286721"/>
            <a:ext cx="395492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Q-Network</a:t>
            </a:r>
            <a:endParaRPr lang="en-US" sz="11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1004754" y="3093248"/>
            <a:ext cx="3311977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1914" y="3153831"/>
            <a:ext cx="2611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1914" y="3501872"/>
            <a:ext cx="2960893" cy="800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754881" y="3093248"/>
            <a:ext cx="3316624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58715" y="3526443"/>
            <a:ext cx="2851785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46491" y="3985941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25243" y="3832338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perception range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believes map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449082" y="890646"/>
            <a:ext cx="4493490" cy="1373923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633281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clusters, splitting them if needed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633281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5285815" y="890646"/>
            <a:ext cx="3387038" cy="130989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5407895" y="1295014"/>
            <a:ext cx="3387038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5328679" y="925470"/>
            <a:ext cx="350911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1" y="2340366"/>
            <a:ext cx="2098145" cy="218725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BE52D13-AD2E-6F29-8B12-96B162A49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77" y="2415439"/>
            <a:ext cx="4341516" cy="208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362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563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1503" y="952976"/>
            <a:ext cx="3977640" cy="226170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663" y="9529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663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Distance&gt;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1503" y="3354699"/>
            <a:ext cx="3977640" cy="1081277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663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8663" y="370245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39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196359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674991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743574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230427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158561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4963023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4898369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281CF82-307E-F618-033F-62CD3F8360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033" y="1978638"/>
            <a:ext cx="719573" cy="491247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DACE5ED0-46BC-8D6E-D8AE-07DEEAB5EE85}"/>
              </a:ext>
            </a:extLst>
          </p:cNvPr>
          <p:cNvCxnSpPr>
            <a:cxnSpLocks/>
          </p:cNvCxnSpPr>
          <p:nvPr/>
        </p:nvCxnSpPr>
        <p:spPr>
          <a:xfrm flipH="1" flipV="1">
            <a:off x="5170420" y="2411110"/>
            <a:ext cx="2866299" cy="871004"/>
          </a:xfrm>
          <a:prstGeom prst="straightConnector1">
            <a:avLst/>
          </a:prstGeom>
          <a:ln w="19050">
            <a:solidFill>
              <a:srgbClr val="06A87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583406" y="889000"/>
            <a:ext cx="7967664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33450"/>
              </p:ext>
            </p:extLst>
          </p:nvPr>
        </p:nvGraphicFramePr>
        <p:xfrm>
          <a:off x="900112" y="1347722"/>
          <a:ext cx="7343776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284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066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75667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153355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41411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371326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0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8051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688664" y="2021653"/>
            <a:ext cx="776650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</a:t>
            </a: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733457" y="222680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524463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172282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224261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688664" y="932745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688664" y="3314113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700003" y="903634"/>
            <a:ext cx="775533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688663" y="3145830"/>
            <a:ext cx="7766503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D965E-F7FD-4F40-27A9-07CD11B8F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B1632B3-2CA7-DFEE-1BE3-AA0F1A03D650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B23E728-F0EE-D292-C168-2BFB239B251A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– Failed Attempts 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2DE7661-1140-6836-742F-A531A83E37D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FEE4770-3A96-546F-2102-4220F96D5FE4}"/>
              </a:ext>
            </a:extLst>
          </p:cNvPr>
          <p:cNvSpPr/>
          <p:nvPr/>
        </p:nvSpPr>
        <p:spPr>
          <a:xfrm>
            <a:off x="457200" y="939547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i="1" dirty="0"/>
              <a:t>Examples of not meaningful policy learning</a:t>
            </a:r>
          </a:p>
        </p:txBody>
      </p:sp>
      <p:pic>
        <p:nvPicPr>
          <p:cNvPr id="2" name="video_smondy">
            <a:hlinkClick r:id="" action="ppaction://media"/>
            <a:extLst>
              <a:ext uri="{FF2B5EF4-FFF2-40B4-BE49-F238E27FC236}">
                <a16:creationId xmlns:a16="http://schemas.microsoft.com/office/drawing/2014/main" id="{1FAA1FE8-94DE-E65A-D001-2E311FB9A4E2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end="114594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8255" y="1593444"/>
            <a:ext cx="4680000" cy="2340000"/>
          </a:xfrm>
          <a:prstGeom prst="rect">
            <a:avLst/>
          </a:prstGeom>
        </p:spPr>
      </p:pic>
      <p:pic>
        <p:nvPicPr>
          <p:cNvPr id="3" name="video_still">
            <a:hlinkClick r:id="" action="ppaction://media"/>
            <a:extLst>
              <a:ext uri="{FF2B5EF4-FFF2-40B4-BE49-F238E27FC236}">
                <a16:creationId xmlns:a16="http://schemas.microsoft.com/office/drawing/2014/main" id="{551FA13A-8473-CA72-B2BD-9BD861BFCF78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360993" y="1595800"/>
            <a:ext cx="4680000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642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5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58" y="868434"/>
            <a:ext cx="7906705" cy="38429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8412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1" y="1402490"/>
            <a:ext cx="5029200" cy="21806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98695" y="1402490"/>
            <a:ext cx="3088105" cy="2180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58121"/>
              </p:ext>
            </p:extLst>
          </p:nvPr>
        </p:nvGraphicFramePr>
        <p:xfrm>
          <a:off x="1548383" y="3730622"/>
          <a:ext cx="287026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31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35131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593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42078"/>
              </p:ext>
            </p:extLst>
          </p:nvPr>
        </p:nvGraphicFramePr>
        <p:xfrm>
          <a:off x="4802122" y="3728314"/>
          <a:ext cx="287026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9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171011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7101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04730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692944" y="956968"/>
            <a:ext cx="7719536" cy="1187477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682" y="1085840"/>
            <a:ext cx="7233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681" y="1378448"/>
            <a:ext cx="43796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93568" y="1373296"/>
            <a:ext cx="2557462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meaningfully learning from observations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>
            <a:cxnSpLocks/>
          </p:cNvCxnSpPr>
          <p:nvPr/>
        </p:nvCxnSpPr>
        <p:spPr>
          <a:xfrm>
            <a:off x="5243508" y="1672580"/>
            <a:ext cx="38672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692944" y="2301221"/>
            <a:ext cx="7719536" cy="1104743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838682" y="2387229"/>
            <a:ext cx="71337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/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FontTx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Padding always at end + Large penalty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 Strong incentive to chose action = 0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Sorted Centroids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 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Choosing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𝑎𝑐𝑡𝑖𝑜𝑛</m:t>
                    </m:r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correspond to the greedy heuristic</a:t>
                </a:r>
              </a:p>
            </p:txBody>
          </p:sp>
        </mc:Choice>
        <mc:Fallback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blipFill>
                <a:blip r:embed="rId3"/>
                <a:stretch>
                  <a:fillRect l="-485" t="-2752" b="-9174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hape 9">
            <a:extLst>
              <a:ext uri="{FF2B5EF4-FFF2-40B4-BE49-F238E27FC236}">
                <a16:creationId xmlns:a16="http://schemas.microsoft.com/office/drawing/2014/main" id="{41A7ACDA-36AA-A884-BFA6-282D67B931BB}"/>
              </a:ext>
            </a:extLst>
          </p:cNvPr>
          <p:cNvSpPr/>
          <p:nvPr/>
        </p:nvSpPr>
        <p:spPr>
          <a:xfrm>
            <a:off x="707232" y="3560417"/>
            <a:ext cx="7719536" cy="936581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CCA0CA91-892A-CD4C-B72A-8B86041F787B}"/>
              </a:ext>
            </a:extLst>
          </p:cNvPr>
          <p:cNvSpPr/>
          <p:nvPr/>
        </p:nvSpPr>
        <p:spPr>
          <a:xfrm>
            <a:off x="852970" y="3624159"/>
            <a:ext cx="70337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fixes</a:t>
            </a:r>
            <a:endParaRPr lang="en-US" sz="1600" dirty="0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A4C249C0-D8D3-521C-D456-0E36EAED184A}"/>
              </a:ext>
            </a:extLst>
          </p:cNvPr>
          <p:cNvSpPr/>
          <p:nvPr/>
        </p:nvSpPr>
        <p:spPr>
          <a:xfrm>
            <a:off x="1147291" y="3935055"/>
            <a:ext cx="2533174" cy="4248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</a:t>
            </a: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5D4DEA9B-2DB3-306E-FA16-B1A2198BD0A1}"/>
              </a:ext>
            </a:extLst>
          </p:cNvPr>
          <p:cNvSpPr/>
          <p:nvPr/>
        </p:nvSpPr>
        <p:spPr>
          <a:xfrm>
            <a:off x="4735835" y="3910573"/>
            <a:ext cx="2533174" cy="439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075" y="918136"/>
            <a:ext cx="7915275" cy="346784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2982" y="8731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" y="1360829"/>
            <a:ext cx="4924697" cy="2154196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98" y="1360828"/>
            <a:ext cx="3023937" cy="2154197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433285"/>
              </p:ext>
            </p:extLst>
          </p:nvPr>
        </p:nvGraphicFramePr>
        <p:xfrm>
          <a:off x="1190243" y="3748435"/>
          <a:ext cx="280994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973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4973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6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5880"/>
              </p:ext>
            </p:extLst>
          </p:nvPr>
        </p:nvGraphicFramePr>
        <p:xfrm>
          <a:off x="4504942" y="3740588"/>
          <a:ext cx="3846101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783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3623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73217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469124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46430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621507" y="2252281"/>
            <a:ext cx="7824584" cy="1819657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697910" y="2803202"/>
            <a:ext cx="5171399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896451" y="3034084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>
            <a:cxnSpLocks/>
          </p:cNvCxnSpPr>
          <p:nvPr/>
        </p:nvCxnSpPr>
        <p:spPr>
          <a:xfrm>
            <a:off x="5793575" y="3296978"/>
            <a:ext cx="304807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5989793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857871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713206" y="2394014"/>
            <a:ext cx="805932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96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101205" r="-201357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101205" r="-100450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201205" r="-201357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201205" r="-100450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301205" r="-201357" b="-1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401205" r="-201357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401205" r="-100450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3354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DRL model was successfully integrated in a modular frontier-based exploration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249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6573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2855</TotalTime>
  <Words>1154</Words>
  <Application>Microsoft Office PowerPoint</Application>
  <PresentationFormat>Presentazione su schermo (16:9)</PresentationFormat>
  <Paragraphs>303</Paragraphs>
  <Slides>23</Slides>
  <Notes>15</Notes>
  <HiddenSlides>0</HiddenSlides>
  <MMClips>4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23</vt:i4>
      </vt:variant>
    </vt:vector>
  </HeadingPairs>
  <TitlesOfParts>
    <vt:vector size="29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40</cp:revision>
  <dcterms:created xsi:type="dcterms:W3CDTF">2026-04-01T11:00:14Z</dcterms:created>
  <dcterms:modified xsi:type="dcterms:W3CDTF">2026-04-09T10:03:26Z</dcterms:modified>
</cp:coreProperties>
</file>