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6.jpg" ContentType="image/jpg"/>
  <Override PartName="/ppt/media/image7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5" r:id="rId2"/>
  </p:sldMasterIdLst>
  <p:notesMasterIdLst>
    <p:notesMasterId r:id="rId26"/>
  </p:notesMasterIdLst>
  <p:sldIdLst>
    <p:sldId id="266" r:id="rId3"/>
    <p:sldId id="269" r:id="rId4"/>
    <p:sldId id="273" r:id="rId5"/>
    <p:sldId id="259" r:id="rId6"/>
    <p:sldId id="271" r:id="rId7"/>
    <p:sldId id="261" r:id="rId8"/>
    <p:sldId id="267" r:id="rId9"/>
    <p:sldId id="272" r:id="rId10"/>
    <p:sldId id="262" r:id="rId11"/>
    <p:sldId id="274" r:id="rId12"/>
    <p:sldId id="275" r:id="rId13"/>
    <p:sldId id="276" r:id="rId14"/>
    <p:sldId id="265" r:id="rId15"/>
    <p:sldId id="285" r:id="rId16"/>
    <p:sldId id="292" r:id="rId17"/>
    <p:sldId id="279" r:id="rId18"/>
    <p:sldId id="293" r:id="rId19"/>
    <p:sldId id="297" r:id="rId20"/>
    <p:sldId id="268" r:id="rId21"/>
    <p:sldId id="295" r:id="rId22"/>
    <p:sldId id="296" r:id="rId23"/>
    <p:sldId id="264" r:id="rId24"/>
    <p:sldId id="263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  <a:srgbClr val="4CAF50"/>
    <a:srgbClr val="C00000"/>
    <a:srgbClr val="1A2E4A"/>
    <a:srgbClr val="C8472C"/>
    <a:srgbClr val="D6E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4564" autoAdjust="0"/>
  </p:normalViewPr>
  <p:slideViewPr>
    <p:cSldViewPr snapToGrid="0" snapToObjects="1">
      <p:cViewPr varScale="1">
        <p:scale>
          <a:sx n="100" d="100"/>
          <a:sy n="100" d="100"/>
        </p:scale>
        <p:origin x="62" y="1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4"/>
    </p:cViewPr>
  </p:sorterViewPr>
  <p:notesViewPr>
    <p:cSldViewPr snapToGrid="0" snapToObjects="1">
      <p:cViewPr varScale="1">
        <p:scale>
          <a:sx n="65" d="100"/>
          <a:sy n="65" d="100"/>
        </p:scale>
        <p:origin x="2453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1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F9F5B-54CF-BE03-B793-6DE0FF66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7B444-F33D-49A3-C84E-E4FD51274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FA38E-751A-625F-9153-EA8CDCCD5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1571A-96E9-530E-5617-D017077E9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85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4BED-C2A0-5CCB-FE3C-DD1F58E4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4FE47-B95B-7967-C04F-9D00B1890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DB139-46FA-2E1C-7AB4-EC9976BE8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E3AD4-9236-2230-E11A-4515FCAA9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19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2100B-E36D-2AD9-E4A2-FE9FCAD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422AF-4688-128E-CA5D-EAB26F521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BA5EA-2CD4-AED6-CAEB-9FED66079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0E31A-2C70-98DD-83D9-274BDA605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91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EF2A485-BE30-A66E-9173-707CE568EF4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it-IT" sz="26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DA1CF-C5AE-DD5B-9342-F610121D19B1}"/>
              </a:ext>
            </a:extLst>
          </p:cNvPr>
          <p:cNvSpPr txBox="1"/>
          <p:nvPr userDrawn="1"/>
        </p:nvSpPr>
        <p:spPr>
          <a:xfrm>
            <a:off x="368300" y="914400"/>
            <a:ext cx="4318000" cy="349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Text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4AC78B8-D2E8-8FD7-43EB-3F25868399E6}"/>
              </a:ext>
            </a:extLst>
          </p:cNvPr>
          <p:cNvSpPr/>
          <p:nvPr userDrawn="1"/>
        </p:nvSpPr>
        <p:spPr>
          <a:xfrm>
            <a:off x="4889500" y="914400"/>
            <a:ext cx="3937000" cy="3492500"/>
          </a:xfrm>
          <a:prstGeom prst="roundRect">
            <a:avLst/>
          </a:prstGeom>
          <a:solidFill>
            <a:srgbClr val="F0F0F0"/>
          </a:solidFill>
          <a:ln w="12700" cap="flat" cmpd="sng" algn="ctr">
            <a:solidFill>
              <a:srgbClr val="D6E4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Image / Chart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12" name="Footer Left"/>
          <p:cNvSpPr txBox="1"/>
          <p:nvPr userDrawn="1"/>
        </p:nvSpPr>
        <p:spPr>
          <a:xfrm>
            <a:off x="317500" y="4851400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Author  ·  Presentation Title</a:t>
            </a:r>
          </a:p>
        </p:txBody>
      </p:sp>
      <p:sp>
        <p:nvSpPr>
          <p:cNvPr id="13" name="Footer Right"/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  <p:pic>
        <p:nvPicPr>
          <p:cNvPr id="14" name="Unimore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2200" y="4572000"/>
            <a:ext cx="1524000" cy="54864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9179C6-E191-5331-8606-9480C7200249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8496F5-498E-1F51-EE9E-F1CC505A6326}"/>
              </a:ext>
            </a:extLst>
          </p:cNvPr>
          <p:cNvSpPr txBox="1"/>
          <p:nvPr userDrawn="1"/>
        </p:nvSpPr>
        <p:spPr>
          <a:xfrm>
            <a:off x="3683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Left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EBC8E3-3772-3517-6D88-69F15F76D304}"/>
              </a:ext>
            </a:extLst>
          </p:cNvPr>
          <p:cNvSpPr txBox="1"/>
          <p:nvPr userDrawn="1"/>
        </p:nvSpPr>
        <p:spPr>
          <a:xfrm>
            <a:off x="46990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Right content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13" name="Footer Right"/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A9E8BA-4469-EAFF-B7DA-09787333416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it-IT" sz="26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640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691527-7949-E352-4491-938A6C3C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1216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32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espizio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526605BC-B1CA-2824-D924-78A259FD846E}"/>
              </a:ext>
            </a:extLst>
          </p:cNvPr>
          <p:cNvSpPr/>
          <p:nvPr userDrawn="1"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B3960F7-6679-4E91-A84F-9A6E20A7E879}"/>
              </a:ext>
            </a:extLst>
          </p:cNvPr>
          <p:cNvSpPr/>
          <p:nvPr userDrawn="1"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Dipartimento di Scienze e Metodi dell'Ingegneria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3386294-E84F-C730-9131-561C7C53D31D}"/>
              </a:ext>
            </a:extLst>
          </p:cNvPr>
          <p:cNvSpPr/>
          <p:nvPr userDrawn="1"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Laurea Magistrale in Digital Automation Engineering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848A098-266E-562A-29D8-DAABDE0F7325}"/>
              </a:ext>
            </a:extLst>
          </p:cNvPr>
          <p:cNvSpPr/>
          <p:nvPr userDrawn="1"/>
        </p:nvSpPr>
        <p:spPr>
          <a:xfrm>
            <a:off x="457200" y="16276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in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Autonomous Exploration</a:t>
            </a:r>
            <a:endParaRPr lang="en-US" sz="30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E5DF3F4-DC6A-CE9A-EDB9-15A7CF474C32}"/>
              </a:ext>
            </a:extLst>
          </p:cNvPr>
          <p:cNvSpPr/>
          <p:nvPr userDrawn="1"/>
        </p:nvSpPr>
        <p:spPr>
          <a:xfrm>
            <a:off x="2286000" y="3127248"/>
            <a:ext cx="45720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A2E1985-9F70-66FA-81B8-88C111D3CAD1}"/>
              </a:ext>
            </a:extLst>
          </p:cNvPr>
          <p:cNvSpPr/>
          <p:nvPr userDrawn="1"/>
        </p:nvSpPr>
        <p:spPr>
          <a:xfrm>
            <a:off x="914400" y="3246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di: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FF24EB2-1FCF-68A9-7B8B-012D729A0F8C}"/>
              </a:ext>
            </a:extLst>
          </p:cNvPr>
          <p:cNvSpPr/>
          <p:nvPr userDrawn="1"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Lorenzo Sabattini</a:t>
            </a:r>
            <a:endParaRPr lang="en-US" sz="11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378B1E1-7B7F-E3BB-F19F-235818FCA12C}"/>
              </a:ext>
            </a:extLst>
          </p:cNvPr>
          <p:cNvSpPr/>
          <p:nvPr userDrawn="1"/>
        </p:nvSpPr>
        <p:spPr>
          <a:xfrm>
            <a:off x="91440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Dott. Mattia Catellani  ·  Dott. Mattia Mantovani</a:t>
            </a:r>
            <a:endParaRPr lang="en-US" sz="11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8AB9DC9-608E-C372-DFAB-74DA8DA9FE8C}"/>
              </a:ext>
            </a:extLst>
          </p:cNvPr>
          <p:cNvSpPr/>
          <p:nvPr userDrawn="1"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 2024/2025</a:t>
            </a:r>
            <a:endParaRPr lang="en-US" sz="100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8122842-6C81-70B2-D7B4-07F57673DC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114300"/>
            <a:ext cx="2019300" cy="72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8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EE330B32-3708-D315-1AD0-A10B738A23FC}"/>
              </a:ext>
            </a:extLst>
          </p:cNvPr>
          <p:cNvSpPr/>
          <p:nvPr userDrawn="1"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DF7A45D1-2CC8-6EAA-4EE8-FFE68F18D781}"/>
              </a:ext>
            </a:extLst>
          </p:cNvPr>
          <p:cNvSpPr/>
          <p:nvPr userDrawn="1"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04D00198-E4B5-30CC-0027-A0984F44BB91}"/>
              </a:ext>
            </a:extLst>
          </p:cNvPr>
          <p:cNvSpPr/>
          <p:nvPr userDrawn="1"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6251E09-D0A7-09EF-126D-18A49BAD8201}"/>
              </a:ext>
            </a:extLst>
          </p:cNvPr>
          <p:cNvSpPr/>
          <p:nvPr userDrawn="1"/>
        </p:nvSpPr>
        <p:spPr>
          <a:xfrm>
            <a:off x="804672" y="96926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CE28362-0855-98A7-16B7-F75AE5519E10}"/>
              </a:ext>
            </a:extLst>
          </p:cNvPr>
          <p:cNvSpPr/>
          <p:nvPr userDrawn="1"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B564588-27F1-D454-BF49-C741BEA540C9}"/>
              </a:ext>
            </a:extLst>
          </p:cNvPr>
          <p:cNvSpPr/>
          <p:nvPr userDrawn="1"/>
        </p:nvSpPr>
        <p:spPr>
          <a:xfrm>
            <a:off x="804672" y="172821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96D9CEE5-12B4-61A5-95C1-FFCA89560187}"/>
              </a:ext>
            </a:extLst>
          </p:cNvPr>
          <p:cNvSpPr/>
          <p:nvPr userDrawn="1"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AEADAF4D-B287-58F6-10FB-B193BEA40212}"/>
              </a:ext>
            </a:extLst>
          </p:cNvPr>
          <p:cNvSpPr/>
          <p:nvPr userDrawn="1"/>
        </p:nvSpPr>
        <p:spPr>
          <a:xfrm>
            <a:off x="804672" y="2487168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F86E7D2-0ACE-BA99-BABB-0EFACD1BC9A2}"/>
              </a:ext>
            </a:extLst>
          </p:cNvPr>
          <p:cNvSpPr/>
          <p:nvPr userDrawn="1"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1C44422-0542-B493-5AA1-72C50929A1CD}"/>
              </a:ext>
            </a:extLst>
          </p:cNvPr>
          <p:cNvSpPr/>
          <p:nvPr userDrawn="1"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70F9DB6-EB9F-417B-DA46-3CB83AC24A2D}"/>
              </a:ext>
            </a:extLst>
          </p:cNvPr>
          <p:cNvSpPr/>
          <p:nvPr userDrawn="1"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CC124B3-CAC5-60F2-E867-12843D61BF32}"/>
              </a:ext>
            </a:extLst>
          </p:cNvPr>
          <p:cNvSpPr/>
          <p:nvPr userDrawn="1"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7DCE628-96A6-38EF-ED31-21BF2C7F90DF}"/>
              </a:ext>
            </a:extLst>
          </p:cNvPr>
          <p:cNvSpPr/>
          <p:nvPr userDrawn="1"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04A07CA-B3AE-32F3-F8DC-F730D43B2C6A}"/>
              </a:ext>
            </a:extLst>
          </p:cNvPr>
          <p:cNvSpPr/>
          <p:nvPr userDrawn="1"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234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71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Unimore Logo">
            <a:extLst>
              <a:ext uri="{FF2B5EF4-FFF2-40B4-BE49-F238E27FC236}">
                <a16:creationId xmlns:a16="http://schemas.microsoft.com/office/drawing/2014/main" id="{6043A221-5444-D27B-415A-2EBF79EB34E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4467" y="4616076"/>
            <a:ext cx="1307353" cy="470647"/>
          </a:xfrm>
          <a:prstGeom prst="rect">
            <a:avLst/>
          </a:prstGeom>
        </p:spPr>
      </p:pic>
      <p:sp>
        <p:nvSpPr>
          <p:cNvPr id="4" name="Footer Left">
            <a:extLst>
              <a:ext uri="{FF2B5EF4-FFF2-40B4-BE49-F238E27FC236}">
                <a16:creationId xmlns:a16="http://schemas.microsoft.com/office/drawing/2014/main" id="{FB136CB4-7A22-1793-524D-2BE9EE009B75}"/>
              </a:ext>
            </a:extLst>
          </p:cNvPr>
          <p:cNvSpPr txBox="1"/>
          <p:nvPr userDrawn="1"/>
        </p:nvSpPr>
        <p:spPr>
          <a:xfrm>
            <a:off x="685800" y="4851399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5" name="Footer Right">
            <a:extLst>
              <a:ext uri="{FF2B5EF4-FFF2-40B4-BE49-F238E27FC236}">
                <a16:creationId xmlns:a16="http://schemas.microsoft.com/office/drawing/2014/main" id="{EF21B7CF-5BA7-ABF9-4C5C-74174F8E0668}"/>
              </a:ext>
            </a:extLst>
          </p:cNvPr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u="sng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4" r:id="rId3"/>
    <p:sldLayoutId id="2147483669" r:id="rId4"/>
    <p:sldLayoutId id="2147483670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67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42976"/>
            <a:ext cx="841248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869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Deep Reinforcement Learning (DRL) be effectively</a:t>
            </a:r>
          </a:p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leveraged into autonomous exploration?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140273"/>
            <a:ext cx="8229600" cy="1078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complex task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analytical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exist but present some limitations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methods can provide more adaptive models</a:t>
            </a:r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00FCEB4-5A5B-AECB-8434-1AA1350D5054}"/>
              </a:ext>
            </a:extLst>
          </p:cNvPr>
          <p:cNvSpPr/>
          <p:nvPr/>
        </p:nvSpPr>
        <p:spPr>
          <a:xfrm>
            <a:off x="365760" y="3367363"/>
            <a:ext cx="8458200" cy="114034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015EE5A-DA97-6AC7-337B-2E3B82A10631}"/>
              </a:ext>
            </a:extLst>
          </p:cNvPr>
          <p:cNvSpPr/>
          <p:nvPr/>
        </p:nvSpPr>
        <p:spPr>
          <a:xfrm>
            <a:off x="756525" y="3879832"/>
            <a:ext cx="7722390" cy="472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framework to 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the possibility of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integrating learning-based methods with classical ones</a:t>
            </a:r>
            <a:endParaRPr lang="en-US" b="1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E002ABA-51D8-44C0-5622-613A998D91FA}"/>
              </a:ext>
            </a:extLst>
          </p:cNvPr>
          <p:cNvSpPr/>
          <p:nvPr/>
        </p:nvSpPr>
        <p:spPr>
          <a:xfrm>
            <a:off x="686512" y="3371651"/>
            <a:ext cx="1324451" cy="472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5734-CF37-87E8-1710-B49D7F31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088FCE5-8752-2BE9-019C-D83E290F36B2}"/>
              </a:ext>
            </a:extLst>
          </p:cNvPr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834930-9CDC-649F-A5D9-6BFF89C9FD3F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594123-9EB4-0214-1146-B0034A104D25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Scope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B3CE1F0-3C1B-BB0F-D636-C66DC2195FE1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EECED5-C202-9C0F-88A5-C92E3606F903}"/>
              </a:ext>
            </a:extLst>
          </p:cNvPr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242DBA-A9A1-DF3B-26A2-DACFDF1392A9}"/>
              </a:ext>
            </a:extLst>
          </p:cNvPr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Deep Reinforcement Learning (DRL) be effectively</a:t>
            </a:r>
          </a:p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autonomous exploration?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0FB926-2341-946C-D166-ACBA004280B9}"/>
              </a:ext>
            </a:extLst>
          </p:cNvPr>
          <p:cNvSpPr/>
          <p:nvPr/>
        </p:nvSpPr>
        <p:spPr>
          <a:xfrm>
            <a:off x="457200" y="2011680"/>
            <a:ext cx="8229600" cy="1464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complex task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analytical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exist but present some limitations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methods can provide more adaptive models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learning-based method be </a:t>
            </a: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classical ones? </a:t>
            </a:r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F639CD3-34C8-D5DC-F5C8-88F37F8FBCD9}"/>
              </a:ext>
            </a:extLst>
          </p:cNvPr>
          <p:cNvSpPr/>
          <p:nvPr/>
        </p:nvSpPr>
        <p:spPr>
          <a:xfrm>
            <a:off x="365760" y="3565705"/>
            <a:ext cx="8412480" cy="800555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7CCC860-9210-70E3-C27A-87D315605618}"/>
              </a:ext>
            </a:extLst>
          </p:cNvPr>
          <p:cNvSpPr/>
          <p:nvPr/>
        </p:nvSpPr>
        <p:spPr>
          <a:xfrm>
            <a:off x="457200" y="3565705"/>
            <a:ext cx="8229600" cy="750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</a:p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framework for the investigation of this possibility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50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Autonomous Exploration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Exploration: systematically map an unknown environment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Autonomous: the agent can perceive and moves without human guidance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autonomous exploration?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task, requires: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Mapping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Localization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Navigation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Decision making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19961" y="3687886"/>
            <a:ext cx="3136106" cy="228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application examples</a:t>
            </a:r>
            <a:endParaRPr lang="en-US" sz="9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497BBE3-9ECA-8B02-05B1-5CA8969F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47" r="3033"/>
          <a:stretch>
            <a:fillRect/>
          </a:stretch>
        </p:blipFill>
        <p:spPr>
          <a:xfrm>
            <a:off x="5187789" y="1277305"/>
            <a:ext cx="1757361" cy="107757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04AF77-05C1-3B51-5275-C1DCABC700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651" b="10263"/>
          <a:stretch>
            <a:fillRect/>
          </a:stretch>
        </p:blipFill>
        <p:spPr>
          <a:xfrm>
            <a:off x="5975687" y="2421300"/>
            <a:ext cx="2043800" cy="107757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E99CC8A-8B36-9C8B-61FA-7500A73EB6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82" r="4233"/>
          <a:stretch>
            <a:fillRect/>
          </a:stretch>
        </p:blipFill>
        <p:spPr>
          <a:xfrm>
            <a:off x="7046588" y="1277305"/>
            <a:ext cx="1757362" cy="1077575"/>
          </a:xfrm>
          <a:prstGeom prst="rect">
            <a:avLst/>
          </a:prstGeom>
        </p:spPr>
      </p:pic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46CEDB6-C13F-EB1B-1AC8-58CA8B3E7A63}"/>
              </a:ext>
            </a:extLst>
          </p:cNvPr>
          <p:cNvCxnSpPr/>
          <p:nvPr/>
        </p:nvCxnSpPr>
        <p:spPr>
          <a:xfrm>
            <a:off x="2428872" y="3814765"/>
            <a:ext cx="27860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47D1818-D2C0-D195-C9F9-F000EE269B9B}"/>
              </a:ext>
            </a:extLst>
          </p:cNvPr>
          <p:cNvSpPr txBox="1"/>
          <p:nvPr/>
        </p:nvSpPr>
        <p:spPr>
          <a:xfrm>
            <a:off x="2771773" y="3660872"/>
            <a:ext cx="238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 The agent must decide where to move next </a:t>
            </a:r>
            <a:endParaRPr lang="it-IT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Approaches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View approach</a:t>
            </a:r>
            <a:b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it-IT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it-IT" sz="1600" dirty="0" err="1"/>
              <a:t>ptimization</a:t>
            </a:r>
            <a:r>
              <a:rPr lang="it-IT" sz="1600" dirty="0"/>
              <a:t> </a:t>
            </a:r>
            <a:r>
              <a:rPr lang="it-IT" sz="1600" dirty="0" err="1"/>
              <a:t>problem</a:t>
            </a:r>
            <a:r>
              <a:rPr lang="it-IT" sz="1600" dirty="0"/>
              <a:t>, </a:t>
            </a:r>
            <a:r>
              <a:rPr lang="it-IT" sz="1600" dirty="0" err="1"/>
              <a:t>finding</a:t>
            </a:r>
            <a:r>
              <a:rPr lang="it-IT" sz="1600" dirty="0"/>
              <a:t> the </a:t>
            </a:r>
            <a:r>
              <a:rPr lang="it-IT" sz="1600" dirty="0" err="1"/>
              <a:t>next</a:t>
            </a:r>
            <a:r>
              <a:rPr lang="it-IT" sz="1600" dirty="0"/>
              <a:t> best position for the sensing </a:t>
            </a:r>
            <a:r>
              <a:rPr lang="it-IT" sz="1600" dirty="0" err="1"/>
              <a:t>apparatous</a:t>
            </a:r>
            <a:endParaRPr lang="it-IT" sz="1600" dirty="0"/>
          </a:p>
          <a:p>
            <a:pPr>
              <a:spcAft>
                <a:spcPts val="500"/>
              </a:spcAft>
              <a:buSzPct val="100000"/>
            </a:pP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Exploration (</a:t>
            </a:r>
            <a:r>
              <a:rPr lang="it-IT" dirty="0" err="1"/>
              <a:t>Yamauchi</a:t>
            </a:r>
            <a:r>
              <a:rPr lang="it-IT" dirty="0"/>
              <a:t> 1997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/>
              <a:t>Frontiers: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between explored (free) and unknown cells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grouped into cluster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moves toward frontier clusters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heuristics policies to decide which frontier region</a:t>
            </a:r>
            <a:endParaRPr lang="en-US" sz="1600" dirty="0"/>
          </a:p>
        </p:txBody>
      </p:sp>
      <p:pic>
        <p:nvPicPr>
          <p:cNvPr id="8" name="Image 0" descr="/home/claude/assets/frontiers_pictu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0" y="914400"/>
            <a:ext cx="365760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exploration illustration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901EC0B-66A8-4AFA-930E-484C08D7F9A2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26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0653542-D9B1-9A2A-6984-1A0D33716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26" t="22622" r="12733" b="21093"/>
          <a:stretch>
            <a:fillRect/>
          </a:stretch>
        </p:blipFill>
        <p:spPr>
          <a:xfrm>
            <a:off x="5250057" y="785809"/>
            <a:ext cx="3109083" cy="1326848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573C8336-5AD8-C4B2-E340-D77267B6C525}"/>
              </a:ext>
            </a:extLst>
          </p:cNvPr>
          <p:cNvSpPr/>
          <p:nvPr/>
        </p:nvSpPr>
        <p:spPr>
          <a:xfrm>
            <a:off x="320040" y="914400"/>
            <a:ext cx="47853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7F5C26E-B483-858E-04DF-EE05A7A1B5F3}"/>
              </a:ext>
            </a:extLst>
          </p:cNvPr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0F013AD-F929-BC0A-5743-A5947A99B8CF}"/>
              </a:ext>
            </a:extLst>
          </p:cNvPr>
          <p:cNvSpPr/>
          <p:nvPr/>
        </p:nvSpPr>
        <p:spPr>
          <a:xfrm>
            <a:off x="457200" y="1280160"/>
            <a:ext cx="44577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state s, takes action a, receives reward r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cumulative discounted reward G = Σ γ^t r_t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estimates Q(s,a) via Bellman updates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7894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412B2-2128-3929-4281-1E0C8C4E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844656A-11D0-0899-E1EE-08CAD68A483B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6C72F1A-60D1-A8D6-3402-F45F16CEE18F}"/>
              </a:ext>
            </a:extLst>
          </p:cNvPr>
          <p:cNvSpPr txBox="1"/>
          <p:nvPr/>
        </p:nvSpPr>
        <p:spPr>
          <a:xfrm>
            <a:off x="368300" y="914400"/>
            <a:ext cx="8382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3E816355-8EC3-9299-675D-00F44FE5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1428750"/>
            <a:ext cx="6477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01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/>
              <a:t>Hybrid modular architecture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3093248"/>
            <a:ext cx="3977640" cy="13030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6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analytical components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56616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Frontier detection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Low level navigation</a:t>
            </a:r>
          </a:p>
        </p:txBody>
      </p:sp>
      <p:sp>
        <p:nvSpPr>
          <p:cNvPr id="27" name="Shape 25"/>
          <p:cNvSpPr/>
          <p:nvPr/>
        </p:nvSpPr>
        <p:spPr>
          <a:xfrm>
            <a:off x="4800600" y="3093248"/>
            <a:ext cx="3977640" cy="13030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16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component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459008"/>
            <a:ext cx="3749040" cy="32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module</a:t>
            </a:r>
            <a:endParaRPr lang="en-US" sz="1300" dirty="0"/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62CBA648-A5C8-375B-CC90-4A922032D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1057276"/>
            <a:ext cx="6477000" cy="2286000"/>
          </a:xfrm>
          <a:prstGeom prst="rect">
            <a:avLst/>
          </a:prstGeom>
        </p:spPr>
      </p:pic>
      <p:sp>
        <p:nvSpPr>
          <p:cNvPr id="31" name="Text 27">
            <a:extLst>
              <a:ext uri="{FF2B5EF4-FFF2-40B4-BE49-F238E27FC236}">
                <a16:creationId xmlns:a16="http://schemas.microsoft.com/office/drawing/2014/main" id="{B0EE0268-342E-3264-CDCE-7421F2A88300}"/>
              </a:ext>
            </a:extLst>
          </p:cNvPr>
          <p:cNvSpPr/>
          <p:nvPr/>
        </p:nvSpPr>
        <p:spPr>
          <a:xfrm>
            <a:off x="5125536" y="3918506"/>
            <a:ext cx="2415540" cy="32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of the target position</a:t>
            </a:r>
            <a:endParaRPr lang="en-US" sz="1300" dirty="0"/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C6BF7B3B-C3AE-5F9F-9C63-3B09C46A5C8A}"/>
              </a:ext>
            </a:extLst>
          </p:cNvPr>
          <p:cNvCxnSpPr>
            <a:cxnSpLocks/>
          </p:cNvCxnSpPr>
          <p:nvPr/>
        </p:nvCxnSpPr>
        <p:spPr>
          <a:xfrm>
            <a:off x="6204288" y="3764903"/>
            <a:ext cx="0" cy="188420"/>
          </a:xfrm>
          <a:prstGeom prst="straightConnector1">
            <a:avLst/>
          </a:prstGeom>
          <a:ln w="28575" cap="flat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573F97-AE10-444A-9306-BFF3D7DCA88C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91A1769-B9E0-690D-90A7-0369076A82EE}"/>
              </a:ext>
            </a:extLst>
          </p:cNvPr>
          <p:cNvSpPr/>
          <p:nvPr/>
        </p:nvSpPr>
        <p:spPr>
          <a:xfrm>
            <a:off x="370840" y="1364341"/>
            <a:ext cx="4251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 discrete map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maps with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obstacle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a local window within his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range</a:t>
            </a:r>
            <a:endParaRPr lang="en-US" sz="1400" b="1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observations are used to build a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believes map</a:t>
            </a:r>
            <a:endParaRPr lang="en-US" sz="1400" b="1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40497A2-ABCE-D9C0-95B2-62483D5D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92" y="1085967"/>
            <a:ext cx="3278333" cy="156579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F715845-B525-3552-E815-E5F6C2D4D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0" y="3040282"/>
            <a:ext cx="5465652" cy="1595007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5A32195A-73EF-D939-B137-3D52DB558EEB}"/>
              </a:ext>
            </a:extLst>
          </p:cNvPr>
          <p:cNvSpPr/>
          <p:nvPr/>
        </p:nvSpPr>
        <p:spPr>
          <a:xfrm>
            <a:off x="370840" y="915257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– 2D occupancy grid</a:t>
            </a:r>
          </a:p>
        </p:txBody>
      </p:sp>
    </p:spTree>
    <p:extLst>
      <p:ext uri="{BB962C8B-B14F-4D97-AF65-F5344CB8AC3E}">
        <p14:creationId xmlns:p14="http://schemas.microsoft.com/office/powerpoint/2010/main" val="1959701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B7A4-5D27-70B1-0A98-ED2995FE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2">
            <a:extLst>
              <a:ext uri="{FF2B5EF4-FFF2-40B4-BE49-F238E27FC236}">
                <a16:creationId xmlns:a16="http://schemas.microsoft.com/office/drawing/2014/main" id="{D4EE8D53-8338-A278-7AC1-88A20B87F4E9}"/>
              </a:ext>
            </a:extLst>
          </p:cNvPr>
          <p:cNvSpPr/>
          <p:nvPr/>
        </p:nvSpPr>
        <p:spPr>
          <a:xfrm>
            <a:off x="349068" y="890646"/>
            <a:ext cx="4095636" cy="130989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D32A6E3-1067-D149-8143-6698F5640355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3027F75-A051-76BC-591E-600C8A5CC59B}"/>
              </a:ext>
            </a:extLst>
          </p:cNvPr>
          <p:cNvSpPr/>
          <p:nvPr/>
        </p:nvSpPr>
        <p:spPr>
          <a:xfrm>
            <a:off x="533266" y="1257987"/>
            <a:ext cx="4251960" cy="64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Discriminate frontier cells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theme into cluster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cluster’s centroids 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AC0CC9D-40D3-4901-4004-A8502D9116E2}"/>
              </a:ext>
            </a:extLst>
          </p:cNvPr>
          <p:cNvSpPr/>
          <p:nvPr/>
        </p:nvSpPr>
        <p:spPr>
          <a:xfrm>
            <a:off x="533266" y="901421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detection system</a:t>
            </a:r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32DCC85E-21BD-A456-C7F1-E4AE1506FBB9}"/>
              </a:ext>
            </a:extLst>
          </p:cNvPr>
          <p:cNvSpPr/>
          <p:nvPr/>
        </p:nvSpPr>
        <p:spPr>
          <a:xfrm>
            <a:off x="4699296" y="890647"/>
            <a:ext cx="4095636" cy="130989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119D0DF-27F6-E8DC-8DAA-B098EEEE2BCC}"/>
              </a:ext>
            </a:extLst>
          </p:cNvPr>
          <p:cNvSpPr/>
          <p:nvPr/>
        </p:nvSpPr>
        <p:spPr>
          <a:xfrm>
            <a:off x="4842557" y="1257987"/>
            <a:ext cx="3768177" cy="64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 obstacle free path to the target position (A* algorithm)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B94AC84-FA26-EB5F-63FB-A8BD8B41C148}"/>
              </a:ext>
            </a:extLst>
          </p:cNvPr>
          <p:cNvSpPr/>
          <p:nvPr/>
        </p:nvSpPr>
        <p:spPr>
          <a:xfrm>
            <a:off x="4756198" y="888443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 path planner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0650657-3A5E-C657-AF7E-7008E89C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4" y="2445206"/>
            <a:ext cx="2091528" cy="208241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15788E4-AC38-615A-0D66-D901C167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572" y="2340366"/>
            <a:ext cx="2098145" cy="218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0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magine 65">
            <a:extLst>
              <a:ext uri="{FF2B5EF4-FFF2-40B4-BE49-F238E27FC236}">
                <a16:creationId xmlns:a16="http://schemas.microsoft.com/office/drawing/2014/main" id="{18F7C838-AC57-F767-DC7C-08DC98A61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954" y="4064498"/>
            <a:ext cx="2725222" cy="540523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05F464F0-19F3-6264-96AD-9547261B3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155" y="1058035"/>
            <a:ext cx="2568188" cy="473204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Observations &amp; Actions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71536"/>
            <a:ext cx="4114800" cy="234314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7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  (What it sees)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295304"/>
            <a:ext cx="3840480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setup: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frontiers information vector: 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position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Agent position (optional)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to fixed length N for consistent DNN input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35841"/>
            <a:ext cx="4114800" cy="1135856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156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 (What it does)</a:t>
            </a:r>
            <a:endParaRPr lang="en-US" sz="1600" dirty="0">
              <a:solidFill>
                <a:srgbClr val="1A2E4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738177"/>
            <a:ext cx="3840480" cy="73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select one of N frontier cluster centroids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centroid passed to Path Planner for navigation</a:t>
            </a:r>
            <a:endParaRPr lang="en-US" sz="13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A151AF7E-644D-62B9-0E14-203A8F678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631" y="1616488"/>
            <a:ext cx="2324889" cy="2314760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7FE5F316-F47F-26F1-BE4E-60B56DC9D70E}"/>
              </a:ext>
            </a:extLst>
          </p:cNvPr>
          <p:cNvCxnSpPr>
            <a:cxnSpLocks/>
          </p:cNvCxnSpPr>
          <p:nvPr/>
        </p:nvCxnSpPr>
        <p:spPr>
          <a:xfrm flipH="1" flipV="1">
            <a:off x="5324951" y="1449323"/>
            <a:ext cx="1788973" cy="19159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A6FFBE33-21E2-E712-D5F3-2AF5260BD7AF}"/>
              </a:ext>
            </a:extLst>
          </p:cNvPr>
          <p:cNvCxnSpPr>
            <a:cxnSpLocks/>
          </p:cNvCxnSpPr>
          <p:nvPr/>
        </p:nvCxnSpPr>
        <p:spPr>
          <a:xfrm flipH="1" flipV="1">
            <a:off x="5803583" y="1449323"/>
            <a:ext cx="2679084" cy="216541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e 45">
            <a:extLst>
              <a:ext uri="{FF2B5EF4-FFF2-40B4-BE49-F238E27FC236}">
                <a16:creationId xmlns:a16="http://schemas.microsoft.com/office/drawing/2014/main" id="{2329471A-AEDD-D01B-190F-017C34CF4038}"/>
              </a:ext>
            </a:extLst>
          </p:cNvPr>
          <p:cNvSpPr/>
          <p:nvPr/>
        </p:nvSpPr>
        <p:spPr>
          <a:xfrm>
            <a:off x="5872166" y="4072219"/>
            <a:ext cx="570384" cy="5363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8B453163-D985-04CF-1A72-31C4C666F7AD}"/>
              </a:ext>
            </a:extLst>
          </p:cNvPr>
          <p:cNvCxnSpPr>
            <a:cxnSpLocks/>
            <a:stCxn id="46" idx="7"/>
          </p:cNvCxnSpPr>
          <p:nvPr/>
        </p:nvCxnSpPr>
        <p:spPr>
          <a:xfrm flipV="1">
            <a:off x="6359019" y="3693319"/>
            <a:ext cx="2158563" cy="457447"/>
          </a:xfrm>
          <a:prstGeom prst="straightConnector1">
            <a:avLst/>
          </a:prstGeom>
          <a:ln w="19050">
            <a:solidFill>
              <a:srgbClr val="1A2E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6E994413-5923-858F-30CD-BA0AF7218074}"/>
              </a:ext>
            </a:extLst>
          </p:cNvPr>
          <p:cNvCxnSpPr>
            <a:cxnSpLocks/>
          </p:cNvCxnSpPr>
          <p:nvPr/>
        </p:nvCxnSpPr>
        <p:spPr>
          <a:xfrm flipH="1" flipV="1">
            <a:off x="6287153" y="1456943"/>
            <a:ext cx="1637973" cy="6687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6">
            <a:extLst>
              <a:ext uri="{FF2B5EF4-FFF2-40B4-BE49-F238E27FC236}">
                <a16:creationId xmlns:a16="http://schemas.microsoft.com/office/drawing/2014/main" id="{5E6D407A-4C5B-571F-1AA3-4B3D850C2177}"/>
              </a:ext>
            </a:extLst>
          </p:cNvPr>
          <p:cNvSpPr/>
          <p:nvPr/>
        </p:nvSpPr>
        <p:spPr>
          <a:xfrm>
            <a:off x="5091615" y="3852730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Action (e.g. = 2):</a:t>
            </a: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0B2E10E4-4556-1B9A-DDE9-627BA9E9E8A1}"/>
              </a:ext>
            </a:extLst>
          </p:cNvPr>
          <p:cNvSpPr/>
          <p:nvPr/>
        </p:nvSpPr>
        <p:spPr>
          <a:xfrm>
            <a:off x="5026961" y="877308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Observations: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FDA82-E5B2-8A17-0988-B55897B81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magine 65">
            <a:extLst>
              <a:ext uri="{FF2B5EF4-FFF2-40B4-BE49-F238E27FC236}">
                <a16:creationId xmlns:a16="http://schemas.microsoft.com/office/drawing/2014/main" id="{651F61AD-8145-78B9-3D0D-B73F4C3E3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954" y="4064498"/>
            <a:ext cx="2725222" cy="540523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8203ED47-F708-04CE-FAAE-5F68B768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155" y="1058035"/>
            <a:ext cx="2568188" cy="473204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7D993B8F-E60C-43A4-D72B-8E00E920EFAE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E80885-34DB-F683-87EF-65FA2604D688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Observations &amp; Actions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CC6E8B2-A757-DF89-DE78-A304BB067030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3523A67-0DD8-0DE6-D041-50B79BC96453}"/>
              </a:ext>
            </a:extLst>
          </p:cNvPr>
          <p:cNvSpPr/>
          <p:nvPr/>
        </p:nvSpPr>
        <p:spPr>
          <a:xfrm>
            <a:off x="320040" y="871536"/>
            <a:ext cx="4114800" cy="234314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B47BD97-E5B2-9D22-CE78-19AC701CE5EA}"/>
              </a:ext>
            </a:extLst>
          </p:cNvPr>
          <p:cNvSpPr/>
          <p:nvPr/>
        </p:nvSpPr>
        <p:spPr>
          <a:xfrm>
            <a:off x="320040" y="871536"/>
            <a:ext cx="4114800" cy="36576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1494D87-A04D-C781-5C41-55810106ED6F}"/>
              </a:ext>
            </a:extLst>
          </p:cNvPr>
          <p:cNvSpPr/>
          <p:nvPr/>
        </p:nvSpPr>
        <p:spPr>
          <a:xfrm>
            <a:off x="457200" y="917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 – What it sees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A839DE7-48E3-B745-3A84-A87D2C6ACE53}"/>
              </a:ext>
            </a:extLst>
          </p:cNvPr>
          <p:cNvSpPr/>
          <p:nvPr/>
        </p:nvSpPr>
        <p:spPr>
          <a:xfrm>
            <a:off x="457200" y="1295304"/>
            <a:ext cx="3840480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setup: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frontiers information vector: 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position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Agent position (optional)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to fixed length N for consistent DNN input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6FCCD1D-EBF2-5E97-BDAC-817B01C405C3}"/>
              </a:ext>
            </a:extLst>
          </p:cNvPr>
          <p:cNvSpPr/>
          <p:nvPr/>
        </p:nvSpPr>
        <p:spPr>
          <a:xfrm>
            <a:off x="320040" y="3335841"/>
            <a:ext cx="4114800" cy="1135856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9A0909F-E430-E05C-0431-3548162CAF71}"/>
              </a:ext>
            </a:extLst>
          </p:cNvPr>
          <p:cNvSpPr/>
          <p:nvPr/>
        </p:nvSpPr>
        <p:spPr>
          <a:xfrm>
            <a:off x="320040" y="3335841"/>
            <a:ext cx="411480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96F1A3-2FB4-7297-11A2-7D90F9D0F833}"/>
              </a:ext>
            </a:extLst>
          </p:cNvPr>
          <p:cNvSpPr/>
          <p:nvPr/>
        </p:nvSpPr>
        <p:spPr>
          <a:xfrm>
            <a:off x="457200" y="338156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– What it does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20B0190-C776-20AA-B006-BEC49DCB4B27}"/>
              </a:ext>
            </a:extLst>
          </p:cNvPr>
          <p:cNvSpPr/>
          <p:nvPr/>
        </p:nvSpPr>
        <p:spPr>
          <a:xfrm>
            <a:off x="457200" y="3738177"/>
            <a:ext cx="3840480" cy="73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select one of N frontier cluster centroids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centroid passed to Path Planner for navigation</a:t>
            </a:r>
            <a:endParaRPr lang="en-US" sz="13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2F57AD3-8109-CC9F-E20E-843867708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631" y="1616488"/>
            <a:ext cx="2324889" cy="2314760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18B465B-E187-9D59-E8EF-68E304405775}"/>
              </a:ext>
            </a:extLst>
          </p:cNvPr>
          <p:cNvCxnSpPr>
            <a:cxnSpLocks/>
          </p:cNvCxnSpPr>
          <p:nvPr/>
        </p:nvCxnSpPr>
        <p:spPr>
          <a:xfrm flipH="1" flipV="1">
            <a:off x="5324951" y="1449323"/>
            <a:ext cx="1788973" cy="1915954"/>
          </a:xfrm>
          <a:prstGeom prst="straightConnector1">
            <a:avLst/>
          </a:prstGeom>
          <a:ln w="19050">
            <a:solidFill>
              <a:srgbClr val="C847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57FF8089-E3AF-CAA1-A3EF-9A9A161C5D6C}"/>
              </a:ext>
            </a:extLst>
          </p:cNvPr>
          <p:cNvCxnSpPr>
            <a:cxnSpLocks/>
          </p:cNvCxnSpPr>
          <p:nvPr/>
        </p:nvCxnSpPr>
        <p:spPr>
          <a:xfrm flipH="1" flipV="1">
            <a:off x="5803583" y="1449323"/>
            <a:ext cx="2679084" cy="2165415"/>
          </a:xfrm>
          <a:prstGeom prst="straightConnector1">
            <a:avLst/>
          </a:prstGeom>
          <a:ln w="19050">
            <a:solidFill>
              <a:srgbClr val="C847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e 45">
            <a:extLst>
              <a:ext uri="{FF2B5EF4-FFF2-40B4-BE49-F238E27FC236}">
                <a16:creationId xmlns:a16="http://schemas.microsoft.com/office/drawing/2014/main" id="{DC2005E5-1175-832A-C745-429B1E66F5EB}"/>
              </a:ext>
            </a:extLst>
          </p:cNvPr>
          <p:cNvSpPr/>
          <p:nvPr/>
        </p:nvSpPr>
        <p:spPr>
          <a:xfrm>
            <a:off x="5872166" y="4072219"/>
            <a:ext cx="570384" cy="5363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CF4CE0D0-C321-1751-C9EF-D96C24DF69E5}"/>
              </a:ext>
            </a:extLst>
          </p:cNvPr>
          <p:cNvCxnSpPr>
            <a:cxnSpLocks/>
            <a:stCxn id="46" idx="7"/>
          </p:cNvCxnSpPr>
          <p:nvPr/>
        </p:nvCxnSpPr>
        <p:spPr>
          <a:xfrm flipV="1">
            <a:off x="6359019" y="3693319"/>
            <a:ext cx="2158563" cy="457447"/>
          </a:xfrm>
          <a:prstGeom prst="straightConnector1">
            <a:avLst/>
          </a:prstGeom>
          <a:ln w="19050">
            <a:solidFill>
              <a:srgbClr val="1A2E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26F6E763-DD45-CE2A-326B-11450D1AA4E1}"/>
              </a:ext>
            </a:extLst>
          </p:cNvPr>
          <p:cNvCxnSpPr>
            <a:cxnSpLocks/>
          </p:cNvCxnSpPr>
          <p:nvPr/>
        </p:nvCxnSpPr>
        <p:spPr>
          <a:xfrm flipH="1" flipV="1">
            <a:off x="6287153" y="1456943"/>
            <a:ext cx="1637973" cy="668799"/>
          </a:xfrm>
          <a:prstGeom prst="straightConnector1">
            <a:avLst/>
          </a:prstGeom>
          <a:ln w="19050">
            <a:solidFill>
              <a:srgbClr val="C847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6">
            <a:extLst>
              <a:ext uri="{FF2B5EF4-FFF2-40B4-BE49-F238E27FC236}">
                <a16:creationId xmlns:a16="http://schemas.microsoft.com/office/drawing/2014/main" id="{D56634B4-DD1F-AEDB-AE41-235B866DE38E}"/>
              </a:ext>
            </a:extLst>
          </p:cNvPr>
          <p:cNvSpPr/>
          <p:nvPr/>
        </p:nvSpPr>
        <p:spPr>
          <a:xfrm>
            <a:off x="5091615" y="3852730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Action (e.g. = 2):</a:t>
            </a: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9DB2A96F-B647-4E24-3F7F-D2B6ECAA253D}"/>
              </a:ext>
            </a:extLst>
          </p:cNvPr>
          <p:cNvSpPr/>
          <p:nvPr/>
        </p:nvSpPr>
        <p:spPr>
          <a:xfrm>
            <a:off x="5026961" y="877308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Observations:</a:t>
            </a:r>
          </a:p>
        </p:txBody>
      </p:sp>
    </p:spTree>
    <p:extLst>
      <p:ext uri="{BB962C8B-B14F-4D97-AF65-F5344CB8AC3E}">
        <p14:creationId xmlns:p14="http://schemas.microsoft.com/office/powerpoint/2010/main" val="1093364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Reward Shaping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reward configurations compared across the experimental campaign: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4069080" cy="3429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61872"/>
            <a:ext cx="4069080" cy="36576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07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1 — Relative / Sorted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newly explored cells at each step (relative gain)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sorted by distance (closest cluster first)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padding penalty for inactive action slots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Caused degenerate policy — agent always picks action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4069080" cy="3429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61872"/>
            <a:ext cx="40690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07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2 — Absolute / Unsorted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6420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absolute coverage reached (clearer exploration signal)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in random order — no sorting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padding penalty — avoids degenerate exploitation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First configuration yielding a non-degenerate policy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ccentBar"/>
          <p:cNvSpPr/>
          <p:nvPr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Title"/>
          <p:cNvSpPr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Reward Shaping</a:t>
            </a:r>
            <a:endParaRPr lang="en-US" sz="2600" dirty="0"/>
          </a:p>
        </p:txBody>
      </p:sp>
      <p:cxnSp>
        <p:nvCxnSpPr>
          <p:cNvPr id="202" name="SepLine"/>
          <p:cNvCxnSpPr/>
          <p:nvPr/>
        </p:nvCxnSpPr>
        <p:spPr>
          <a:xfrm>
            <a:off x="317500" y="774700"/>
            <a:ext cx="8509000" cy="0"/>
          </a:xfrm>
          <a:prstGeom prst="line">
            <a:avLst/>
          </a:prstGeom>
          <a:ln w="19050">
            <a:solidFill>
              <a:srgbClr val="D6E4F0"/>
            </a:solidFill>
          </a:ln>
        </p:spPr>
      </p:cxnSp>
      <p:sp>
        <p:nvSpPr>
          <p:cNvPr id="204" name="CardHeader"/>
          <p:cNvSpPr/>
          <p:nvPr/>
        </p:nvSpPr>
        <p:spPr>
          <a:xfrm>
            <a:off x="317500" y="889000"/>
            <a:ext cx="8509000" cy="368300"/>
          </a:xfrm>
          <a:prstGeom prst="roundRect">
            <a:avLst>
              <a:gd name="adj" fmla="val 3000"/>
            </a:avLst>
          </a:prstGeom>
          <a:solidFill>
            <a:srgbClr val="E8EDF3"/>
          </a:solidFill>
          <a:ln w="6350">
            <a:solidFill>
              <a:srgbClr val="D6E4F0"/>
            </a:solidFill>
          </a:ln>
        </p:spPr>
        <p:txBody>
          <a:bodyPr wrap="square" lIns="91440" tIns="0" rIns="0" bIns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Comparison</a:t>
            </a:r>
          </a:p>
        </p:txBody>
      </p:sp>
      <p:graphicFrame>
        <p:nvGraphicFramePr>
          <p:cNvPr id="206" name="Reward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927027"/>
              </p:ext>
            </p:extLst>
          </p:nvPr>
        </p:nvGraphicFramePr>
        <p:xfrm>
          <a:off x="617220" y="1347722"/>
          <a:ext cx="7714504" cy="3017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505">
                  <a:extLst>
                    <a:ext uri="{9D8B030D-6E8A-4147-A177-3AD203B41FA5}">
                      <a16:colId xmlns:a16="http://schemas.microsoft.com/office/drawing/2014/main" val="3129147511"/>
                    </a:ext>
                  </a:extLst>
                </a:gridCol>
                <a:gridCol w="184535">
                  <a:extLst>
                    <a:ext uri="{9D8B030D-6E8A-4147-A177-3AD203B41FA5}">
                      <a16:colId xmlns:a16="http://schemas.microsoft.com/office/drawing/2014/main" val="3892954019"/>
                    </a:ext>
                  </a:extLst>
                </a:gridCol>
                <a:gridCol w="1211579">
                  <a:extLst>
                    <a:ext uri="{9D8B030D-6E8A-4147-A177-3AD203B41FA5}">
                      <a16:colId xmlns:a16="http://schemas.microsoft.com/office/drawing/2014/main" val="536005186"/>
                    </a:ext>
                  </a:extLst>
                </a:gridCol>
                <a:gridCol w="1199032">
                  <a:extLst>
                    <a:ext uri="{9D8B030D-6E8A-4147-A177-3AD203B41FA5}">
                      <a16:colId xmlns:a16="http://schemas.microsoft.com/office/drawing/2014/main" val="1421492333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2806643730"/>
                    </a:ext>
                  </a:extLst>
                </a:gridCol>
              </a:tblGrid>
              <a:tr h="229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Condition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1</a:t>
                      </a:r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 dirty="0">
                        <a:solidFill>
                          <a:srgbClr val="1A2E4A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2</a:t>
                      </a:r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 dirty="0">
                        <a:solidFill>
                          <a:srgbClr val="1A2E4A"/>
                        </a:solidFill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280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Action outcome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Action selects padding slot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continues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No new cells explored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  <a:endParaRPr lang="en-US" sz="1100" dirty="0">
                        <a:solidFill>
                          <a:srgbClr val="4472C4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Some cells explored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proportional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537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Episode termination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Exploration ≥ threshold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large positive</a:t>
                      </a:r>
                      <a:endParaRPr lang="en-US" sz="1100" dirty="0">
                        <a:solidFill>
                          <a:srgbClr val="2E7D3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terminated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  <a:endParaRPr lang="en-US" sz="1100" dirty="0">
                        <a:solidFill>
                          <a:srgbClr val="4472C4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Max steps exceeded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  <a:endParaRPr lang="en-US" sz="1100" dirty="0">
                        <a:solidFill>
                          <a:srgbClr val="4472C4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No progress for ≥ 20 steps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</a:rPr>
                        <a:t>intermediate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E67E2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E67E2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280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Additional signal — Reward 2 only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Oscillating behavior detected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8" name="Footnote"/>
          <p:cNvSpPr/>
          <p:nvPr/>
        </p:nvSpPr>
        <p:spPr>
          <a:xfrm>
            <a:off x="3251724" y="4438388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Entries marked </a:t>
            </a:r>
            <a:r>
              <a:rPr lang="en-US" sz="900" b="1" dirty="0">
                <a:solidFill>
                  <a:srgbClr val="4472C4"/>
                </a:solidFill>
                <a:latin typeface="Calibri" pitchFamily="34" charset="0"/>
              </a:rPr>
              <a:t>= R1</a:t>
            </a: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 are identical to Reward 1.</a:t>
            </a:r>
          </a:p>
        </p:txBody>
      </p:sp>
    </p:spTree>
    <p:extLst>
      <p:ext uri="{BB962C8B-B14F-4D97-AF65-F5344CB8AC3E}">
        <p14:creationId xmlns:p14="http://schemas.microsoft.com/office/powerpoint/2010/main" val="399155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ccentBar"/>
          <p:cNvSpPr/>
          <p:nvPr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Title"/>
          <p:cNvSpPr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Formulations Comparison</a:t>
            </a:r>
          </a:p>
        </p:txBody>
      </p:sp>
      <p:cxnSp>
        <p:nvCxnSpPr>
          <p:cNvPr id="202" name="SepLine"/>
          <p:cNvCxnSpPr/>
          <p:nvPr/>
        </p:nvCxnSpPr>
        <p:spPr>
          <a:xfrm>
            <a:off x="317500" y="774700"/>
            <a:ext cx="8509000" cy="0"/>
          </a:xfrm>
          <a:prstGeom prst="line">
            <a:avLst/>
          </a:prstGeom>
          <a:ln w="19050">
            <a:solidFill>
              <a:srgbClr val="D6E4F0"/>
            </a:solidFill>
          </a:ln>
        </p:spPr>
      </p:cxnSp>
      <p:sp>
        <p:nvSpPr>
          <p:cNvPr id="204" name="CardHeader"/>
          <p:cNvSpPr/>
          <p:nvPr/>
        </p:nvSpPr>
        <p:spPr>
          <a:xfrm>
            <a:off x="317500" y="889000"/>
            <a:ext cx="8509000" cy="368300"/>
          </a:xfrm>
          <a:prstGeom prst="roundRect">
            <a:avLst>
              <a:gd name="adj" fmla="val 3000"/>
            </a:avLst>
          </a:prstGeom>
          <a:solidFill>
            <a:srgbClr val="E8EDF3"/>
          </a:solidFill>
          <a:ln w="6350">
            <a:solidFill>
              <a:srgbClr val="D6E4F0"/>
            </a:solidFill>
          </a:ln>
        </p:spPr>
        <p:txBody>
          <a:bodyPr wrap="square" lIns="91440" tIns="0" rIns="0" bIns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Comparison</a:t>
            </a:r>
          </a:p>
        </p:txBody>
      </p:sp>
      <p:graphicFrame>
        <p:nvGraphicFramePr>
          <p:cNvPr id="400" name="RewardTableV2"/>
          <p:cNvGraphicFramePr>
            <a:graphicFrameLocks noGrp="1"/>
          </p:cNvGraphicFramePr>
          <p:nvPr/>
        </p:nvGraphicFramePr>
        <p:xfrm>
          <a:off x="406400" y="1320800"/>
          <a:ext cx="8293100" cy="32562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Condition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2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Episode end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R2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Action outcome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•  Action selects padding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continues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•  No new cells explored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•  Some cells explored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interm.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Episode termination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•  Exploration ≥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large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terminated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•  Max steps exceeded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•  No progress for ≥ 20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</a:rPr>
                        <a:t>interm.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300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Additional signal — Reward 2 only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•  Oscillating behavior 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065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itle"/>
          <p:cNvSpPr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Padding</a:t>
            </a:r>
          </a:p>
        </p:txBody>
      </p:sp>
      <p:cxnSp>
        <p:nvCxnSpPr>
          <p:cNvPr id="102" name="SepLine"/>
          <p:cNvCxnSpPr/>
          <p:nvPr/>
        </p:nvCxnSpPr>
        <p:spPr>
          <a:xfrm>
            <a:off x="317500" y="774700"/>
            <a:ext cx="8509000" cy="0"/>
          </a:xfrm>
          <a:prstGeom prst="line">
            <a:avLst/>
          </a:prstGeom>
          <a:ln w="19050">
            <a:solidFill>
              <a:srgbClr val="D6E4F0"/>
            </a:solidFill>
          </a:ln>
        </p:spPr>
      </p:cxnSp>
      <p:sp>
        <p:nvSpPr>
          <p:cNvPr id="103" name="CardBg"/>
          <p:cNvSpPr/>
          <p:nvPr/>
        </p:nvSpPr>
        <p:spPr>
          <a:xfrm>
            <a:off x="317500" y="952500"/>
            <a:ext cx="8509000" cy="3429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D6E4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CardHeader"/>
          <p:cNvSpPr/>
          <p:nvPr/>
        </p:nvSpPr>
        <p:spPr>
          <a:xfrm>
            <a:off x="317500" y="952500"/>
            <a:ext cx="8509000" cy="368300"/>
          </a:xfrm>
          <a:prstGeom prst="roundRect">
            <a:avLst>
              <a:gd name="adj" fmla="val 3000"/>
            </a:avLst>
          </a:prstGeom>
          <a:solidFill>
            <a:srgbClr val="1A2E4A"/>
          </a:solidFill>
          <a:ln>
            <a:noFill/>
          </a:ln>
        </p:spPr>
        <p:txBody>
          <a:bodyPr wrap="square" lIns="91440" tIns="0" rIns="0" bIns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Observation Vector</a:t>
            </a:r>
          </a:p>
        </p:txBody>
      </p:sp>
      <p:sp>
        <p:nvSpPr>
          <p:cNvPr id="105" name="Caption"/>
          <p:cNvSpPr/>
          <p:nvPr/>
        </p:nvSpPr>
        <p:spPr>
          <a:xfrm>
            <a:off x="508000" y="14478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with 3 active clusters and 3 padding slots (N = 6):</a:t>
            </a:r>
          </a:p>
        </p:txBody>
      </p:sp>
      <p:graphicFrame>
        <p:nvGraphicFramePr>
          <p:cNvPr id="106" name="Table1"/>
          <p:cNvGraphicFramePr>
            <a:graphicFrameLocks noGrp="1"/>
          </p:cNvGraphicFramePr>
          <p:nvPr/>
        </p:nvGraphicFramePr>
        <p:xfrm>
          <a:off x="825500" y="1828800"/>
          <a:ext cx="7467600" cy="9652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Cluster 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Cluster 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Cluster 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Pad</a:t>
                      </a:r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Pad</a:t>
                      </a:r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Pad</a:t>
                      </a:r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[ x₁, y₁ ]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[ x₂, y₂ ]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[ x₃, y₃ ]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[ 0, 0 ]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[ 0, 0 ]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[ 0, 0 ]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8" name="BracketActive"/>
          <p:cNvSpPr/>
          <p:nvPr/>
        </p:nvSpPr>
        <p:spPr>
          <a:xfrm>
            <a:off x="825500" y="2819400"/>
            <a:ext cx="3733800" cy="177800"/>
          </a:xfrm>
          <a:prstGeom prst="bracketPair">
            <a:avLst>
              <a:gd name="adj" fmla="val 30000"/>
            </a:avLst>
          </a:prstGeom>
          <a:noFill/>
          <a:ln w="12700">
            <a:solidFill>
              <a:srgbClr val="4472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BracketPad"/>
          <p:cNvSpPr/>
          <p:nvPr/>
        </p:nvSpPr>
        <p:spPr>
          <a:xfrm>
            <a:off x="4559300" y="2819400"/>
            <a:ext cx="3733800" cy="177800"/>
          </a:xfrm>
          <a:prstGeom prst="bracketPair">
            <a:avLst>
              <a:gd name="adj" fmla="val 30000"/>
            </a:avLst>
          </a:prstGeom>
          <a:noFill/>
          <a:ln w="12700">
            <a:solidFill>
              <a:srgbClr val="A5A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LabelActive"/>
          <p:cNvSpPr/>
          <p:nvPr/>
        </p:nvSpPr>
        <p:spPr>
          <a:xfrm>
            <a:off x="825500" y="2997200"/>
            <a:ext cx="3733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4472C4"/>
                </a:solidFill>
                <a:latin typeface="Calibri" pitchFamily="34" charset="0"/>
              </a:rPr>
              <a:t>Active clusters</a:t>
            </a:r>
          </a:p>
        </p:txBody>
      </p:sp>
      <p:sp>
        <p:nvSpPr>
          <p:cNvPr id="111" name="LabelPad"/>
          <p:cNvSpPr/>
          <p:nvPr/>
        </p:nvSpPr>
        <p:spPr>
          <a:xfrm>
            <a:off x="4559300" y="2997200"/>
            <a:ext cx="3733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A5A5A5"/>
                </a:solidFill>
                <a:latin typeface="Calibri" pitchFamily="34" charset="0"/>
              </a:rPr>
              <a:t>Padding (zero-filled)</a:t>
            </a:r>
          </a:p>
        </p:txBody>
      </p:sp>
      <p:sp>
        <p:nvSpPr>
          <p:cNvPr id="107" name="ExplText"/>
          <p:cNvSpPr/>
          <p:nvPr/>
        </p:nvSpPr>
        <p:spPr>
          <a:xfrm>
            <a:off x="508000" y="3327400"/>
            <a:ext cx="812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clusters provide real frontier data </a:t>
            </a:r>
            <a:r>
              <a:rPr lang="en-US" sz="1300" dirty="0">
                <a:solidFill>
                  <a:srgbClr val="4472C4"/>
                </a:solidFill>
                <a:latin typeface="Calibri" pitchFamily="34" charset="0"/>
              </a:rPr>
              <a:t>[ x, y ]</a:t>
            </a:r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slots are zero-filled </a:t>
            </a:r>
            <a:r>
              <a:rPr lang="en-US" sz="1300" dirty="0">
                <a:solidFill>
                  <a:srgbClr val="A5A5A5"/>
                </a:solidFill>
                <a:latin typeface="Calibri" pitchFamily="34" charset="0"/>
              </a:rPr>
              <a:t>[ 0, 0 ]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</a:rPr>
              <a:t> to maintain a fixed-length vector for the DNN input</a:t>
            </a:r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consistent observation size regardless of the number of active clusters</a:t>
            </a:r>
          </a:p>
        </p:txBody>
      </p:sp>
    </p:spTree>
    <p:extLst>
      <p:ext uri="{BB962C8B-B14F-4D97-AF65-F5344CB8AC3E}">
        <p14:creationId xmlns:p14="http://schemas.microsoft.com/office/powerpoint/2010/main" val="2975609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Campaign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840" y="975360"/>
            <a:ext cx="4527031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Configuration search: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× observation set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 configuration per reward</a:t>
            </a:r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Hyperparameter optimization: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converged to a single optimal hyperparameter set</a:t>
            </a:r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Training budget: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/ 750k / 1M time steps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best models selected</a:t>
            </a:r>
            <a:endParaRPr lang="en-US" sz="1400" dirty="0"/>
          </a:p>
        </p:txBody>
      </p:sp>
      <p:pic>
        <p:nvPicPr>
          <p:cNvPr id="8" name="Image 0" descr="/home/claude/assets/experimental_process_white.png"/>
          <p:cNvPicPr>
            <a:picLocks noChangeAspect="1"/>
          </p:cNvPicPr>
          <p:nvPr/>
        </p:nvPicPr>
        <p:blipFill>
          <a:blip r:embed="rId3"/>
          <a:srcRect t="2820" b="2625"/>
          <a:stretch>
            <a:fillRect/>
          </a:stretch>
        </p:blipFill>
        <p:spPr>
          <a:xfrm>
            <a:off x="4537813" y="833629"/>
            <a:ext cx="4450830" cy="39212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1: Degenerate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7532"/>
            <a:ext cx="850392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458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 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relative positions   ·   Sorted by distance    ·   </a:t>
            </a: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1   ·   1M steps</a:t>
            </a:r>
            <a:endParaRPr lang="en-US" sz="1200" dirty="0"/>
          </a:p>
        </p:txBody>
      </p:sp>
      <p:pic>
        <p:nvPicPr>
          <p:cNvPr id="9" name="Image 0" descr="/home/claude/assets/relative_sorted_1e6_loss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25880"/>
            <a:ext cx="5212080" cy="2259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34791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1200" dirty="0"/>
          </a:p>
        </p:txBody>
      </p:sp>
      <p:pic>
        <p:nvPicPr>
          <p:cNvPr id="11" name="Image 1" descr="/home/claude/assets/relative_sorted_1e6_train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3560" y="1325880"/>
            <a:ext cx="3200400" cy="2259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347431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</a:t>
            </a:r>
            <a:endParaRPr lang="en-US" sz="1200" dirty="0"/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945D122D-FE56-F66D-9E60-75297FD9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849344"/>
              </p:ext>
            </p:extLst>
          </p:nvPr>
        </p:nvGraphicFramePr>
        <p:xfrm>
          <a:off x="1548384" y="3741010"/>
          <a:ext cx="295503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518">
                  <a:extLst>
                    <a:ext uri="{9D8B030D-6E8A-4147-A177-3AD203B41FA5}">
                      <a16:colId xmlns:a16="http://schemas.microsoft.com/office/drawing/2014/main" val="2914056647"/>
                    </a:ext>
                  </a:extLst>
                </a:gridCol>
                <a:gridCol w="1477518">
                  <a:extLst>
                    <a:ext uri="{9D8B030D-6E8A-4147-A177-3AD203B41FA5}">
                      <a16:colId xmlns:a16="http://schemas.microsoft.com/office/drawing/2014/main" val="2011988342"/>
                    </a:ext>
                  </a:extLst>
                </a:gridCol>
              </a:tblGrid>
              <a:tr h="264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Evaluation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reward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00443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. Dev.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91342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dirty="0"/>
                        <a:t>16.91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68980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50146383-70B6-2311-65E8-CEB8607C3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981833"/>
              </p:ext>
            </p:extLst>
          </p:nvPr>
        </p:nvGraphicFramePr>
        <p:xfrm>
          <a:off x="4802123" y="3741010"/>
          <a:ext cx="295503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777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514815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514815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514815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14815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</a:tblGrid>
              <a:tr h="26455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6">
            <a:extLst>
              <a:ext uri="{FF2B5EF4-FFF2-40B4-BE49-F238E27FC236}">
                <a16:creationId xmlns:a16="http://schemas.microsoft.com/office/drawing/2014/main" id="{D8EFB94C-0DE9-BCBB-8B88-78A5834E0A55}"/>
              </a:ext>
            </a:extLst>
          </p:cNvPr>
          <p:cNvSpPr/>
          <p:nvPr/>
        </p:nvSpPr>
        <p:spPr>
          <a:xfrm>
            <a:off x="320040" y="1178432"/>
            <a:ext cx="8503920" cy="1444752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Reward Hacking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19" y="1664208"/>
            <a:ext cx="4000501" cy="66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policy learned always chose action = 0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huge TD loss</a:t>
            </a: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BC1CF05-FB80-5024-B303-168429DC47FC}"/>
              </a:ext>
            </a:extLst>
          </p:cNvPr>
          <p:cNvSpPr/>
          <p:nvPr/>
        </p:nvSpPr>
        <p:spPr>
          <a:xfrm>
            <a:off x="5676900" y="1772032"/>
            <a:ext cx="28575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Degenerated Policy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272714BA-2147-04E3-170B-53D1AD2B69E9}"/>
              </a:ext>
            </a:extLst>
          </p:cNvPr>
          <p:cNvCxnSpPr/>
          <p:nvPr/>
        </p:nvCxnSpPr>
        <p:spPr>
          <a:xfrm>
            <a:off x="4739640" y="1958340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 6">
            <a:extLst>
              <a:ext uri="{FF2B5EF4-FFF2-40B4-BE49-F238E27FC236}">
                <a16:creationId xmlns:a16="http://schemas.microsoft.com/office/drawing/2014/main" id="{B0F76DF1-2FC5-B064-121C-7293DA1C33E3}"/>
              </a:ext>
            </a:extLst>
          </p:cNvPr>
          <p:cNvSpPr/>
          <p:nvPr/>
        </p:nvSpPr>
        <p:spPr>
          <a:xfrm>
            <a:off x="320040" y="2844164"/>
            <a:ext cx="8503920" cy="1444752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0369533-4D61-B342-5649-10CAF7CF861D}"/>
              </a:ext>
            </a:extLst>
          </p:cNvPr>
          <p:cNvSpPr/>
          <p:nvPr/>
        </p:nvSpPr>
        <p:spPr>
          <a:xfrm>
            <a:off x="502920" y="30373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82A692-61BA-906F-351E-A5B833B2A71F}"/>
              </a:ext>
            </a:extLst>
          </p:cNvPr>
          <p:cNvSpPr/>
          <p:nvPr/>
        </p:nvSpPr>
        <p:spPr>
          <a:xfrm>
            <a:off x="502920" y="3329940"/>
            <a:ext cx="7536180" cy="66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always at end + Large penalty   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Strong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ncentive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chose action = 0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Centroids   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Chosing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 = 0 correspond to greedy heuristic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35152"/>
            <a:ext cx="850392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5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 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centroids positions   ·   Not-sorted    ·    Agent position    ·   Reward 2   ·   1M steps</a:t>
            </a:r>
            <a:endParaRPr lang="en-US" sz="1200" dirty="0"/>
          </a:p>
        </p:txBody>
      </p:sp>
      <p:pic>
        <p:nvPicPr>
          <p:cNvPr id="9" name="Image 0" descr="/home/claude/assets/absolute_ag_notsorted_1e6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68550"/>
            <a:ext cx="5212080" cy="2279905"/>
          </a:xfrm>
          <a:prstGeom prst="rect">
            <a:avLst/>
          </a:prstGeom>
        </p:spPr>
      </p:pic>
      <p:pic>
        <p:nvPicPr>
          <p:cNvPr id="11" name="Image 1" descr="/home/claude/assets/absolute_ag_notsorted_1e6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3560" y="1368550"/>
            <a:ext cx="3200400" cy="2279906"/>
          </a:xfrm>
          <a:prstGeom prst="rect">
            <a:avLst/>
          </a:prstGeom>
        </p:spPr>
      </p:pic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1B53B08E-3213-8AE6-722D-90F5AC50D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908223"/>
              </p:ext>
            </p:extLst>
          </p:nvPr>
        </p:nvGraphicFramePr>
        <p:xfrm>
          <a:off x="1190244" y="3801970"/>
          <a:ext cx="295503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518">
                  <a:extLst>
                    <a:ext uri="{9D8B030D-6E8A-4147-A177-3AD203B41FA5}">
                      <a16:colId xmlns:a16="http://schemas.microsoft.com/office/drawing/2014/main" val="2914056647"/>
                    </a:ext>
                  </a:extLst>
                </a:gridCol>
                <a:gridCol w="1477518">
                  <a:extLst>
                    <a:ext uri="{9D8B030D-6E8A-4147-A177-3AD203B41FA5}">
                      <a16:colId xmlns:a16="http://schemas.microsoft.com/office/drawing/2014/main" val="2011988342"/>
                    </a:ext>
                  </a:extLst>
                </a:gridCol>
              </a:tblGrid>
              <a:tr h="264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Evaluation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reward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00443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. Dev.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91342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dirty="0"/>
                        <a:t>15.55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2.45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68980"/>
                  </a:ext>
                </a:extLst>
              </a:tr>
            </a:tbl>
          </a:graphicData>
        </a:graphic>
      </p:graphicFrame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FB42DADA-AB9B-1D95-3072-5F611B9B5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087378"/>
              </p:ext>
            </p:extLst>
          </p:nvPr>
        </p:nvGraphicFramePr>
        <p:xfrm>
          <a:off x="4504942" y="3796495"/>
          <a:ext cx="404469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440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616345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616345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616345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61611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  <a:gridCol w="561611">
                  <a:extLst>
                    <a:ext uri="{9D8B030D-6E8A-4147-A177-3AD203B41FA5}">
                      <a16:colId xmlns:a16="http://schemas.microsoft.com/office/drawing/2014/main" val="1105224779"/>
                    </a:ext>
                  </a:extLst>
                </a:gridCol>
              </a:tblGrid>
              <a:tr h="26455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  <p:sp>
        <p:nvSpPr>
          <p:cNvPr id="17" name="Text 7">
            <a:extLst>
              <a:ext uri="{FF2B5EF4-FFF2-40B4-BE49-F238E27FC236}">
                <a16:creationId xmlns:a16="http://schemas.microsoft.com/office/drawing/2014/main" id="{FD04F33C-E278-23E9-0264-CAC95382EAA7}"/>
              </a:ext>
            </a:extLst>
          </p:cNvPr>
          <p:cNvSpPr/>
          <p:nvPr/>
        </p:nvSpPr>
        <p:spPr>
          <a:xfrm>
            <a:off x="320040" y="354770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1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CD231252-5FF8-456E-16C7-45AA245BE1D0}"/>
              </a:ext>
            </a:extLst>
          </p:cNvPr>
          <p:cNvSpPr/>
          <p:nvPr/>
        </p:nvSpPr>
        <p:spPr>
          <a:xfrm>
            <a:off x="5623560" y="354289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0961-854E-EC71-472E-591F094F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531578A-E3BB-09BC-59CF-EC4114E95786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E15AF7-DD8E-4136-92A0-152A05D7BDB9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C8A423E-6CBC-6285-B644-90A897F665EC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0B0059-B144-1151-0203-90392E471778}"/>
              </a:ext>
            </a:extLst>
          </p:cNvPr>
          <p:cNvSpPr/>
          <p:nvPr/>
        </p:nvSpPr>
        <p:spPr>
          <a:xfrm>
            <a:off x="320040" y="2295143"/>
            <a:ext cx="8503920" cy="1920240"/>
          </a:xfrm>
          <a:prstGeom prst="rect">
            <a:avLst/>
          </a:prstGeom>
          <a:solidFill>
            <a:srgbClr val="F0F8F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66C2FBC-8DBB-B1B7-A2AD-9B94ED408D68}"/>
              </a:ext>
            </a:extLst>
          </p:cNvPr>
          <p:cNvSpPr/>
          <p:nvPr/>
        </p:nvSpPr>
        <p:spPr>
          <a:xfrm>
            <a:off x="502920" y="2846066"/>
            <a:ext cx="5280661" cy="10477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overall performance, comparable with heuristics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small TD loss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action choice</a:t>
            </a: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12B23C1-5D4F-C8C2-C317-5795A8B3CE33}"/>
              </a:ext>
            </a:extLst>
          </p:cNvPr>
          <p:cNvSpPr/>
          <p:nvPr/>
        </p:nvSpPr>
        <p:spPr>
          <a:xfrm>
            <a:off x="5875019" y="3076948"/>
            <a:ext cx="2766061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genuinely learning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94BADAC-E89C-B452-949C-0D76C130C014}"/>
              </a:ext>
            </a:extLst>
          </p:cNvPr>
          <p:cNvCxnSpPr/>
          <p:nvPr/>
        </p:nvCxnSpPr>
        <p:spPr>
          <a:xfrm>
            <a:off x="5543550" y="3339842"/>
            <a:ext cx="533400" cy="0"/>
          </a:xfrm>
          <a:prstGeom prst="straightConnector1">
            <a:avLst/>
          </a:prstGeom>
          <a:ln w="28575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775E278A-6ECD-2CC0-04B6-232778E09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593258"/>
              </p:ext>
            </p:extLst>
          </p:nvPr>
        </p:nvGraphicFramePr>
        <p:xfrm>
          <a:off x="525782" y="1019557"/>
          <a:ext cx="51206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30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1105224779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3568728515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1156081108"/>
                    </a:ext>
                  </a:extLst>
                </a:gridCol>
              </a:tblGrid>
              <a:tr h="26455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sorted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by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distance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  <p:sp>
        <p:nvSpPr>
          <p:cNvPr id="19" name="Text 8">
            <a:extLst>
              <a:ext uri="{FF2B5EF4-FFF2-40B4-BE49-F238E27FC236}">
                <a16:creationId xmlns:a16="http://schemas.microsoft.com/office/drawing/2014/main" id="{D4C2B804-F085-8FB8-F74C-F4A8DE171C55}"/>
              </a:ext>
            </a:extLst>
          </p:cNvPr>
          <p:cNvSpPr/>
          <p:nvPr/>
        </p:nvSpPr>
        <p:spPr>
          <a:xfrm>
            <a:off x="6139814" y="1286256"/>
            <a:ext cx="2766061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learned is </a:t>
            </a:r>
          </a:p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the heuristic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96C43A4C-15D6-5B2A-E554-84B6475071B3}"/>
              </a:ext>
            </a:extLst>
          </p:cNvPr>
          <p:cNvCxnSpPr>
            <a:cxnSpLocks/>
          </p:cNvCxnSpPr>
          <p:nvPr/>
        </p:nvCxnSpPr>
        <p:spPr>
          <a:xfrm>
            <a:off x="5915023" y="1588016"/>
            <a:ext cx="262891" cy="0"/>
          </a:xfrm>
          <a:prstGeom prst="straightConnector1">
            <a:avLst/>
          </a:prstGeom>
          <a:ln w="28575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7">
            <a:extLst>
              <a:ext uri="{FF2B5EF4-FFF2-40B4-BE49-F238E27FC236}">
                <a16:creationId xmlns:a16="http://schemas.microsoft.com/office/drawing/2014/main" id="{F2CB1858-9EB4-4CC7-7CE9-9191E65A2805}"/>
              </a:ext>
            </a:extLst>
          </p:cNvPr>
          <p:cNvSpPr/>
          <p:nvPr/>
        </p:nvSpPr>
        <p:spPr>
          <a:xfrm>
            <a:off x="457200" y="243687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552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2960C30-3286-4C2A-B688-DEAE83675C09}"/>
              </a:ext>
            </a:extLst>
          </p:cNvPr>
          <p:cNvSpPr txBox="1"/>
          <p:nvPr/>
        </p:nvSpPr>
        <p:spPr>
          <a:xfrm>
            <a:off x="914400" y="1778000"/>
            <a:ext cx="7315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6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Section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EED710-32FB-4CE7-BC12-02102C1D2BFF}"/>
              </a:ext>
            </a:extLst>
          </p:cNvPr>
          <p:cNvSpPr txBox="1"/>
          <p:nvPr/>
        </p:nvSpPr>
        <p:spPr>
          <a:xfrm>
            <a:off x="1524000" y="2667000"/>
            <a:ext cx="609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Section subtitle or description</a:t>
            </a:r>
          </a:p>
        </p:txBody>
      </p:sp>
    </p:spTree>
    <p:extLst>
      <p:ext uri="{BB962C8B-B14F-4D97-AF65-F5344CB8AC3E}">
        <p14:creationId xmlns:p14="http://schemas.microsoft.com/office/powerpoint/2010/main" val="2358288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71D1CBA-50C0-4D94-BDFD-CE3626AAB801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22DD014-55CD-4034-B01B-03DB851B6C4D}"/>
              </a:ext>
            </a:extLst>
          </p:cNvPr>
          <p:cNvSpPr txBox="1"/>
          <p:nvPr/>
        </p:nvSpPr>
        <p:spPr>
          <a:xfrm>
            <a:off x="368300" y="914400"/>
            <a:ext cx="4318000" cy="349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Text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7C1C3B0-E67F-4D08-89AC-6A936CD5AAC7}"/>
              </a:ext>
            </a:extLst>
          </p:cNvPr>
          <p:cNvSpPr/>
          <p:nvPr/>
        </p:nvSpPr>
        <p:spPr>
          <a:xfrm>
            <a:off x="4889500" y="914400"/>
            <a:ext cx="3937000" cy="3492500"/>
          </a:xfrm>
          <a:prstGeom prst="roundRect">
            <a:avLst/>
          </a:prstGeom>
          <a:solidFill>
            <a:srgbClr val="F0F0F0"/>
          </a:solidFill>
          <a:ln w="12700" cap="flat" cmpd="sng" algn="ctr">
            <a:solidFill>
              <a:srgbClr val="D6E4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Image / Chart</a:t>
            </a:r>
          </a:p>
        </p:txBody>
      </p:sp>
    </p:spTree>
    <p:extLst>
      <p:ext uri="{BB962C8B-B14F-4D97-AF65-F5344CB8AC3E}">
        <p14:creationId xmlns:p14="http://schemas.microsoft.com/office/powerpoint/2010/main" val="399066596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ontespizi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41429A-0E20-4A37-B7F9-5B30E28FAAB5}">
  <we:reference id="wa200010001" version="1.0.0.1" store="it-IT" storeType="OMEX"/>
  <we:alternateReferences>
    <we:reference id="WA200010001" version="1.0.0.1" store="WA200010001" storeType="OMEX"/>
  </we:alternateReferences>
  <we:properties>
    <we:property name="claude.fileId" value="&quot;a0536ab6-2f2e-4d83-9a69-81edefdca9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2126</TotalTime>
  <Words>1241</Words>
  <Application>Microsoft Office PowerPoint</Application>
  <PresentationFormat>Presentazione su schermo (16:9)</PresentationFormat>
  <Paragraphs>322</Paragraphs>
  <Slides>23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standard slide</vt:lpstr>
      <vt:lpstr>Frontespizio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in Frontier-Based Autonomous Exploration</dc:title>
  <dc:subject>PptxGenJS Presentation</dc:subject>
  <dc:creator>Paolo Spallanzani</dc:creator>
  <cp:lastModifiedBy>PAOLO SPALLANZANI</cp:lastModifiedBy>
  <cp:revision>18</cp:revision>
  <dcterms:created xsi:type="dcterms:W3CDTF">2026-04-01T11:00:14Z</dcterms:created>
  <dcterms:modified xsi:type="dcterms:W3CDTF">2026-04-07T23:37:48Z</dcterms:modified>
</cp:coreProperties>
</file>