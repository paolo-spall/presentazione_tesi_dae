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6.jpg" ContentType="image/jpg"/>
  <Override PartName="/ppt/media/image7.jpg" ContentType="image/png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26"/>
  </p:notesMasterIdLst>
  <p:sldIdLst>
    <p:sldId id="266" r:id="rId3"/>
    <p:sldId id="269" r:id="rId4"/>
    <p:sldId id="273" r:id="rId5"/>
    <p:sldId id="259" r:id="rId6"/>
    <p:sldId id="271" r:id="rId7"/>
    <p:sldId id="261" r:id="rId8"/>
    <p:sldId id="267" r:id="rId9"/>
    <p:sldId id="272" r:id="rId10"/>
    <p:sldId id="262" r:id="rId11"/>
    <p:sldId id="274" r:id="rId12"/>
    <p:sldId id="275" r:id="rId13"/>
    <p:sldId id="276" r:id="rId14"/>
    <p:sldId id="265" r:id="rId15"/>
    <p:sldId id="285" r:id="rId16"/>
    <p:sldId id="292" r:id="rId17"/>
    <p:sldId id="279" r:id="rId18"/>
    <p:sldId id="293" r:id="rId19"/>
    <p:sldId id="294" r:id="rId20"/>
    <p:sldId id="268" r:id="rId21"/>
    <p:sldId id="295" r:id="rId22"/>
    <p:sldId id="296" r:id="rId23"/>
    <p:sldId id="264" r:id="rId24"/>
    <p:sldId id="263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1A2E4A"/>
    <a:srgbClr val="C8472C"/>
    <a:srgbClr val="D6E4F0"/>
    <a:srgbClr val="F5F7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83" autoAdjust="0"/>
    <p:restoredTop sz="94564" autoAdjust="0"/>
  </p:normalViewPr>
  <p:slideViewPr>
    <p:cSldViewPr snapToGrid="0" snapToObjects="1">
      <p:cViewPr varScale="1">
        <p:scale>
          <a:sx n="100" d="100"/>
          <a:sy n="100" d="100"/>
        </p:scale>
        <p:origin x="62" y="1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9F5B-54CF-BE03-B793-6DE0FF66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7B444-F33D-49A3-C84E-E4FD51274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FA38E-751A-625F-9153-EA8CDCCD5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91571A-96E9-530E-5617-D017077E9B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85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84BED-C2A0-5CCB-FE3C-DD1F58E44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4FE47-B95B-7967-C04F-9D00B189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2DB139-46FA-2E1C-7AB4-EC9976BE8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E3AD4-9236-2230-E11A-4515FCAA92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19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2100B-E36D-2AD9-E4A2-FE9FCAD5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422AF-4688-128E-CA5D-EAB26F521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BA5EA-2CD4-AED6-CAEB-9FED66079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0E31A-2C70-98DD-83D9-274BDA605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91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34467" y="4616076"/>
            <a:ext cx="1307353" cy="470647"/>
          </a:xfrm>
          <a:prstGeom prst="rect">
            <a:avLst/>
          </a:prstGeom>
        </p:spPr>
      </p:pic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685800" y="4851399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5" name="Footer Right">
            <a:extLst>
              <a:ext uri="{FF2B5EF4-FFF2-40B4-BE49-F238E27FC236}">
                <a16:creationId xmlns:a16="http://schemas.microsoft.com/office/drawing/2014/main" id="{EF21B7CF-5BA7-ABF9-4C5C-74174F8E0668}"/>
              </a:ext>
            </a:extLst>
          </p:cNvPr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u="sng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42976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into autonomous exploration?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140273"/>
            <a:ext cx="8229600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365760" y="3367363"/>
            <a:ext cx="8458200" cy="114034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756525" y="3879832"/>
            <a:ext cx="7722390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the possibility of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integrating learning-based methods with classical ones</a:t>
            </a:r>
            <a:endParaRPr lang="en-US" b="1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686512" y="3371651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5734-CF37-87E8-1710-B49D7F31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088FCE5-8752-2BE9-019C-D83E290F36B2}"/>
              </a:ext>
            </a:extLst>
          </p:cNvPr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834930-9CDC-649F-A5D9-6BFF89C9FD3F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594123-9EB4-0214-1146-B0034A104D25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B3CE1F0-3C1B-BB0F-D636-C66DC2195FE1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EEECED5-C202-9C0F-88A5-C92E3606F903}"/>
              </a:ext>
            </a:extLst>
          </p:cNvPr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9242DBA-A9A1-DF3B-26A2-DACFDF1392A9}"/>
              </a:ext>
            </a:extLst>
          </p:cNvPr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autonomous exploration?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B0FB926-2341-946C-D166-ACBA004280B9}"/>
              </a:ext>
            </a:extLst>
          </p:cNvPr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learning-based method be </a:t>
            </a: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classical ones? 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8F639CD3-34C8-D5DC-F5C8-88F37F8FBCD9}"/>
              </a:ext>
            </a:extLst>
          </p:cNvPr>
          <p:cNvSpPr/>
          <p:nvPr/>
        </p:nvSpPr>
        <p:spPr>
          <a:xfrm>
            <a:off x="365760" y="3565705"/>
            <a:ext cx="8412480" cy="800555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A7CCC860-9210-70E3-C27A-87D315605618}"/>
              </a:ext>
            </a:extLst>
          </p:cNvPr>
          <p:cNvSpPr/>
          <p:nvPr/>
        </p:nvSpPr>
        <p:spPr>
          <a:xfrm>
            <a:off x="457200" y="3565705"/>
            <a:ext cx="8229600" cy="750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for the investigation of this possibility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500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28872" y="3814765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771773" y="3660872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finding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apparatous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(free) and unknown cells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4747137" y="785808"/>
            <a:ext cx="3833300" cy="163591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B5838F-3F80-CDC3-ECA0-7532233B7FE2}"/>
              </a:ext>
            </a:extLst>
          </p:cNvPr>
          <p:cNvSpPr txBox="1"/>
          <p:nvPr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412B2-2128-3929-4281-1E0C8C4E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844656A-11D0-0899-E1EE-08CAD68A483B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C72F1A-60D1-A8D6-3402-F45F16CEE18F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3E816355-8EC3-9299-675D-00F44FE50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33500" y="1428750"/>
            <a:ext cx="6477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1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365760" y="309324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566168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800600" y="309324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459008"/>
            <a:ext cx="37490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05727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25536" y="3918506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04288" y="3764903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obstacle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</a:t>
            </a:r>
            <a:endParaRPr lang="en-US" sz="1400" b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a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believes map</a:t>
            </a:r>
            <a:endParaRPr lang="en-US" sz="1400" b="1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3040282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349068" y="890646"/>
            <a:ext cx="4095636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533266" y="1257987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Discriminate frontier cells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theme into cluster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cluster’s centroids 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533266" y="901421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detection system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4699296" y="890647"/>
            <a:ext cx="4095636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4842557" y="1257987"/>
            <a:ext cx="3768177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 obstacle free path to the target position (A* algorithm)</a:t>
            </a: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4756198" y="888443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avoidance path planner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0650657-3A5E-C657-AF7E-7008E89C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4" y="2445206"/>
            <a:ext cx="2091528" cy="20824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15788E4-AC38-615A-0D66-D901C167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7572" y="2340366"/>
            <a:ext cx="2098145" cy="218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18F7C838-AC57-F767-DC7C-08DC98A61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4954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05F464F0-19F3-6264-96AD-9547261B3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155" y="1058035"/>
            <a:ext cx="2568188" cy="473204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71536"/>
            <a:ext cx="4114800" cy="234314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172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 (What it sees)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3335841"/>
            <a:ext cx="4114800" cy="1135856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 (What it does)</a:t>
            </a:r>
            <a:endParaRPr lang="en-US" sz="1600" dirty="0">
              <a:solidFill>
                <a:srgbClr val="1A2E4A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373817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A151AF7E-644D-62B9-0E14-203A8F678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631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7FE5F316-F47F-26F1-BE4E-60B56DC9D70E}"/>
              </a:ext>
            </a:extLst>
          </p:cNvPr>
          <p:cNvCxnSpPr>
            <a:cxnSpLocks/>
          </p:cNvCxnSpPr>
          <p:nvPr/>
        </p:nvCxnSpPr>
        <p:spPr>
          <a:xfrm flipH="1" flipV="1">
            <a:off x="5324951" y="1449323"/>
            <a:ext cx="1788973" cy="1915954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A6FFBE33-21E2-E712-D5F3-2AF5260BD7AF}"/>
              </a:ext>
            </a:extLst>
          </p:cNvPr>
          <p:cNvCxnSpPr>
            <a:cxnSpLocks/>
          </p:cNvCxnSpPr>
          <p:nvPr/>
        </p:nvCxnSpPr>
        <p:spPr>
          <a:xfrm flipH="1" flipV="1">
            <a:off x="5803583" y="1449323"/>
            <a:ext cx="2679084" cy="2165415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2329471A-AEDD-D01B-190F-017C34CF4038}"/>
              </a:ext>
            </a:extLst>
          </p:cNvPr>
          <p:cNvSpPr/>
          <p:nvPr/>
        </p:nvSpPr>
        <p:spPr>
          <a:xfrm>
            <a:off x="5872166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B453163-D985-04CF-1A72-31C4C666F7AD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359019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6E994413-5923-858F-30CD-BA0AF7218074}"/>
              </a:ext>
            </a:extLst>
          </p:cNvPr>
          <p:cNvCxnSpPr>
            <a:cxnSpLocks/>
          </p:cNvCxnSpPr>
          <p:nvPr/>
        </p:nvCxnSpPr>
        <p:spPr>
          <a:xfrm flipH="1" flipV="1">
            <a:off x="6287153" y="1456943"/>
            <a:ext cx="1637973" cy="668799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5E6D407A-4C5B-571F-1AA3-4B3D850C2177}"/>
              </a:ext>
            </a:extLst>
          </p:cNvPr>
          <p:cNvSpPr/>
          <p:nvPr/>
        </p:nvSpPr>
        <p:spPr>
          <a:xfrm>
            <a:off x="5091615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0B2E10E4-4556-1B9A-DDE9-627BA9E9E8A1}"/>
              </a:ext>
            </a:extLst>
          </p:cNvPr>
          <p:cNvSpPr/>
          <p:nvPr/>
        </p:nvSpPr>
        <p:spPr>
          <a:xfrm>
            <a:off x="5026961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FDA82-E5B2-8A17-0988-B55897B81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651F61AD-8145-78B9-3D0D-B73F4C3E38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4954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8203ED47-F708-04CE-FAAE-5F68B768A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155" y="1058035"/>
            <a:ext cx="2568188" cy="473204"/>
          </a:xfrm>
          <a:prstGeom prst="rect">
            <a:avLst/>
          </a:prstGeom>
        </p:spPr>
      </p:pic>
      <p:sp>
        <p:nvSpPr>
          <p:cNvPr id="4" name="Shape 2">
            <a:extLst>
              <a:ext uri="{FF2B5EF4-FFF2-40B4-BE49-F238E27FC236}">
                <a16:creationId xmlns:a16="http://schemas.microsoft.com/office/drawing/2014/main" id="{7D993B8F-E60C-43A4-D72B-8E00E920EFAE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E80885-34DB-F683-87EF-65FA2604D688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CC6E8B2-A757-DF89-DE78-A304BB067030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3523A67-0DD8-0DE6-D041-50B79BC96453}"/>
              </a:ext>
            </a:extLst>
          </p:cNvPr>
          <p:cNvSpPr/>
          <p:nvPr/>
        </p:nvSpPr>
        <p:spPr>
          <a:xfrm>
            <a:off x="320040" y="871536"/>
            <a:ext cx="4114800" cy="234314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B47BD97-E5B2-9D22-CE78-19AC701CE5EA}"/>
              </a:ext>
            </a:extLst>
          </p:cNvPr>
          <p:cNvSpPr/>
          <p:nvPr/>
        </p:nvSpPr>
        <p:spPr>
          <a:xfrm>
            <a:off x="320040" y="871536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1494D87-A04D-C781-5C41-55810106ED6F}"/>
              </a:ext>
            </a:extLst>
          </p:cNvPr>
          <p:cNvSpPr/>
          <p:nvPr/>
        </p:nvSpPr>
        <p:spPr>
          <a:xfrm>
            <a:off x="457200" y="9172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– What it sees</a:t>
            </a:r>
            <a:endParaRPr lang="en-US" sz="13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A839DE7-48E3-B745-3A84-A87D2C6ACE53}"/>
              </a:ext>
            </a:extLst>
          </p:cNvPr>
          <p:cNvSpPr/>
          <p:nvPr/>
        </p:nvSpPr>
        <p:spPr>
          <a:xfrm>
            <a:off x="457200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6FCCD1D-EBF2-5E97-BDAC-817B01C405C3}"/>
              </a:ext>
            </a:extLst>
          </p:cNvPr>
          <p:cNvSpPr/>
          <p:nvPr/>
        </p:nvSpPr>
        <p:spPr>
          <a:xfrm>
            <a:off x="320040" y="3335841"/>
            <a:ext cx="4114800" cy="1135856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9A0909F-E430-E05C-0431-3548162CAF71}"/>
              </a:ext>
            </a:extLst>
          </p:cNvPr>
          <p:cNvSpPr/>
          <p:nvPr/>
        </p:nvSpPr>
        <p:spPr>
          <a:xfrm>
            <a:off x="320040" y="3335841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C96F1A3-2FB4-7297-11A2-7D90F9D0F833}"/>
              </a:ext>
            </a:extLst>
          </p:cNvPr>
          <p:cNvSpPr/>
          <p:nvPr/>
        </p:nvSpPr>
        <p:spPr>
          <a:xfrm>
            <a:off x="457200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– What it does</a:t>
            </a:r>
            <a:endParaRPr lang="en-US" sz="13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20B0190-C776-20AA-B006-BEC49DCB4B27}"/>
              </a:ext>
            </a:extLst>
          </p:cNvPr>
          <p:cNvSpPr/>
          <p:nvPr/>
        </p:nvSpPr>
        <p:spPr>
          <a:xfrm>
            <a:off x="457200" y="373817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32F57AD3-8109-CC9F-E20E-843867708B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631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A18B465B-E187-9D59-E8EF-68E304405775}"/>
              </a:ext>
            </a:extLst>
          </p:cNvPr>
          <p:cNvCxnSpPr>
            <a:cxnSpLocks/>
          </p:cNvCxnSpPr>
          <p:nvPr/>
        </p:nvCxnSpPr>
        <p:spPr>
          <a:xfrm flipH="1" flipV="1">
            <a:off x="5324951" y="1449323"/>
            <a:ext cx="1788973" cy="1915954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57FF8089-E3AF-CAA1-A3EF-9A9A161C5D6C}"/>
              </a:ext>
            </a:extLst>
          </p:cNvPr>
          <p:cNvCxnSpPr>
            <a:cxnSpLocks/>
          </p:cNvCxnSpPr>
          <p:nvPr/>
        </p:nvCxnSpPr>
        <p:spPr>
          <a:xfrm flipH="1" flipV="1">
            <a:off x="5803583" y="1449323"/>
            <a:ext cx="2679084" cy="2165415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DC2005E5-1175-832A-C745-429B1E66F5EB}"/>
              </a:ext>
            </a:extLst>
          </p:cNvPr>
          <p:cNvSpPr/>
          <p:nvPr/>
        </p:nvSpPr>
        <p:spPr>
          <a:xfrm>
            <a:off x="5872166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CF4CE0D0-C321-1751-C9EF-D96C24DF69E5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359019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26F6E763-DD45-CE2A-326B-11450D1AA4E1}"/>
              </a:ext>
            </a:extLst>
          </p:cNvPr>
          <p:cNvCxnSpPr>
            <a:cxnSpLocks/>
          </p:cNvCxnSpPr>
          <p:nvPr/>
        </p:nvCxnSpPr>
        <p:spPr>
          <a:xfrm flipH="1" flipV="1">
            <a:off x="6287153" y="1456943"/>
            <a:ext cx="1637973" cy="668799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D56634B4-DD1F-AEDB-AE41-235B866DE38E}"/>
              </a:ext>
            </a:extLst>
          </p:cNvPr>
          <p:cNvSpPr/>
          <p:nvPr/>
        </p:nvSpPr>
        <p:spPr>
          <a:xfrm>
            <a:off x="5091615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9DB2A96F-B647-4E24-3F7F-D2B6ECAA253D}"/>
              </a:ext>
            </a:extLst>
          </p:cNvPr>
          <p:cNvSpPr/>
          <p:nvPr/>
        </p:nvSpPr>
        <p:spPr>
          <a:xfrm>
            <a:off x="5026961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  <p:extLst>
      <p:ext uri="{BB962C8B-B14F-4D97-AF65-F5344CB8AC3E}">
        <p14:creationId xmlns:p14="http://schemas.microsoft.com/office/powerpoint/2010/main" val="1093364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317500" y="8890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206" name="Rew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927027"/>
              </p:ext>
            </p:extLst>
          </p:nvPr>
        </p:nvGraphicFramePr>
        <p:xfrm>
          <a:off x="617220" y="1347722"/>
          <a:ext cx="7714504" cy="301752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400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505">
                  <a:extLst>
                    <a:ext uri="{9D8B030D-6E8A-4147-A177-3AD203B41FA5}">
                      <a16:colId xmlns:a16="http://schemas.microsoft.com/office/drawing/2014/main" val="3129147511"/>
                    </a:ext>
                  </a:extLst>
                </a:gridCol>
                <a:gridCol w="184535">
                  <a:extLst>
                    <a:ext uri="{9D8B030D-6E8A-4147-A177-3AD203B41FA5}">
                      <a16:colId xmlns:a16="http://schemas.microsoft.com/office/drawing/2014/main" val="3892954019"/>
                    </a:ext>
                  </a:extLst>
                </a:gridCol>
                <a:gridCol w="1211579">
                  <a:extLst>
                    <a:ext uri="{9D8B030D-6E8A-4147-A177-3AD203B41FA5}">
                      <a16:colId xmlns:a16="http://schemas.microsoft.com/office/drawing/2014/main" val="536005186"/>
                    </a:ext>
                  </a:extLst>
                </a:gridCol>
                <a:gridCol w="1199032">
                  <a:extLst>
                    <a:ext uri="{9D8B030D-6E8A-4147-A177-3AD203B41FA5}">
                      <a16:colId xmlns:a16="http://schemas.microsoft.com/office/drawing/2014/main" val="1421492333"/>
                    </a:ext>
                  </a:extLst>
                </a:gridCol>
                <a:gridCol w="1440553">
                  <a:extLst>
                    <a:ext uri="{9D8B030D-6E8A-4147-A177-3AD203B41FA5}">
                      <a16:colId xmlns:a16="http://schemas.microsoft.com/office/drawing/2014/main" val="2806643730"/>
                    </a:ext>
                  </a:extLst>
                </a:gridCol>
              </a:tblGrid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280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Action selects padding slot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new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Some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proportional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537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Exploration ≥ threshold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  <a:endParaRPr lang="en-US" sz="1100" dirty="0">
                        <a:solidFill>
                          <a:srgbClr val="2E7D3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  <a:endParaRPr lang="it-IT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Max steps exceeded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progress for ≥ 20 steps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intermediate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8280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Oscillating behavior detected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08" name="Footnote"/>
          <p:cNvSpPr/>
          <p:nvPr/>
        </p:nvSpPr>
        <p:spPr>
          <a:xfrm>
            <a:off x="3251724" y="4438388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</a:rPr>
              <a:t>Entries marked </a:t>
            </a:r>
            <a:r>
              <a:rPr lang="en-US" sz="900" b="1" dirty="0">
                <a:solidFill>
                  <a:srgbClr val="4472C4"/>
                </a:solidFill>
                <a:latin typeface="Calibri" pitchFamily="34" charset="0"/>
              </a:rPr>
              <a:t>= R1</a:t>
            </a:r>
            <a:r>
              <a:rPr lang="en-US" sz="900" dirty="0">
                <a:solidFill>
                  <a:srgbClr val="888888"/>
                </a:solidFill>
                <a:latin typeface="Calibri" pitchFamily="34" charset="0"/>
              </a:rPr>
              <a:t> are identical to Reward 1.</a:t>
            </a:r>
          </a:p>
        </p:txBody>
      </p:sp>
    </p:spTree>
    <p:extLst>
      <p:ext uri="{BB962C8B-B14F-4D97-AF65-F5344CB8AC3E}">
        <p14:creationId xmlns:p14="http://schemas.microsoft.com/office/powerpoint/2010/main" val="39915589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Formulations Comparison</a:t>
            </a:r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317500" y="8890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400" name="RewardTableV2"/>
          <p:cNvGraphicFramePr>
            <a:graphicFrameLocks noGrp="1"/>
          </p:cNvGraphicFramePr>
          <p:nvPr/>
        </p:nvGraphicFramePr>
        <p:xfrm>
          <a:off x="406400" y="1320800"/>
          <a:ext cx="8293100" cy="325628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65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end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R1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R2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Action selects padding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No new cells explored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Some cells explored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interm.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Exploration ≥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Max steps exceeded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No progress for ≥ 20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interm.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Oscillating behavior detected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00656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Padding</a:t>
            </a:r>
          </a:p>
        </p:txBody>
      </p:sp>
      <p:cxnSp>
        <p:nvCxnSpPr>
          <p:cNvPr id="1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103" name="CardBg"/>
          <p:cNvSpPr/>
          <p:nvPr/>
        </p:nvSpPr>
        <p:spPr>
          <a:xfrm>
            <a:off x="317500" y="952500"/>
            <a:ext cx="8509000" cy="3429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D6E4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4" name="CardHeader"/>
          <p:cNvSpPr/>
          <p:nvPr/>
        </p:nvSpPr>
        <p:spPr>
          <a:xfrm>
            <a:off x="317500" y="9525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1A2E4A"/>
          </a:solidFill>
          <a:ln>
            <a:noFill/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Observation Vector</a:t>
            </a:r>
          </a:p>
        </p:txBody>
      </p:sp>
      <p:sp>
        <p:nvSpPr>
          <p:cNvPr id="105" name="Caption"/>
          <p:cNvSpPr/>
          <p:nvPr/>
        </p:nvSpPr>
        <p:spPr>
          <a:xfrm>
            <a:off x="508000" y="1447800"/>
            <a:ext cx="812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with 3 active clusters and 3 padding slots (N = 6):</a:t>
            </a:r>
          </a:p>
        </p:txBody>
      </p:sp>
      <p:graphicFrame>
        <p:nvGraphicFramePr>
          <p:cNvPr id="106" name="Table1"/>
          <p:cNvGraphicFramePr>
            <a:graphicFrameLocks noGrp="1"/>
          </p:cNvGraphicFramePr>
          <p:nvPr/>
        </p:nvGraphicFramePr>
        <p:xfrm>
          <a:off x="825500" y="1828800"/>
          <a:ext cx="7467600" cy="9652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24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x₁, y₁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x₂, y₂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x₃, y₃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8" name="BracketActive"/>
          <p:cNvSpPr/>
          <p:nvPr/>
        </p:nvSpPr>
        <p:spPr>
          <a:xfrm>
            <a:off x="825500" y="2819400"/>
            <a:ext cx="3733800" cy="177800"/>
          </a:xfrm>
          <a:prstGeom prst="bracketPair">
            <a:avLst>
              <a:gd name="adj" fmla="val 30000"/>
            </a:avLst>
          </a:prstGeom>
          <a:noFill/>
          <a:ln w="12700">
            <a:solidFill>
              <a:srgbClr val="4472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9" name="BracketPad"/>
          <p:cNvSpPr/>
          <p:nvPr/>
        </p:nvSpPr>
        <p:spPr>
          <a:xfrm>
            <a:off x="4559300" y="2819400"/>
            <a:ext cx="3733800" cy="177800"/>
          </a:xfrm>
          <a:prstGeom prst="bracketPair">
            <a:avLst>
              <a:gd name="adj" fmla="val 30000"/>
            </a:avLst>
          </a:prstGeom>
          <a:noFill/>
          <a:ln w="12700">
            <a:solidFill>
              <a:srgbClr val="A5A5A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LabelActive"/>
          <p:cNvSpPr/>
          <p:nvPr/>
        </p:nvSpPr>
        <p:spPr>
          <a:xfrm>
            <a:off x="825500" y="2997200"/>
            <a:ext cx="3733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dirty="0">
                <a:solidFill>
                  <a:srgbClr val="4472C4"/>
                </a:solidFill>
                <a:latin typeface="Calibri" pitchFamily="34" charset="0"/>
              </a:rPr>
              <a:t>Active clusters</a:t>
            </a:r>
          </a:p>
        </p:txBody>
      </p:sp>
      <p:sp>
        <p:nvSpPr>
          <p:cNvPr id="111" name="LabelPad"/>
          <p:cNvSpPr/>
          <p:nvPr/>
        </p:nvSpPr>
        <p:spPr>
          <a:xfrm>
            <a:off x="4559300" y="2997200"/>
            <a:ext cx="3733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dirty="0">
                <a:solidFill>
                  <a:srgbClr val="A5A5A5"/>
                </a:solidFill>
                <a:latin typeface="Calibri" pitchFamily="34" charset="0"/>
              </a:rPr>
              <a:t>Padding (zero-filled)</a:t>
            </a:r>
          </a:p>
        </p:txBody>
      </p:sp>
      <p:sp>
        <p:nvSpPr>
          <p:cNvPr id="107" name="ExplText"/>
          <p:cNvSpPr/>
          <p:nvPr/>
        </p:nvSpPr>
        <p:spPr>
          <a:xfrm>
            <a:off x="508000" y="3327400"/>
            <a:ext cx="812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clusters provide real frontier data </a:t>
            </a:r>
            <a:r>
              <a:rPr lang="en-US" sz="1300" dirty="0">
                <a:solidFill>
                  <a:srgbClr val="4472C4"/>
                </a:solidFill>
                <a:latin typeface="Calibri" pitchFamily="34" charset="0"/>
              </a:rPr>
              <a:t>[ x, y ]</a:t>
            </a:r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slots are zero-filled </a:t>
            </a:r>
            <a:r>
              <a:rPr lang="en-US" sz="1300" dirty="0">
                <a:solidFill>
                  <a:srgbClr val="A5A5A5"/>
                </a:solidFill>
                <a:latin typeface="Calibri" pitchFamily="34" charset="0"/>
              </a:rPr>
              <a:t>[ 0, 0 ]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</a:rPr>
              <a:t> to maintain a fixed-length vector for the DNN input</a:t>
            </a:r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consistent observation size regardless of the number of active clusters</a:t>
            </a:r>
          </a:p>
        </p:txBody>
      </p:sp>
    </p:spTree>
    <p:extLst>
      <p:ext uri="{BB962C8B-B14F-4D97-AF65-F5344CB8AC3E}">
        <p14:creationId xmlns:p14="http://schemas.microsoft.com/office/powerpoint/2010/main" val="2975609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1" y="914400"/>
            <a:ext cx="4346786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3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 t="2820" b="2625"/>
          <a:stretch>
            <a:fillRect/>
          </a:stretch>
        </p:blipFill>
        <p:spPr>
          <a:xfrm>
            <a:off x="4537813" y="833629"/>
            <a:ext cx="4450830" cy="39822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364992"/>
            <a:ext cx="4206240" cy="106222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337560"/>
            <a:ext cx="397764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greedy distance policy (always selects the nearest frontier centroid). Evaluation over 100 independent test episodes per map size.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 · 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relative cent. position – sorted by distance   ·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 b="2756"/>
          <a:stretch>
            <a:fillRect/>
          </a:stretch>
        </p:blipFill>
        <p:spPr>
          <a:xfrm>
            <a:off x="320040" y="1463040"/>
            <a:ext cx="5212080" cy="22585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2160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 b="2756"/>
          <a:stretch>
            <a:fillRect/>
          </a:stretch>
        </p:blipFill>
        <p:spPr>
          <a:xfrm>
            <a:off x="5623560" y="1463040"/>
            <a:ext cx="3200400" cy="22585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6713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20040" y="4037076"/>
            <a:ext cx="8503920" cy="71323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Reward hacking: agent always selects action 0. Root cause — sorted observations make the padding penalty trivially exploitable.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targeted modifications resolved the degenerate behavior: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observations → padding always at end → action 0 always maps to the nearest cluster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truncation penalty → always-picking-action-0 is the locally optimal (degenerate) strategy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Applied → Model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→ all actions equally accessible at each step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 → agent no longer exploits padding as a reward shortcut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absolute reward → clearer and more stable exploration signal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(absolute)  ·  Unsorted observations  ·  Soft padding penalty  ·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monotone convergence to ~13</a:t>
            </a:r>
            <a:endParaRPr lang="en-US" sz="900" dirty="0"/>
          </a:p>
        </p:txBody>
      </p:sp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stable, no explosion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First non-degenerate policy. Reward converges steadily; loss remains bounded throughout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0961-854E-EC71-472E-591F094FC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C25D64-AA0A-F76A-77D5-902D4F820AA1}"/>
              </a:ext>
            </a:extLst>
          </p:cNvPr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7B3AAB9-0524-4947-5294-2AC1B1486F5A}"/>
              </a:ext>
            </a:extLst>
          </p:cNvPr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31578A-E3BB-09BC-59CF-EC4114E95786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E15AF7-DD8E-4136-92A0-152A05D7BDB9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C8A423E-6CBC-6285-B644-90A897F665EC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9520484-D357-71E8-EB37-D50B0C5D831F}"/>
              </a:ext>
            </a:extLst>
          </p:cNvPr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targeted modifications resolved the degenerate behavior: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8930C08-0B3A-123C-723E-DBE522A396B0}"/>
              </a:ext>
            </a:extLst>
          </p:cNvPr>
          <p:cNvSpPr/>
          <p:nvPr/>
        </p:nvSpPr>
        <p:spPr>
          <a:xfrm>
            <a:off x="320040" y="1298448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20C0113-5CE2-FAFD-8854-EDF087B75A69}"/>
              </a:ext>
            </a:extLst>
          </p:cNvPr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891189F-9C0E-074F-8E3E-3763B8044502}"/>
              </a:ext>
            </a:extLst>
          </p:cNvPr>
          <p:cNvSpPr/>
          <p:nvPr/>
        </p:nvSpPr>
        <p:spPr>
          <a:xfrm>
            <a:off x="502920" y="1664208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observations → padding always at end → action 0 always maps to the nearest cluster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truncation penalty → always-picking-action-0 is the locally optimal (degenerate) strategy</a:t>
            </a:r>
            <a:endParaRPr lang="en-US" sz="13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F0B0059-B144-1151-0203-90392E471778}"/>
              </a:ext>
            </a:extLst>
          </p:cNvPr>
          <p:cNvSpPr/>
          <p:nvPr/>
        </p:nvSpPr>
        <p:spPr>
          <a:xfrm>
            <a:off x="320040" y="2834640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7280185-EC1D-11BF-C42B-5CB34E3FAB5E}"/>
              </a:ext>
            </a:extLst>
          </p:cNvPr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Applied → Model 2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1ECC9E1-AAE7-FBF9-D794-D8AC2EEA2BAE}"/>
              </a:ext>
            </a:extLst>
          </p:cNvPr>
          <p:cNvSpPr/>
          <p:nvPr/>
        </p:nvSpPr>
        <p:spPr>
          <a:xfrm>
            <a:off x="502920" y="3218688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→ all actions equally accessible at each step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 → agent no longer exploits padding as a reward shortcut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absolute reward → clearer and more stable exploration signal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098552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1842</TotalTime>
  <Words>1321</Words>
  <Application>Microsoft Office PowerPoint</Application>
  <PresentationFormat>Presentazione su schermo (16:9)</PresentationFormat>
  <Paragraphs>275</Paragraphs>
  <Slides>23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23</vt:i4>
      </vt:variant>
    </vt:vector>
  </HeadingPairs>
  <TitlesOfParts>
    <vt:vector size="28" baseType="lpstr">
      <vt:lpstr>Arial</vt:lpstr>
      <vt:lpstr>Calibri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17</cp:revision>
  <dcterms:created xsi:type="dcterms:W3CDTF">2026-04-01T11:00:14Z</dcterms:created>
  <dcterms:modified xsi:type="dcterms:W3CDTF">2026-04-07T18:54:36Z</dcterms:modified>
</cp:coreProperties>
</file>