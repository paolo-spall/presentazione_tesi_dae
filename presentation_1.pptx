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7"/>
  </p:notesMasterIdLst>
  <p:sldIdLst>
    <p:sldId id="266" r:id="rId3"/>
    <p:sldId id="269" r:id="rId4"/>
    <p:sldId id="273" r:id="rId5"/>
    <p:sldId id="259" r:id="rId6"/>
    <p:sldId id="271" r:id="rId7"/>
    <p:sldId id="261" r:id="rId8"/>
    <p:sldId id="298" r:id="rId9"/>
    <p:sldId id="267" r:id="rId10"/>
    <p:sldId id="272" r:id="rId11"/>
    <p:sldId id="262" r:id="rId12"/>
    <p:sldId id="274" r:id="rId13"/>
    <p:sldId id="275" r:id="rId14"/>
    <p:sldId id="276" r:id="rId15"/>
    <p:sldId id="265" r:id="rId16"/>
    <p:sldId id="285" r:id="rId17"/>
    <p:sldId id="292" r:id="rId18"/>
    <p:sldId id="279" r:id="rId19"/>
    <p:sldId id="293" r:id="rId20"/>
    <p:sldId id="297" r:id="rId21"/>
    <p:sldId id="268" r:id="rId22"/>
    <p:sldId id="295" r:id="rId23"/>
    <p:sldId id="296" r:id="rId24"/>
    <p:sldId id="264" r:id="rId25"/>
    <p:sldId id="263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A"/>
    <a:srgbClr val="4CAF50"/>
    <a:srgbClr val="C00000"/>
    <a:srgbClr val="1A2E4A"/>
    <a:srgbClr val="C8472C"/>
    <a:srgbClr val="D6E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84BED-C2A0-5CCB-FE3C-DD1F58E4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4FE47-B95B-7967-C04F-9D00B189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DB139-46FA-2E1C-7AB4-EC9976BE8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E3AD4-9236-2230-E11A-4515FCAA92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19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80055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565705"/>
            <a:ext cx="8229600" cy="75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577717" y="-180824"/>
            <a:ext cx="3109083" cy="1326848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57199" y="1280160"/>
                <a:ext cx="6215063" cy="11887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agent sequentially observe interact with an environment modifying it and receives a scalar 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Goal: learn to take the best action </a:t>
                </a:r>
                <a:r>
                  <a:rPr lang="en-US" sz="12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cumulative reward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Action-Value function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Q-learning estimates Q(s,a) via Bellman updates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</p:txBody>
          </p:sp>
        </mc:Choice>
        <mc:Fallback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1280160"/>
                <a:ext cx="6215063" cy="1188720"/>
              </a:xfrm>
              <a:prstGeom prst="rect">
                <a:avLst/>
              </a:prstGeom>
              <a:blipFill>
                <a:blip r:embed="rId3"/>
                <a:stretch>
                  <a:fillRect l="-196" t="-1026" b="-165641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magine 5">
            <a:extLst>
              <a:ext uri="{FF2B5EF4-FFF2-40B4-BE49-F238E27FC236}">
                <a16:creationId xmlns:a16="http://schemas.microsoft.com/office/drawing/2014/main" id="{4E32731E-DDDE-5531-F7C6-C0DF9565C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091" y="3460957"/>
            <a:ext cx="2584709" cy="332233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2719" y="3296364"/>
            <a:ext cx="2121412" cy="329185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7475" y="2514600"/>
            <a:ext cx="3742952" cy="33223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5049" y="2304105"/>
            <a:ext cx="2141158" cy="53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199" y="1280160"/>
            <a:ext cx="6193631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 allow to iteratively estimate the Q-function </a:t>
            </a:r>
            <a:r>
              <a:rPr lang="en-US" sz="13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experience 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3BD7A84-C31E-D5A7-8D30-AA9BC8AF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057" y="3303067"/>
            <a:ext cx="2584709" cy="332233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7202D62-A49C-8A36-818B-AC70B2D24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3957783"/>
            <a:ext cx="2121412" cy="329185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2D8C3D5B-7436-BAE8-AE31-166E0D486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1770" y="2763520"/>
            <a:ext cx="3742952" cy="33223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3B342072-8897-4293-CDCE-A4256A01E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2205" y="2320893"/>
            <a:ext cx="1402083" cy="350521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9396" y="2541225"/>
            <a:ext cx="6334125" cy="1581150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5142" y="3075715"/>
            <a:ext cx="6334125" cy="158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45900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391850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76490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349068" y="890646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533266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533266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4699296" y="890647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4842557" y="1257987"/>
            <a:ext cx="3768177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4756198" y="888443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72" y="2340366"/>
            <a:ext cx="2098145" cy="218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FDA82-E5B2-8A17-0988-B55897B8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651F61AD-8145-78B9-3D0D-B73F4C3E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8203ED47-F708-04CE-FAAE-5F68B768A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7D993B8F-E60C-43A4-D72B-8E00E920EFAE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E80885-34DB-F683-87EF-65FA2604D688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CC6E8B2-A757-DF89-DE78-A304BB067030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3523A67-0DD8-0DE6-D041-50B79BC96453}"/>
              </a:ext>
            </a:extLst>
          </p:cNvPr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B47BD97-E5B2-9D22-CE78-19AC701CE5EA}"/>
              </a:ext>
            </a:extLst>
          </p:cNvPr>
          <p:cNvSpPr/>
          <p:nvPr/>
        </p:nvSpPr>
        <p:spPr>
          <a:xfrm>
            <a:off x="320040" y="871536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1494D87-A04D-C781-5C41-55810106ED6F}"/>
              </a:ext>
            </a:extLst>
          </p:cNvPr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– What it sees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A839DE7-48E3-B745-3A84-A87D2C6ACE53}"/>
              </a:ext>
            </a:extLst>
          </p:cNvPr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6FCCD1D-EBF2-5E97-BDAC-817B01C405C3}"/>
              </a:ext>
            </a:extLst>
          </p:cNvPr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9A0909F-E430-E05C-0431-3548162CAF71}"/>
              </a:ext>
            </a:extLst>
          </p:cNvPr>
          <p:cNvSpPr/>
          <p:nvPr/>
        </p:nvSpPr>
        <p:spPr>
          <a:xfrm>
            <a:off x="320040" y="3335841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96F1A3-2FB4-7297-11A2-7D90F9D0F833}"/>
              </a:ext>
            </a:extLst>
          </p:cNvPr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– What it does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20B0190-C776-20AA-B006-BEC49DCB4B27}"/>
              </a:ext>
            </a:extLst>
          </p:cNvPr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2F57AD3-8109-CC9F-E20E-843867708B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A18B465B-E187-9D59-E8EF-68E304405775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57FF8089-E3AF-CAA1-A3EF-9A9A161C5D6C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DC2005E5-1175-832A-C745-429B1E66F5EB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CF4CE0D0-C321-1751-C9EF-D96C24DF69E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26F6E763-DD45-CE2A-326B-11450D1AA4E1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D56634B4-DD1F-AEDB-AE41-235B866DE38E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9DB2A96F-B647-4E24-3F7F-D2B6ECAA253D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  <p:extLst>
      <p:ext uri="{BB962C8B-B14F-4D97-AF65-F5344CB8AC3E}">
        <p14:creationId xmlns:p14="http://schemas.microsoft.com/office/powerpoint/2010/main" val="1093364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7027"/>
              </p:ext>
            </p:extLst>
          </p:nvPr>
        </p:nvGraphicFramePr>
        <p:xfrm>
          <a:off x="617220" y="1347722"/>
          <a:ext cx="7714504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505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84535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211579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99032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440553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537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8" name="Footnote"/>
          <p:cNvSpPr/>
          <p:nvPr/>
        </p:nvSpPr>
        <p:spPr>
          <a:xfrm>
            <a:off x="3251724" y="4438388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Entries marked </a:t>
            </a:r>
            <a:r>
              <a:rPr lang="en-US" sz="900" b="1" dirty="0">
                <a:solidFill>
                  <a:srgbClr val="4472C4"/>
                </a:solidFill>
                <a:latin typeface="Calibri" pitchFamily="34" charset="0"/>
              </a:rPr>
              <a:t>= R1</a:t>
            </a: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 are identical to Reward 1.</a:t>
            </a:r>
          </a:p>
        </p:txBody>
      </p:sp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Formulations Comparison</a:t>
            </a:r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400" name="RewardTableV2"/>
          <p:cNvGraphicFramePr>
            <a:graphicFrameLocks noGrp="1"/>
          </p:cNvGraphicFramePr>
          <p:nvPr/>
        </p:nvGraphicFramePr>
        <p:xfrm>
          <a:off x="406400" y="1320800"/>
          <a:ext cx="8293100" cy="325628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end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Action selects padding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new cells explored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Some cells explored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interm.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Exploration ≥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Max steps exceeded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progress for ≥ 20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interm.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Oscillating behavior detected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00656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Padding</a:t>
            </a:r>
          </a:p>
        </p:txBody>
      </p:sp>
      <p:cxnSp>
        <p:nvCxnSpPr>
          <p:cNvPr id="1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103" name="CardBg"/>
          <p:cNvSpPr/>
          <p:nvPr/>
        </p:nvSpPr>
        <p:spPr>
          <a:xfrm>
            <a:off x="317500" y="952500"/>
            <a:ext cx="8509000" cy="3429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D6E4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CardHeader"/>
          <p:cNvSpPr/>
          <p:nvPr/>
        </p:nvSpPr>
        <p:spPr>
          <a:xfrm>
            <a:off x="317500" y="9525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1A2E4A"/>
          </a:solidFill>
          <a:ln>
            <a:noFill/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Observation Vector</a:t>
            </a:r>
          </a:p>
        </p:txBody>
      </p:sp>
      <p:sp>
        <p:nvSpPr>
          <p:cNvPr id="105" name="Caption"/>
          <p:cNvSpPr/>
          <p:nvPr/>
        </p:nvSpPr>
        <p:spPr>
          <a:xfrm>
            <a:off x="508000" y="1447800"/>
            <a:ext cx="812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with 3 active clusters and 3 padding slots (N = 6):</a:t>
            </a:r>
          </a:p>
        </p:txBody>
      </p:sp>
      <p:graphicFrame>
        <p:nvGraphicFramePr>
          <p:cNvPr id="106" name="Table1"/>
          <p:cNvGraphicFramePr>
            <a:graphicFrameLocks noGrp="1"/>
          </p:cNvGraphicFramePr>
          <p:nvPr/>
        </p:nvGraphicFramePr>
        <p:xfrm>
          <a:off x="825500" y="1828800"/>
          <a:ext cx="7467600" cy="9652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4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x₁, y₁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x₂, y₂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x₃, y₃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8" name="BracketActive"/>
          <p:cNvSpPr/>
          <p:nvPr/>
        </p:nvSpPr>
        <p:spPr>
          <a:xfrm>
            <a:off x="8255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4472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BracketPad"/>
          <p:cNvSpPr/>
          <p:nvPr/>
        </p:nvSpPr>
        <p:spPr>
          <a:xfrm>
            <a:off x="45593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A5A5A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LabelActive"/>
          <p:cNvSpPr/>
          <p:nvPr/>
        </p:nvSpPr>
        <p:spPr>
          <a:xfrm>
            <a:off x="8255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4472C4"/>
                </a:solidFill>
                <a:latin typeface="Calibri" pitchFamily="34" charset="0"/>
              </a:rPr>
              <a:t>Active clusters</a:t>
            </a:r>
          </a:p>
        </p:txBody>
      </p:sp>
      <p:sp>
        <p:nvSpPr>
          <p:cNvPr id="111" name="LabelPad"/>
          <p:cNvSpPr/>
          <p:nvPr/>
        </p:nvSpPr>
        <p:spPr>
          <a:xfrm>
            <a:off x="45593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A5A5A5"/>
                </a:solidFill>
                <a:latin typeface="Calibri" pitchFamily="34" charset="0"/>
              </a:rPr>
              <a:t>Padding (zero-filled)</a:t>
            </a:r>
          </a:p>
        </p:txBody>
      </p:sp>
      <p:sp>
        <p:nvSpPr>
          <p:cNvPr id="107" name="ExplText"/>
          <p:cNvSpPr/>
          <p:nvPr/>
        </p:nvSpPr>
        <p:spPr>
          <a:xfrm>
            <a:off x="508000" y="3327400"/>
            <a:ext cx="812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clusters provide real frontier data </a:t>
            </a:r>
            <a:r>
              <a:rPr lang="en-US" sz="1300" dirty="0">
                <a:solidFill>
                  <a:srgbClr val="4472C4"/>
                </a:solidFill>
                <a:latin typeface="Calibri" pitchFamily="34" charset="0"/>
              </a:rPr>
              <a:t>[ x, y ]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slots are zero-filled </a:t>
            </a:r>
            <a:r>
              <a:rPr lang="en-US" sz="1300" dirty="0">
                <a:solidFill>
                  <a:srgbClr val="A5A5A5"/>
                </a:solidFill>
                <a:latin typeface="Calibri" pitchFamily="34" charset="0"/>
              </a:rPr>
              <a:t>[ 0, 0 ]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</a:rPr>
              <a:t> to maintain a fixed-length vector for the DNN input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consistent observation size regardless of the number of active clusters</a:t>
            </a:r>
          </a:p>
        </p:txBody>
      </p:sp>
    </p:spTree>
    <p:extLst>
      <p:ext uri="{BB962C8B-B14F-4D97-AF65-F5344CB8AC3E}">
        <p14:creationId xmlns:p14="http://schemas.microsoft.com/office/powerpoint/2010/main" val="2975609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3840" y="975360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2753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58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25880"/>
            <a:ext cx="5212080" cy="2259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325880"/>
            <a:ext cx="3200400" cy="22599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849344"/>
              </p:ext>
            </p:extLst>
          </p:nvPr>
        </p:nvGraphicFramePr>
        <p:xfrm>
          <a:off x="1548384" y="3741010"/>
          <a:ext cx="295503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518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77518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64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981833"/>
              </p:ext>
            </p:extLst>
          </p:nvPr>
        </p:nvGraphicFramePr>
        <p:xfrm>
          <a:off x="4802123" y="3741010"/>
          <a:ext cx="295503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77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320040" y="1178432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2919" y="1664208"/>
            <a:ext cx="40005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676900" y="1772032"/>
            <a:ext cx="2857500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Degenerated Policy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/>
          <p:nvPr/>
        </p:nvCxnSpPr>
        <p:spPr>
          <a:xfrm>
            <a:off x="4739640" y="1958340"/>
            <a:ext cx="5334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320040" y="2844164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502920" y="30373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82A692-61BA-906F-351E-A5B833B2A71F}"/>
              </a:ext>
            </a:extLst>
          </p:cNvPr>
          <p:cNvSpPr/>
          <p:nvPr/>
        </p:nvSpPr>
        <p:spPr>
          <a:xfrm>
            <a:off x="502920" y="3329940"/>
            <a:ext cx="7536180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always at end + Large penalty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Strong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ncentive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chose action = 0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Centroids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Chosing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action = 0 correspond to greedy heuristic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3515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53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68550"/>
            <a:ext cx="5212080" cy="2279905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368550"/>
            <a:ext cx="3200400" cy="2279906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908223"/>
              </p:ext>
            </p:extLst>
          </p:nvPr>
        </p:nvGraphicFramePr>
        <p:xfrm>
          <a:off x="1190244" y="3801970"/>
          <a:ext cx="295503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518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77518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64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087378"/>
              </p:ext>
            </p:extLst>
          </p:nvPr>
        </p:nvGraphicFramePr>
        <p:xfrm>
          <a:off x="4504942" y="3796495"/>
          <a:ext cx="404469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4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61611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61611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54770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54289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320040" y="2295143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02920" y="2846066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875019" y="3076948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543550" y="3339842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6139814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915023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457200" y="243687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2156</TotalTime>
  <Words>1333</Words>
  <Application>Microsoft Office PowerPoint</Application>
  <PresentationFormat>Presentazione su schermo (16:9)</PresentationFormat>
  <Paragraphs>335</Paragraphs>
  <Slides>24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19</cp:revision>
  <dcterms:created xsi:type="dcterms:W3CDTF">2026-04-01T11:00:14Z</dcterms:created>
  <dcterms:modified xsi:type="dcterms:W3CDTF">2026-04-08T07:20:38Z</dcterms:modified>
</cp:coreProperties>
</file>