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media/image6.jpg" ContentType="image/jp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55" r:id="rId2"/>
  </p:sldMasterIdLst>
  <p:notesMasterIdLst>
    <p:notesMasterId r:id="rId13"/>
  </p:notesMasterIdLst>
  <p:sldIdLst>
    <p:sldId id="266" r:id="rId3"/>
    <p:sldId id="258" r:id="rId4"/>
    <p:sldId id="269" r:id="rId5"/>
    <p:sldId id="259" r:id="rId6"/>
    <p:sldId id="271" r:id="rId7"/>
    <p:sldId id="261" r:id="rId8"/>
    <p:sldId id="267" r:id="rId9"/>
    <p:sldId id="262" r:id="rId10"/>
    <p:sldId id="264" r:id="rId11"/>
    <p:sldId id="263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2E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3" autoAdjust="0"/>
    <p:restoredTop sz="94564" autoAdjust="0"/>
  </p:normalViewPr>
  <p:slideViewPr>
    <p:cSldViewPr snapToGrid="0" snapToObjects="1">
      <p:cViewPr varScale="1">
        <p:scale>
          <a:sx n="107" d="100"/>
          <a:sy n="107" d="100"/>
        </p:scale>
        <p:origin x="758" y="6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44"/>
    </p:cViewPr>
  </p:sorterViewPr>
  <p:notesViewPr>
    <p:cSldViewPr snapToGrid="0" snapToObjects="1">
      <p:cViewPr varScale="1">
        <p:scale>
          <a:sx n="65" d="100"/>
          <a:sy n="65" d="100"/>
        </p:scale>
        <p:origin x="2453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BEF2A485-BE30-A66E-9173-707CE568EF4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BEDA1CF-C5AE-DD5B-9342-F610121D19B1}"/>
              </a:ext>
            </a:extLst>
          </p:cNvPr>
          <p:cNvSpPr txBox="1"/>
          <p:nvPr userDrawn="1"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4AC78B8-D2E8-8FD7-43EB-3F25868399E6}"/>
              </a:ext>
            </a:extLst>
          </p:cNvPr>
          <p:cNvSpPr/>
          <p:nvPr userDrawn="1"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2" name="Footer Left"/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Author  ·  Presentation Title</a:t>
            </a:r>
          </a:p>
        </p:txBody>
      </p: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14" name="Unimore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FF9179C6-E191-5331-8606-9480C7200249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B8496F5-498E-1F51-EE9E-F1CC505A6326}"/>
              </a:ext>
            </a:extLst>
          </p:cNvPr>
          <p:cNvSpPr txBox="1"/>
          <p:nvPr userDrawn="1"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EBC8E3-3772-3517-6D88-69F15F76D304}"/>
              </a:ext>
            </a:extLst>
          </p:cNvPr>
          <p:cNvSpPr txBox="1"/>
          <p:nvPr userDrawn="1"/>
        </p:nvSpPr>
        <p:spPr>
          <a:xfrm>
            <a:off x="46990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Right content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BA9E8BA-4469-EAFF-B7DA-09787333416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6401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691527-7949-E352-4491-938A6C3CA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12163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323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espizio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526605BC-B1CA-2824-D924-78A259FD846E}"/>
              </a:ext>
            </a:extLst>
          </p:cNvPr>
          <p:cNvSpPr/>
          <p:nvPr userDrawn="1"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8B3960F7-6679-4E91-A84F-9A6E20A7E879}"/>
              </a:ext>
            </a:extLst>
          </p:cNvPr>
          <p:cNvSpPr/>
          <p:nvPr userDrawn="1"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03386294-E84F-C730-9131-561C7C53D31D}"/>
              </a:ext>
            </a:extLst>
          </p:cNvPr>
          <p:cNvSpPr/>
          <p:nvPr userDrawn="1"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848A098-266E-562A-29D8-DAABDE0F7325}"/>
              </a:ext>
            </a:extLst>
          </p:cNvPr>
          <p:cNvSpPr/>
          <p:nvPr userDrawn="1"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E5DF3F4-DC6A-CE9A-EDB9-15A7CF474C32}"/>
              </a:ext>
            </a:extLst>
          </p:cNvPr>
          <p:cNvSpPr/>
          <p:nvPr userDrawn="1"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6A2E1985-9F70-66FA-81B8-88C111D3CAD1}"/>
              </a:ext>
            </a:extLst>
          </p:cNvPr>
          <p:cNvSpPr/>
          <p:nvPr userDrawn="1"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FF24EB2-1FCF-68A9-7B8B-012D729A0F8C}"/>
              </a:ext>
            </a:extLst>
          </p:cNvPr>
          <p:cNvSpPr/>
          <p:nvPr userDrawn="1"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D378B1E1-7B7F-E3BB-F19F-235818FCA12C}"/>
              </a:ext>
            </a:extLst>
          </p:cNvPr>
          <p:cNvSpPr/>
          <p:nvPr userDrawn="1"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78AB9DC9-608E-C372-DFAB-74DA8DA9FE8C}"/>
              </a:ext>
            </a:extLst>
          </p:cNvPr>
          <p:cNvSpPr/>
          <p:nvPr userDrawn="1"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08122842-6C81-70B2-D7B4-07F57673DC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7200" y="114300"/>
            <a:ext cx="2019300" cy="72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780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>
            <a:extLst>
              <a:ext uri="{FF2B5EF4-FFF2-40B4-BE49-F238E27FC236}">
                <a16:creationId xmlns:a16="http://schemas.microsoft.com/office/drawing/2014/main" id="{EE330B32-3708-D315-1AD0-A10B738A23FC}"/>
              </a:ext>
            </a:extLst>
          </p:cNvPr>
          <p:cNvSpPr/>
          <p:nvPr userDrawn="1"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DF7A45D1-2CC8-6EAA-4EE8-FFE68F18D781}"/>
              </a:ext>
            </a:extLst>
          </p:cNvPr>
          <p:cNvSpPr/>
          <p:nvPr userDrawn="1"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04D00198-E4B5-30CC-0027-A0984F44BB91}"/>
              </a:ext>
            </a:extLst>
          </p:cNvPr>
          <p:cNvSpPr/>
          <p:nvPr userDrawn="1"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66251E09-D0A7-09EF-126D-18A49BAD8201}"/>
              </a:ext>
            </a:extLst>
          </p:cNvPr>
          <p:cNvSpPr/>
          <p:nvPr userDrawn="1"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BCE28362-0855-98A7-16B7-F75AE5519E10}"/>
              </a:ext>
            </a:extLst>
          </p:cNvPr>
          <p:cNvSpPr/>
          <p:nvPr userDrawn="1"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7B564588-27F1-D454-BF49-C741BEA540C9}"/>
              </a:ext>
            </a:extLst>
          </p:cNvPr>
          <p:cNvSpPr/>
          <p:nvPr userDrawn="1"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96D9CEE5-12B4-61A5-95C1-FFCA89560187}"/>
              </a:ext>
            </a:extLst>
          </p:cNvPr>
          <p:cNvSpPr/>
          <p:nvPr userDrawn="1"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AEADAF4D-B287-58F6-10FB-B193BEA40212}"/>
              </a:ext>
            </a:extLst>
          </p:cNvPr>
          <p:cNvSpPr/>
          <p:nvPr userDrawn="1"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4F86E7D2-0ACE-BA99-BABB-0EFACD1BC9A2}"/>
              </a:ext>
            </a:extLst>
          </p:cNvPr>
          <p:cNvSpPr/>
          <p:nvPr userDrawn="1"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61C44422-0542-B493-5AA1-72C50929A1CD}"/>
              </a:ext>
            </a:extLst>
          </p:cNvPr>
          <p:cNvSpPr/>
          <p:nvPr userDrawn="1"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970F9DB6-EB9F-417B-DA46-3CB83AC24A2D}"/>
              </a:ext>
            </a:extLst>
          </p:cNvPr>
          <p:cNvSpPr/>
          <p:nvPr userDrawn="1"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8CC124B3-CAC5-60F2-E867-12843D61BF32}"/>
              </a:ext>
            </a:extLst>
          </p:cNvPr>
          <p:cNvSpPr/>
          <p:nvPr userDrawn="1"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E7DCE628-96A6-38EF-ED31-21BF2C7F90DF}"/>
              </a:ext>
            </a:extLst>
          </p:cNvPr>
          <p:cNvSpPr/>
          <p:nvPr userDrawn="1"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304A07CA-B3AE-32F3-F8DC-F730D43B2C6A}"/>
              </a:ext>
            </a:extLst>
          </p:cNvPr>
          <p:cNvSpPr/>
          <p:nvPr userDrawn="1"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32347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2710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Left">
            <a:extLst>
              <a:ext uri="{FF2B5EF4-FFF2-40B4-BE49-F238E27FC236}">
                <a16:creationId xmlns:a16="http://schemas.microsoft.com/office/drawing/2014/main" id="{FB136CB4-7A22-1793-524D-2BE9EE009B75}"/>
              </a:ext>
            </a:extLst>
          </p:cNvPr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5" name="Footer Right">
            <a:extLst>
              <a:ext uri="{FF2B5EF4-FFF2-40B4-BE49-F238E27FC236}">
                <a16:creationId xmlns:a16="http://schemas.microsoft.com/office/drawing/2014/main" id="{EF21B7CF-5BA7-ABF9-4C5C-74174F8E0668}"/>
              </a:ext>
            </a:extLst>
          </p:cNvPr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u="sng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6" name="Unimore Logo">
            <a:extLst>
              <a:ext uri="{FF2B5EF4-FFF2-40B4-BE49-F238E27FC236}">
                <a16:creationId xmlns:a16="http://schemas.microsoft.com/office/drawing/2014/main" id="{6043A221-5444-D27B-415A-2EBF79EB34E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7557246" y="4613416"/>
            <a:ext cx="1307353" cy="47064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0" r:id="rId2"/>
    <p:sldLayoutId id="2147483654" r:id="rId3"/>
    <p:sldLayoutId id="2147483669" r:id="rId4"/>
    <p:sldLayoutId id="2147483670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418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679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8412480" cy="960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replace classical heuristics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frontier cluster selection in autonomous exploration?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822960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= systematic coverage of an unknown environment without human input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frontier methods use fixed heuristics (nearest, largest) — simple but not adaptive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learns a policy from experience — potentially more flexible and environment-aware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validate DRL as a drop-in decision-maker inside a modular exploration pipeline</a:t>
            </a:r>
            <a:endParaRPr lang="en-US" sz="1400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5631F7D-3F07-6F28-2909-35381EFA0289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</a:t>
            </a:r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&amp; Scope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8412480" cy="960120"/>
          </a:xfrm>
          <a:prstGeom prst="rect">
            <a:avLst/>
          </a:prstGeom>
          <a:solidFill>
            <a:srgbClr val="D6E4F0"/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autonomous exploration?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8229600" cy="1464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can provide more adaptive models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learning-based method be </a:t>
            </a: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classical ones? </a:t>
            </a:r>
            <a:endParaRPr lang="en-US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000FCEB4-5A5B-AECB-8434-1AA1350D5054}"/>
              </a:ext>
            </a:extLst>
          </p:cNvPr>
          <p:cNvSpPr/>
          <p:nvPr/>
        </p:nvSpPr>
        <p:spPr>
          <a:xfrm>
            <a:off x="365760" y="3565705"/>
            <a:ext cx="8412480" cy="960120"/>
          </a:xfrm>
          <a:prstGeom prst="rect">
            <a:avLst/>
          </a:prstGeom>
          <a:solidFill>
            <a:srgbClr val="D6E4F0"/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0015EE5A-DA97-6AC7-337B-2E3B82A10631}"/>
              </a:ext>
            </a:extLst>
          </p:cNvPr>
          <p:cNvSpPr/>
          <p:nvPr/>
        </p:nvSpPr>
        <p:spPr>
          <a:xfrm>
            <a:off x="457200" y="3604281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for the investigation of this possibility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Exploration: systematically map an unknown environment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Autonomous: the agent can perceive and moves without human guidance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autonomous exploration?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task, requires: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Mapping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Localization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Navigation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Decision making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419961" y="3687886"/>
            <a:ext cx="3136106" cy="2285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application examples</a:t>
            </a:r>
            <a:endParaRPr lang="en-US" sz="9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497BBE3-9ECA-8B02-05B1-5CA8969F94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47" r="3033"/>
          <a:stretch>
            <a:fillRect/>
          </a:stretch>
        </p:blipFill>
        <p:spPr>
          <a:xfrm>
            <a:off x="5187789" y="1277305"/>
            <a:ext cx="1757361" cy="107757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D04AF77-05C1-3B51-5275-C1DCABC700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651" b="10263"/>
          <a:stretch>
            <a:fillRect/>
          </a:stretch>
        </p:blipFill>
        <p:spPr>
          <a:xfrm>
            <a:off x="5975687" y="2421300"/>
            <a:ext cx="2043800" cy="1077575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EE99CC8A-8B36-9C8B-61FA-7500A73EB6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782" r="4233"/>
          <a:stretch>
            <a:fillRect/>
          </a:stretch>
        </p:blipFill>
        <p:spPr>
          <a:xfrm>
            <a:off x="7046588" y="1277305"/>
            <a:ext cx="1757362" cy="1077575"/>
          </a:xfrm>
          <a:prstGeom prst="rect">
            <a:avLst/>
          </a:prstGeom>
        </p:spPr>
      </p:pic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546CEDB6-C13F-EB1B-1AC8-58CA8B3E7A63}"/>
              </a:ext>
            </a:extLst>
          </p:cNvPr>
          <p:cNvCxnSpPr/>
          <p:nvPr/>
        </p:nvCxnSpPr>
        <p:spPr>
          <a:xfrm>
            <a:off x="2428872" y="3814765"/>
            <a:ext cx="27860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47D1818-D2C0-D195-C9F9-F000EE269B9B}"/>
              </a:ext>
            </a:extLst>
          </p:cNvPr>
          <p:cNvSpPr txBox="1"/>
          <p:nvPr/>
        </p:nvSpPr>
        <p:spPr>
          <a:xfrm>
            <a:off x="2836069" y="3553716"/>
            <a:ext cx="2382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 The agent must decide where to move next </a:t>
            </a:r>
            <a:endParaRPr lang="it-IT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u="sng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u="sng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Approaches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Best View approach</a:t>
            </a:r>
            <a:b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it-IT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it-IT" sz="1600" dirty="0" err="1"/>
              <a:t>ptimization</a:t>
            </a:r>
            <a:r>
              <a:rPr lang="it-IT" sz="1600" dirty="0"/>
              <a:t> </a:t>
            </a:r>
            <a:r>
              <a:rPr lang="it-IT" sz="1600" dirty="0" err="1"/>
              <a:t>problem</a:t>
            </a:r>
            <a:r>
              <a:rPr lang="it-IT" sz="1600" dirty="0"/>
              <a:t>, </a:t>
            </a:r>
            <a:r>
              <a:rPr lang="it-IT" sz="1600" dirty="0" err="1"/>
              <a:t>finding</a:t>
            </a:r>
            <a:r>
              <a:rPr lang="it-IT" sz="1600" dirty="0"/>
              <a:t> the </a:t>
            </a:r>
            <a:r>
              <a:rPr lang="it-IT" sz="1600" dirty="0" err="1"/>
              <a:t>next</a:t>
            </a:r>
            <a:r>
              <a:rPr lang="it-IT" sz="1600" dirty="0"/>
              <a:t> best position for the sensing </a:t>
            </a:r>
            <a:r>
              <a:rPr lang="it-IT" sz="1600" dirty="0" err="1"/>
              <a:t>apparatous</a:t>
            </a:r>
            <a:endParaRPr lang="it-IT" sz="1600" dirty="0"/>
          </a:p>
          <a:p>
            <a:pPr>
              <a:spcAft>
                <a:spcPts val="500"/>
              </a:spcAft>
              <a:buSzPct val="100000"/>
            </a:pP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(</a:t>
            </a:r>
            <a:r>
              <a:rPr lang="en-US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Yamahu)</a:t>
            </a:r>
            <a:endParaRPr lang="en-US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647700" lvl="1" indent="-190500">
              <a:spcAft>
                <a:spcPts val="500"/>
              </a:spcAft>
              <a:buSzPct val="100000"/>
              <a:buChar char="•"/>
            </a:pPr>
            <a:r>
              <a:rPr lang="en-US" sz="1600" dirty="0"/>
              <a:t>Frontiers: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between explored (free) and unknown cells</a:t>
            </a:r>
          </a:p>
          <a:p>
            <a:pPr marL="647700" lvl="1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grouped into cluster</a:t>
            </a:r>
          </a:p>
          <a:p>
            <a:pPr marL="647700" lvl="1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moves toward frontier clusters</a:t>
            </a:r>
          </a:p>
          <a:p>
            <a:pPr marL="647700" lvl="1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heuristics policies to decide which frontier region</a:t>
            </a:r>
            <a:endParaRPr lang="en-US" sz="16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901EC0B-66A8-4AFA-930E-484C08D7F9A2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BD244D8-F9CB-4AF5-BAE2-F0001DF3A600}"/>
              </a:ext>
            </a:extLst>
          </p:cNvPr>
          <p:cNvSpPr txBox="1"/>
          <p:nvPr/>
        </p:nvSpPr>
        <p:spPr>
          <a:xfrm>
            <a:off x="368300" y="914400"/>
            <a:ext cx="83820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78948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412B2-2128-3929-4281-1E0C8C4E9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0844656A-11D0-0899-E1EE-08CAD68A483B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6C72F1A-60D1-A8D6-3402-F45F16CEE18F}"/>
              </a:ext>
            </a:extLst>
          </p:cNvPr>
          <p:cNvSpPr txBox="1"/>
          <p:nvPr/>
        </p:nvSpPr>
        <p:spPr>
          <a:xfrm>
            <a:off x="368300" y="914400"/>
            <a:ext cx="83820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593015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A2573F97-AE10-444A-9306-BFF3D7DCA88C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D0ECAD6-FF98-4193-979E-566FFED4B5AD}"/>
              </a:ext>
            </a:extLst>
          </p:cNvPr>
          <p:cNvSpPr txBox="1"/>
          <p:nvPr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4CBD74A-88E8-4A7F-BF8C-396FF18C5FD4}"/>
              </a:ext>
            </a:extLst>
          </p:cNvPr>
          <p:cNvSpPr txBox="1"/>
          <p:nvPr/>
        </p:nvSpPr>
        <p:spPr>
          <a:xfrm>
            <a:off x="46990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Right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9701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62960C30-3286-4C2A-B688-DEAE83675C09}"/>
              </a:ext>
            </a:extLst>
          </p:cNvPr>
          <p:cNvSpPr txBox="1"/>
          <p:nvPr/>
        </p:nvSpPr>
        <p:spPr>
          <a:xfrm>
            <a:off x="914400" y="1778000"/>
            <a:ext cx="73152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36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Section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AEED710-32FB-4CE7-BC12-02102C1D2BFF}"/>
              </a:ext>
            </a:extLst>
          </p:cNvPr>
          <p:cNvSpPr txBox="1"/>
          <p:nvPr/>
        </p:nvSpPr>
        <p:spPr>
          <a:xfrm>
            <a:off x="1524000" y="2667000"/>
            <a:ext cx="609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Section subtitle or description</a:t>
            </a:r>
          </a:p>
        </p:txBody>
      </p:sp>
    </p:spTree>
    <p:extLst>
      <p:ext uri="{BB962C8B-B14F-4D97-AF65-F5344CB8AC3E}">
        <p14:creationId xmlns:p14="http://schemas.microsoft.com/office/powerpoint/2010/main" val="23582887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D71D1CBA-50C0-4D94-BDFD-CE3626AAB801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2DD014-55CD-4034-B01B-03DB851B6C4D}"/>
              </a:ext>
            </a:extLst>
          </p:cNvPr>
          <p:cNvSpPr txBox="1"/>
          <p:nvPr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17C1C3B0-E67F-4D08-89AC-6A936CD5AAC7}"/>
              </a:ext>
            </a:extLst>
          </p:cNvPr>
          <p:cNvSpPr/>
          <p:nvPr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  <p:extLst>
      <p:ext uri="{BB962C8B-B14F-4D97-AF65-F5344CB8AC3E}">
        <p14:creationId xmlns:p14="http://schemas.microsoft.com/office/powerpoint/2010/main" val="3990665965"/>
      </p:ext>
    </p:extLst>
  </p:cSld>
  <p:clrMapOvr>
    <a:masterClrMapping/>
  </p:clrMapOvr>
</p:sld>
</file>

<file path=ppt/theme/theme1.xml><?xml version="1.0" encoding="utf-8"?>
<a:theme xmlns:a="http://schemas.openxmlformats.org/drawingml/2006/main" name="standard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rontespizi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1328</TotalTime>
  <Words>298</Words>
  <Application>Microsoft Office PowerPoint</Application>
  <PresentationFormat>Presentazione su schermo (16:9)</PresentationFormat>
  <Paragraphs>58</Paragraphs>
  <Slides>10</Slides>
  <Notes>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10</vt:i4>
      </vt:variant>
    </vt:vector>
  </HeadingPairs>
  <TitlesOfParts>
    <vt:vector size="14" baseType="lpstr">
      <vt:lpstr>Arial</vt:lpstr>
      <vt:lpstr>Calibri</vt:lpstr>
      <vt:lpstr>standard slide</vt:lpstr>
      <vt:lpstr>Frontespizio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8</cp:revision>
  <dcterms:created xsi:type="dcterms:W3CDTF">2026-04-01T11:00:14Z</dcterms:created>
  <dcterms:modified xsi:type="dcterms:W3CDTF">2026-04-07T10:08:38Z</dcterms:modified>
</cp:coreProperties>
</file>