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media/image6.jpg" ContentType="image/jpg"/>
  <Override PartName="/ppt/media/image7.jpg" ContentType="image/png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1" r:id="rId1"/>
    <p:sldMasterId id="2147483655" r:id="rId2"/>
  </p:sldMasterIdLst>
  <p:notesMasterIdLst>
    <p:notesMasterId r:id="rId12"/>
  </p:notesMasterIdLst>
  <p:sldIdLst>
    <p:sldId id="266" r:id="rId3"/>
    <p:sldId id="269" r:id="rId4"/>
    <p:sldId id="259" r:id="rId5"/>
    <p:sldId id="271" r:id="rId6"/>
    <p:sldId id="261" r:id="rId7"/>
    <p:sldId id="267" r:id="rId8"/>
    <p:sldId id="262" r:id="rId9"/>
    <p:sldId id="264" r:id="rId10"/>
    <p:sldId id="263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A2E4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3" autoAdjust="0"/>
    <p:restoredTop sz="94564" autoAdjust="0"/>
  </p:normalViewPr>
  <p:slideViewPr>
    <p:cSldViewPr snapToGrid="0" snapToObjects="1">
      <p:cViewPr varScale="1">
        <p:scale>
          <a:sx n="107" d="100"/>
          <a:sy n="107" d="100"/>
        </p:scale>
        <p:origin x="758" y="67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944"/>
    </p:cViewPr>
  </p:sorterViewPr>
  <p:notesViewPr>
    <p:cSldViewPr snapToGrid="0" snapToObjects="1">
      <p:cViewPr varScale="1">
        <p:scale>
          <a:sx n="65" d="100"/>
          <a:sy n="65" d="100"/>
        </p:scale>
        <p:origin x="2453" y="4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theme" Target="theme/theme1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0191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BEF2A485-BE30-A66E-9173-707CE568EF43}"/>
              </a:ext>
            </a:extLst>
          </p:cNvPr>
          <p:cNvSpPr txBox="1"/>
          <p:nvPr userDrawn="1"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endParaRPr lang="it-IT" sz="2600" b="1" dirty="0">
              <a:solidFill>
                <a:srgbClr val="1A1A1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3BEDA1CF-C5AE-DD5B-9342-F610121D19B1}"/>
              </a:ext>
            </a:extLst>
          </p:cNvPr>
          <p:cNvSpPr txBox="1"/>
          <p:nvPr userDrawn="1"/>
        </p:nvSpPr>
        <p:spPr>
          <a:xfrm>
            <a:off x="368300" y="914400"/>
            <a:ext cx="4318000" cy="3492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Text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goes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here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A4AC78B8-D2E8-8FD7-43EB-3F25868399E6}"/>
              </a:ext>
            </a:extLst>
          </p:cNvPr>
          <p:cNvSpPr/>
          <p:nvPr userDrawn="1"/>
        </p:nvSpPr>
        <p:spPr>
          <a:xfrm>
            <a:off x="4889500" y="914400"/>
            <a:ext cx="3937000" cy="3492500"/>
          </a:xfrm>
          <a:prstGeom prst="roundRect">
            <a:avLst/>
          </a:prstGeom>
          <a:solidFill>
            <a:srgbClr val="F0F0F0"/>
          </a:solidFill>
          <a:ln w="12700" cap="flat" cmpd="sng" algn="ctr">
            <a:solidFill>
              <a:srgbClr val="D6E4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it-IT" sz="160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Image / Chart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 userDrawn="1"/>
        </p:nvSpPr>
        <p:spPr>
          <a:xfrm>
            <a:off x="317500" y="241300"/>
            <a:ext cx="63500" cy="457200"/>
          </a:xfrm>
          <a:prstGeom prst="rect">
            <a:avLst/>
          </a:prstGeom>
          <a:solidFill>
            <a:srgbClr val="C8472C"/>
          </a:solidFill>
          <a:ln w="6350">
            <a:solidFill>
              <a:srgbClr val="C8472C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11" name="Divider Line"/>
          <p:cNvCxnSpPr/>
          <p:nvPr userDrawn="1"/>
        </p:nvCxnSpPr>
        <p:spPr>
          <a:xfrm>
            <a:off x="317500" y="774700"/>
            <a:ext cx="8509000" cy="0"/>
          </a:xfrm>
          <a:prstGeom prst="line">
            <a:avLst/>
          </a:prstGeom>
          <a:ln w="12700">
            <a:solidFill>
              <a:srgbClr val="D6E4F0"/>
            </a:solidFill>
          </a:ln>
        </p:spPr>
      </p:cxnSp>
      <p:sp>
        <p:nvSpPr>
          <p:cNvPr id="12" name="Footer Left"/>
          <p:cNvSpPr txBox="1"/>
          <p:nvPr userDrawn="1"/>
        </p:nvSpPr>
        <p:spPr>
          <a:xfrm>
            <a:off x="317500" y="4851400"/>
            <a:ext cx="77724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900" dirty="0">
                <a:solidFill>
                  <a:srgbClr val="BBBBBB"/>
                </a:solidFill>
                <a:latin typeface="Calibri" pitchFamily="34" charset="0"/>
              </a:rPr>
              <a:t>Author  ·  Presentation Title</a:t>
            </a:r>
          </a:p>
        </p:txBody>
      </p:sp>
      <p:sp>
        <p:nvSpPr>
          <p:cNvPr id="13" name="Footer Right"/>
          <p:cNvSpPr txBox="1"/>
          <p:nvPr userDrawn="1"/>
        </p:nvSpPr>
        <p:spPr>
          <a:xfrm>
            <a:off x="8407400" y="4851400"/>
            <a:ext cx="4572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en-US" sz="900" dirty="0">
                <a:solidFill>
                  <a:srgbClr val="BBBBBB"/>
                </a:solidFill>
                <a:latin typeface="Calibri" pitchFamily="34" charset="0"/>
              </a:rPr>
              <a:t># / N</a:t>
            </a:r>
          </a:p>
        </p:txBody>
      </p:sp>
      <p:pic>
        <p:nvPicPr>
          <p:cNvPr id="14" name="Unimore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42200" y="4572000"/>
            <a:ext cx="1524000" cy="548640"/>
          </a:xfrm>
          <a:prstGeom prst="rect">
            <a:avLst/>
          </a:prstGeom>
        </p:spPr>
      </p:pic>
      <p:sp>
        <p:nvSpPr>
          <p:cNvPr id="2" name="CasellaDiTesto 1">
            <a:extLst>
              <a:ext uri="{FF2B5EF4-FFF2-40B4-BE49-F238E27FC236}">
                <a16:creationId xmlns:a16="http://schemas.microsoft.com/office/drawing/2014/main" id="{FF9179C6-E191-5331-8606-9480C7200249}"/>
              </a:ext>
            </a:extLst>
          </p:cNvPr>
          <p:cNvSpPr txBox="1"/>
          <p:nvPr userDrawn="1"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Slide Title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4B8496F5-498E-1F51-EE9E-F1CC505A6326}"/>
              </a:ext>
            </a:extLst>
          </p:cNvPr>
          <p:cNvSpPr txBox="1"/>
          <p:nvPr userDrawn="1"/>
        </p:nvSpPr>
        <p:spPr>
          <a:xfrm>
            <a:off x="368300" y="914400"/>
            <a:ext cx="4089400" cy="355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Left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AAEBC8E3-3772-3517-6D88-69F15F76D304}"/>
              </a:ext>
            </a:extLst>
          </p:cNvPr>
          <p:cNvSpPr txBox="1"/>
          <p:nvPr userDrawn="1"/>
        </p:nvSpPr>
        <p:spPr>
          <a:xfrm>
            <a:off x="4699000" y="914400"/>
            <a:ext cx="4089400" cy="355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Right content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conten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 userDrawn="1"/>
        </p:nvSpPr>
        <p:spPr>
          <a:xfrm>
            <a:off x="317500" y="241300"/>
            <a:ext cx="63500" cy="457200"/>
          </a:xfrm>
          <a:prstGeom prst="rect">
            <a:avLst/>
          </a:prstGeom>
          <a:solidFill>
            <a:srgbClr val="C8472C"/>
          </a:solidFill>
          <a:ln w="6350">
            <a:solidFill>
              <a:srgbClr val="C8472C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11" name="Divider Line"/>
          <p:cNvCxnSpPr/>
          <p:nvPr userDrawn="1"/>
        </p:nvCxnSpPr>
        <p:spPr>
          <a:xfrm>
            <a:off x="317500" y="774700"/>
            <a:ext cx="8509000" cy="0"/>
          </a:xfrm>
          <a:prstGeom prst="line">
            <a:avLst/>
          </a:prstGeom>
          <a:ln w="12700">
            <a:solidFill>
              <a:srgbClr val="D6E4F0"/>
            </a:solidFill>
          </a:ln>
        </p:spPr>
      </p:cxnSp>
      <p:sp>
        <p:nvSpPr>
          <p:cNvPr id="13" name="Footer Right"/>
          <p:cNvSpPr txBox="1"/>
          <p:nvPr userDrawn="1"/>
        </p:nvSpPr>
        <p:spPr>
          <a:xfrm>
            <a:off x="8407400" y="4851400"/>
            <a:ext cx="4572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en-US" sz="900" dirty="0">
                <a:solidFill>
                  <a:srgbClr val="BBBBBB"/>
                </a:solidFill>
                <a:latin typeface="Calibri" pitchFamily="34" charset="0"/>
              </a:rPr>
              <a:t># / N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2BA9E8BA-4469-EAFF-B7DA-097873334163}"/>
              </a:ext>
            </a:extLst>
          </p:cNvPr>
          <p:cNvSpPr txBox="1"/>
          <p:nvPr userDrawn="1"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endParaRPr lang="it-IT" sz="2600" b="1" dirty="0">
              <a:solidFill>
                <a:srgbClr val="1A1A1A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5864010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za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4691527-7949-E352-4491-938A6C3CA6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4638"/>
            <a:ext cx="7886700" cy="993775"/>
          </a:xfrm>
          <a:prstGeom prst="rect">
            <a:avLst/>
          </a:prstGeom>
        </p:spPr>
        <p:txBody>
          <a:bodyPr/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8121631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43238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espizio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>
            <a:extLst>
              <a:ext uri="{FF2B5EF4-FFF2-40B4-BE49-F238E27FC236}">
                <a16:creationId xmlns:a16="http://schemas.microsoft.com/office/drawing/2014/main" id="{526605BC-B1CA-2824-D924-78A259FD846E}"/>
              </a:ext>
            </a:extLst>
          </p:cNvPr>
          <p:cNvSpPr/>
          <p:nvPr userDrawn="1"/>
        </p:nvSpPr>
        <p:spPr>
          <a:xfrm>
            <a:off x="457200" y="932688"/>
            <a:ext cx="8229600" cy="0"/>
          </a:xfrm>
          <a:prstGeom prst="line">
            <a:avLst/>
          </a:prstGeom>
          <a:noFill/>
          <a:ln w="25400">
            <a:solidFill>
              <a:srgbClr val="C8472C"/>
            </a:solidFill>
            <a:prstDash val="solid"/>
          </a:ln>
        </p:spPr>
      </p:sp>
      <p:sp>
        <p:nvSpPr>
          <p:cNvPr id="9" name="Text 1">
            <a:extLst>
              <a:ext uri="{FF2B5EF4-FFF2-40B4-BE49-F238E27FC236}">
                <a16:creationId xmlns:a16="http://schemas.microsoft.com/office/drawing/2014/main" id="{8B3960F7-6679-4E91-A84F-9A6E20A7E879}"/>
              </a:ext>
            </a:extLst>
          </p:cNvPr>
          <p:cNvSpPr/>
          <p:nvPr userDrawn="1"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Dipartimento di Scienze e Metodi dell'Ingegneria</a:t>
            </a:r>
            <a:endParaRPr lang="en-US" sz="1200" dirty="0"/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03386294-E84F-C730-9131-561C7C53D31D}"/>
              </a:ext>
            </a:extLst>
          </p:cNvPr>
          <p:cNvSpPr/>
          <p:nvPr userDrawn="1"/>
        </p:nvSpPr>
        <p:spPr>
          <a:xfrm>
            <a:off x="457200" y="12801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Corso di Laurea Magistrale in Digital Automation Engineering</a:t>
            </a:r>
            <a:endParaRPr lang="en-US" sz="1100" dirty="0"/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3848A098-266E-562A-29D8-DAABDE0F7325}"/>
              </a:ext>
            </a:extLst>
          </p:cNvPr>
          <p:cNvSpPr/>
          <p:nvPr userDrawn="1"/>
        </p:nvSpPr>
        <p:spPr>
          <a:xfrm>
            <a:off x="457200" y="1627632"/>
            <a:ext cx="82296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Reinforcement Learning in</a:t>
            </a:r>
            <a:endParaRPr lang="en-US" sz="3000" dirty="0"/>
          </a:p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Autonomous Exploration</a:t>
            </a:r>
            <a:endParaRPr lang="en-US" sz="3000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2E5DF3F4-DC6A-CE9A-EDB9-15A7CF474C32}"/>
              </a:ext>
            </a:extLst>
          </p:cNvPr>
          <p:cNvSpPr/>
          <p:nvPr userDrawn="1"/>
        </p:nvSpPr>
        <p:spPr>
          <a:xfrm>
            <a:off x="2286000" y="3127248"/>
            <a:ext cx="4572000" cy="0"/>
          </a:xfrm>
          <a:prstGeom prst="line">
            <a:avLst/>
          </a:prstGeom>
          <a:noFill/>
          <a:ln w="19050">
            <a:solidFill>
              <a:srgbClr val="C8472C"/>
            </a:solidFill>
            <a:prstDash val="solid"/>
          </a:ln>
        </p:spPr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6A2E1985-9F70-66FA-81B8-88C111D3CAD1}"/>
              </a:ext>
            </a:extLst>
          </p:cNvPr>
          <p:cNvSpPr/>
          <p:nvPr userDrawn="1"/>
        </p:nvSpPr>
        <p:spPr>
          <a:xfrm>
            <a:off x="914400" y="32461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 di Laurea di: 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</a:t>
            </a:r>
            <a:endParaRPr lang="en-US" sz="1200" dirty="0"/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6FF24EB2-1FCF-68A9-7B8B-012D729A0F8C}"/>
              </a:ext>
            </a:extLst>
          </p:cNvPr>
          <p:cNvSpPr/>
          <p:nvPr userDrawn="1"/>
        </p:nvSpPr>
        <p:spPr>
          <a:xfrm>
            <a:off x="914400" y="35661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Relatore: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Lorenzo Sabattini</a:t>
            </a:r>
            <a:endParaRPr lang="en-US" sz="1100" dirty="0"/>
          </a:p>
        </p:txBody>
      </p:sp>
      <p:sp>
        <p:nvSpPr>
          <p:cNvPr id="15" name="Text 7">
            <a:extLst>
              <a:ext uri="{FF2B5EF4-FFF2-40B4-BE49-F238E27FC236}">
                <a16:creationId xmlns:a16="http://schemas.microsoft.com/office/drawing/2014/main" id="{D378B1E1-7B7F-E3BB-F19F-235818FCA12C}"/>
              </a:ext>
            </a:extLst>
          </p:cNvPr>
          <p:cNvSpPr/>
          <p:nvPr userDrawn="1"/>
        </p:nvSpPr>
        <p:spPr>
          <a:xfrm>
            <a:off x="914400" y="385876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Correlatori: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Dott. Mattia Catellani  ·  Dott. Mattia Mantovani</a:t>
            </a:r>
            <a:endParaRPr lang="en-US" sz="1100" dirty="0"/>
          </a:p>
        </p:txBody>
      </p:sp>
      <p:sp>
        <p:nvSpPr>
          <p:cNvPr id="16" name="Text 8">
            <a:extLst>
              <a:ext uri="{FF2B5EF4-FFF2-40B4-BE49-F238E27FC236}">
                <a16:creationId xmlns:a16="http://schemas.microsoft.com/office/drawing/2014/main" id="{78AB9DC9-608E-C372-DFAB-74DA8DA9FE8C}"/>
              </a:ext>
            </a:extLst>
          </p:cNvPr>
          <p:cNvSpPr/>
          <p:nvPr userDrawn="1"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 Accademico 2024/2025</a:t>
            </a:r>
            <a:endParaRPr lang="en-US" sz="1000" dirty="0"/>
          </a:p>
        </p:txBody>
      </p:sp>
      <p:pic>
        <p:nvPicPr>
          <p:cNvPr id="17" name="Immagine 16">
            <a:extLst>
              <a:ext uri="{FF2B5EF4-FFF2-40B4-BE49-F238E27FC236}">
                <a16:creationId xmlns:a16="http://schemas.microsoft.com/office/drawing/2014/main" id="{08122842-6C81-70B2-D7B4-07F57673DC4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7200" y="114300"/>
            <a:ext cx="2019300" cy="726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77803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za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0">
            <a:extLst>
              <a:ext uri="{FF2B5EF4-FFF2-40B4-BE49-F238E27FC236}">
                <a16:creationId xmlns:a16="http://schemas.microsoft.com/office/drawing/2014/main" id="{EE330B32-3708-D315-1AD0-A10B738A23FC}"/>
              </a:ext>
            </a:extLst>
          </p:cNvPr>
          <p:cNvSpPr/>
          <p:nvPr userDrawn="1"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3200" dirty="0"/>
          </a:p>
        </p:txBody>
      </p:sp>
      <p:sp>
        <p:nvSpPr>
          <p:cNvPr id="18" name="Shape 1">
            <a:extLst>
              <a:ext uri="{FF2B5EF4-FFF2-40B4-BE49-F238E27FC236}">
                <a16:creationId xmlns:a16="http://schemas.microsoft.com/office/drawing/2014/main" id="{DF7A45D1-2CC8-6EAA-4EE8-FFE68F18D781}"/>
              </a:ext>
            </a:extLst>
          </p:cNvPr>
          <p:cNvSpPr/>
          <p:nvPr userDrawn="1"/>
        </p:nvSpPr>
        <p:spPr>
          <a:xfrm>
            <a:off x="457200" y="841248"/>
            <a:ext cx="8229600" cy="0"/>
          </a:xfrm>
          <a:prstGeom prst="line">
            <a:avLst/>
          </a:prstGeom>
          <a:noFill/>
          <a:ln w="25400">
            <a:solidFill>
              <a:srgbClr val="C8472C"/>
            </a:solidFill>
            <a:prstDash val="solid"/>
          </a:ln>
        </p:spPr>
      </p:sp>
      <p:sp>
        <p:nvSpPr>
          <p:cNvPr id="19" name="Shape 2">
            <a:extLst>
              <a:ext uri="{FF2B5EF4-FFF2-40B4-BE49-F238E27FC236}">
                <a16:creationId xmlns:a16="http://schemas.microsoft.com/office/drawing/2014/main" id="{04D00198-E4B5-30CC-0027-A0984F44BB91}"/>
              </a:ext>
            </a:extLst>
          </p:cNvPr>
          <p:cNvSpPr/>
          <p:nvPr userDrawn="1"/>
        </p:nvSpPr>
        <p:spPr>
          <a:xfrm>
            <a:off x="411480" y="987552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0" name="Text 3">
            <a:extLst>
              <a:ext uri="{FF2B5EF4-FFF2-40B4-BE49-F238E27FC236}">
                <a16:creationId xmlns:a16="http://schemas.microsoft.com/office/drawing/2014/main" id="{66251E09-D0A7-09EF-126D-18A49BAD8201}"/>
              </a:ext>
            </a:extLst>
          </p:cNvPr>
          <p:cNvSpPr/>
          <p:nvPr userDrawn="1"/>
        </p:nvSpPr>
        <p:spPr>
          <a:xfrm>
            <a:off x="804672" y="969264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BCE28362-0855-98A7-16B7-F75AE5519E10}"/>
              </a:ext>
            </a:extLst>
          </p:cNvPr>
          <p:cNvSpPr/>
          <p:nvPr userDrawn="1"/>
        </p:nvSpPr>
        <p:spPr>
          <a:xfrm>
            <a:off x="411480" y="1746504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2" name="Text 5">
            <a:extLst>
              <a:ext uri="{FF2B5EF4-FFF2-40B4-BE49-F238E27FC236}">
                <a16:creationId xmlns:a16="http://schemas.microsoft.com/office/drawing/2014/main" id="{7B564588-27F1-D454-BF49-C741BEA540C9}"/>
              </a:ext>
            </a:extLst>
          </p:cNvPr>
          <p:cNvSpPr/>
          <p:nvPr userDrawn="1"/>
        </p:nvSpPr>
        <p:spPr>
          <a:xfrm>
            <a:off x="804672" y="1728216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3" name="Shape 6">
            <a:extLst>
              <a:ext uri="{FF2B5EF4-FFF2-40B4-BE49-F238E27FC236}">
                <a16:creationId xmlns:a16="http://schemas.microsoft.com/office/drawing/2014/main" id="{96D9CEE5-12B4-61A5-95C1-FFCA89560187}"/>
              </a:ext>
            </a:extLst>
          </p:cNvPr>
          <p:cNvSpPr/>
          <p:nvPr userDrawn="1"/>
        </p:nvSpPr>
        <p:spPr>
          <a:xfrm>
            <a:off x="411480" y="2505456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4" name="Text 7">
            <a:extLst>
              <a:ext uri="{FF2B5EF4-FFF2-40B4-BE49-F238E27FC236}">
                <a16:creationId xmlns:a16="http://schemas.microsoft.com/office/drawing/2014/main" id="{AEADAF4D-B287-58F6-10FB-B193BEA40212}"/>
              </a:ext>
            </a:extLst>
          </p:cNvPr>
          <p:cNvSpPr/>
          <p:nvPr userDrawn="1"/>
        </p:nvSpPr>
        <p:spPr>
          <a:xfrm>
            <a:off x="804672" y="2487168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5" name="Shape 8">
            <a:extLst>
              <a:ext uri="{FF2B5EF4-FFF2-40B4-BE49-F238E27FC236}">
                <a16:creationId xmlns:a16="http://schemas.microsoft.com/office/drawing/2014/main" id="{4F86E7D2-0ACE-BA99-BABB-0EFACD1BC9A2}"/>
              </a:ext>
            </a:extLst>
          </p:cNvPr>
          <p:cNvSpPr/>
          <p:nvPr userDrawn="1"/>
        </p:nvSpPr>
        <p:spPr>
          <a:xfrm>
            <a:off x="411480" y="3264408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6" name="Text 9">
            <a:extLst>
              <a:ext uri="{FF2B5EF4-FFF2-40B4-BE49-F238E27FC236}">
                <a16:creationId xmlns:a16="http://schemas.microsoft.com/office/drawing/2014/main" id="{61C44422-0542-B493-5AA1-72C50929A1CD}"/>
              </a:ext>
            </a:extLst>
          </p:cNvPr>
          <p:cNvSpPr/>
          <p:nvPr userDrawn="1"/>
        </p:nvSpPr>
        <p:spPr>
          <a:xfrm>
            <a:off x="804672" y="3246120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7" name="Shape 10">
            <a:extLst>
              <a:ext uri="{FF2B5EF4-FFF2-40B4-BE49-F238E27FC236}">
                <a16:creationId xmlns:a16="http://schemas.microsoft.com/office/drawing/2014/main" id="{970F9DB6-EB9F-417B-DA46-3CB83AC24A2D}"/>
              </a:ext>
            </a:extLst>
          </p:cNvPr>
          <p:cNvSpPr/>
          <p:nvPr userDrawn="1"/>
        </p:nvSpPr>
        <p:spPr>
          <a:xfrm>
            <a:off x="411480" y="4023360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8" name="Text 11">
            <a:extLst>
              <a:ext uri="{FF2B5EF4-FFF2-40B4-BE49-F238E27FC236}">
                <a16:creationId xmlns:a16="http://schemas.microsoft.com/office/drawing/2014/main" id="{8CC124B3-CAC5-60F2-E867-12843D61BF32}"/>
              </a:ext>
            </a:extLst>
          </p:cNvPr>
          <p:cNvSpPr/>
          <p:nvPr userDrawn="1"/>
        </p:nvSpPr>
        <p:spPr>
          <a:xfrm>
            <a:off x="804672" y="4005072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9" name="Shape 12">
            <a:extLst>
              <a:ext uri="{FF2B5EF4-FFF2-40B4-BE49-F238E27FC236}">
                <a16:creationId xmlns:a16="http://schemas.microsoft.com/office/drawing/2014/main" id="{E7DCE628-96A6-38EF-ED31-21BF2C7F90DF}"/>
              </a:ext>
            </a:extLst>
          </p:cNvPr>
          <p:cNvSpPr/>
          <p:nvPr userDrawn="1"/>
        </p:nvSpPr>
        <p:spPr>
          <a:xfrm>
            <a:off x="457200" y="4773168"/>
            <a:ext cx="8229600" cy="0"/>
          </a:xfrm>
          <a:prstGeom prst="line">
            <a:avLst/>
          </a:prstGeom>
          <a:noFill/>
          <a:ln w="19050">
            <a:solidFill>
              <a:srgbClr val="C8472C"/>
            </a:solidFill>
            <a:prstDash val="solid"/>
          </a:ln>
        </p:spPr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304A07CA-B3AE-32F3-F8DC-F730D43B2C6A}"/>
              </a:ext>
            </a:extLst>
          </p:cNvPr>
          <p:cNvSpPr/>
          <p:nvPr userDrawn="1"/>
        </p:nvSpPr>
        <p:spPr>
          <a:xfrm>
            <a:off x="457200" y="4809744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Università degli Studi di Modena e Reggio Emilia  ·  A.A. 2024/2025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8323470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827101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Left">
            <a:extLst>
              <a:ext uri="{FF2B5EF4-FFF2-40B4-BE49-F238E27FC236}">
                <a16:creationId xmlns:a16="http://schemas.microsoft.com/office/drawing/2014/main" id="{FB136CB4-7A22-1793-524D-2BE9EE009B75}"/>
              </a:ext>
            </a:extLst>
          </p:cNvPr>
          <p:cNvSpPr txBox="1"/>
          <p:nvPr userDrawn="1"/>
        </p:nvSpPr>
        <p:spPr>
          <a:xfrm>
            <a:off x="317500" y="4851400"/>
            <a:ext cx="77724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5" name="Footer Right">
            <a:extLst>
              <a:ext uri="{FF2B5EF4-FFF2-40B4-BE49-F238E27FC236}">
                <a16:creationId xmlns:a16="http://schemas.microsoft.com/office/drawing/2014/main" id="{EF21B7CF-5BA7-ABF9-4C5C-74174F8E0668}"/>
              </a:ext>
            </a:extLst>
          </p:cNvPr>
          <p:cNvSpPr txBox="1"/>
          <p:nvPr userDrawn="1"/>
        </p:nvSpPr>
        <p:spPr>
          <a:xfrm>
            <a:off x="8407400" y="4851400"/>
            <a:ext cx="4572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en-US" sz="900" u="sng" dirty="0">
                <a:solidFill>
                  <a:srgbClr val="BBBBBB"/>
                </a:solidFill>
                <a:latin typeface="Calibri" pitchFamily="34" charset="0"/>
              </a:rPr>
              <a:t># / N</a:t>
            </a:r>
          </a:p>
        </p:txBody>
      </p:sp>
      <p:pic>
        <p:nvPicPr>
          <p:cNvPr id="6" name="Unimore Logo">
            <a:extLst>
              <a:ext uri="{FF2B5EF4-FFF2-40B4-BE49-F238E27FC236}">
                <a16:creationId xmlns:a16="http://schemas.microsoft.com/office/drawing/2014/main" id="{6043A221-5444-D27B-415A-2EBF79EB34EC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7557246" y="4613416"/>
            <a:ext cx="1307353" cy="470647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0" r:id="rId2"/>
    <p:sldLayoutId id="2147483654" r:id="rId3"/>
    <p:sldLayoutId id="2147483669" r:id="rId4"/>
    <p:sldLayoutId id="2147483670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94182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5.jp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46798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&amp; Scope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914400"/>
            <a:ext cx="8412480" cy="960120"/>
          </a:xfrm>
          <a:prstGeom prst="rect">
            <a:avLst/>
          </a:prstGeom>
          <a:solidFill>
            <a:srgbClr val="D6E4F0"/>
          </a:solidFill>
          <a:ln w="12700">
            <a:solidFill>
              <a:schemeClr val="accent1">
                <a:lumMod val="50000"/>
              </a:scheme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6012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Can Deep Reinforcement Learning (DRL) be effectively</a:t>
            </a:r>
          </a:p>
          <a:p>
            <a:pPr marL="0" indent="0" algn="ctr">
              <a:buNone/>
            </a:pPr>
            <a:r>
              <a:rPr lang="en-US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applied to autonomous exploration?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2011680"/>
            <a:ext cx="8229600" cy="1464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 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complex task</a:t>
            </a: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analytical 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exist but present some limitations</a:t>
            </a: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Learning-based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methods can provide more adaptive models</a:t>
            </a: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learning-based method be </a:t>
            </a: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classical ones? </a:t>
            </a:r>
            <a:endParaRPr lang="en-US" dirty="0"/>
          </a:p>
        </p:txBody>
      </p:sp>
      <p:sp>
        <p:nvSpPr>
          <p:cNvPr id="11" name="Shape 5">
            <a:extLst>
              <a:ext uri="{FF2B5EF4-FFF2-40B4-BE49-F238E27FC236}">
                <a16:creationId xmlns:a16="http://schemas.microsoft.com/office/drawing/2014/main" id="{000FCEB4-5A5B-AECB-8434-1AA1350D5054}"/>
              </a:ext>
            </a:extLst>
          </p:cNvPr>
          <p:cNvSpPr/>
          <p:nvPr/>
        </p:nvSpPr>
        <p:spPr>
          <a:xfrm>
            <a:off x="365760" y="3565705"/>
            <a:ext cx="8412480" cy="960120"/>
          </a:xfrm>
          <a:prstGeom prst="rect">
            <a:avLst/>
          </a:prstGeom>
          <a:solidFill>
            <a:srgbClr val="D6E4F0"/>
          </a:solidFill>
          <a:ln w="12700">
            <a:solidFill>
              <a:schemeClr val="accent1">
                <a:lumMod val="50000"/>
              </a:schemeClr>
            </a:solidFill>
            <a:prstDash val="solid"/>
          </a:ln>
        </p:spPr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0015EE5A-DA97-6AC7-337B-2E3B82A10631}"/>
              </a:ext>
            </a:extLst>
          </p:cNvPr>
          <p:cNvSpPr/>
          <p:nvPr/>
        </p:nvSpPr>
        <p:spPr>
          <a:xfrm>
            <a:off x="457200" y="3604281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Objective: </a:t>
            </a:r>
          </a:p>
          <a:p>
            <a:pPr marL="0" indent="0" algn="ctr">
              <a:buNone/>
            </a:pPr>
            <a:r>
              <a:rPr lang="en-US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develop a framework for the investigation of this possibility</a:t>
            </a: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Context: Autonomous Exploration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4663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Exploration: systematically map an unknown environment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Autonomous: the agent can perceive and moves without human guidance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autonomous exploration?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task, requires:</a:t>
            </a:r>
          </a:p>
          <a:p>
            <a:pPr marL="647700" lvl="1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400" dirty="0"/>
              <a:t>Mapping</a:t>
            </a:r>
          </a:p>
          <a:p>
            <a:pPr marL="647700" lvl="1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400" dirty="0"/>
              <a:t>Localization</a:t>
            </a:r>
          </a:p>
          <a:p>
            <a:pPr marL="647700" lvl="1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400" dirty="0"/>
              <a:t>Navigation</a:t>
            </a:r>
          </a:p>
          <a:p>
            <a:pPr marL="647700" lvl="1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400" dirty="0"/>
              <a:t>Decision making</a:t>
            </a: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5419961" y="3687886"/>
            <a:ext cx="3136106" cy="2285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 application examples</a:t>
            </a:r>
            <a:endParaRPr lang="en-US" sz="900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E497BBE3-9ECA-8B02-05B1-5CA8969F94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347" r="3033"/>
          <a:stretch>
            <a:fillRect/>
          </a:stretch>
        </p:blipFill>
        <p:spPr>
          <a:xfrm>
            <a:off x="5187789" y="1277305"/>
            <a:ext cx="1757361" cy="1077575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5D04AF77-05C1-3B51-5275-C1DCABC700B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0651" b="10263"/>
          <a:stretch>
            <a:fillRect/>
          </a:stretch>
        </p:blipFill>
        <p:spPr>
          <a:xfrm>
            <a:off x="5975687" y="2421300"/>
            <a:ext cx="2043800" cy="1077575"/>
          </a:xfrm>
          <a:prstGeom prst="rect">
            <a:avLst/>
          </a:prstGeom>
        </p:spPr>
      </p:pic>
      <p:pic>
        <p:nvPicPr>
          <p:cNvPr id="13" name="Immagine 12">
            <a:extLst>
              <a:ext uri="{FF2B5EF4-FFF2-40B4-BE49-F238E27FC236}">
                <a16:creationId xmlns:a16="http://schemas.microsoft.com/office/drawing/2014/main" id="{EE99CC8A-8B36-9C8B-61FA-7500A73EB6E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9782" r="4233"/>
          <a:stretch>
            <a:fillRect/>
          </a:stretch>
        </p:blipFill>
        <p:spPr>
          <a:xfrm>
            <a:off x="7046588" y="1277305"/>
            <a:ext cx="1757362" cy="1077575"/>
          </a:xfrm>
          <a:prstGeom prst="rect">
            <a:avLst/>
          </a:prstGeom>
        </p:spPr>
      </p:pic>
      <p:cxnSp>
        <p:nvCxnSpPr>
          <p:cNvPr id="15" name="Connettore 2 14">
            <a:extLst>
              <a:ext uri="{FF2B5EF4-FFF2-40B4-BE49-F238E27FC236}">
                <a16:creationId xmlns:a16="http://schemas.microsoft.com/office/drawing/2014/main" id="{546CEDB6-C13F-EB1B-1AC8-58CA8B3E7A63}"/>
              </a:ext>
            </a:extLst>
          </p:cNvPr>
          <p:cNvCxnSpPr/>
          <p:nvPr/>
        </p:nvCxnSpPr>
        <p:spPr>
          <a:xfrm>
            <a:off x="2428872" y="3814765"/>
            <a:ext cx="27860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47D1818-D2C0-D195-C9F9-F000EE269B9B}"/>
              </a:ext>
            </a:extLst>
          </p:cNvPr>
          <p:cNvSpPr txBox="1"/>
          <p:nvPr/>
        </p:nvSpPr>
        <p:spPr>
          <a:xfrm>
            <a:off x="2836069" y="3553716"/>
            <a:ext cx="23827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 The agent must decide where to move next </a:t>
            </a:r>
            <a:endParaRPr lang="it-IT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Approaches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4663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Best View approach</a:t>
            </a:r>
            <a:b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it-IT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it-IT" sz="1600" dirty="0" err="1"/>
              <a:t>ptimization</a:t>
            </a:r>
            <a:r>
              <a:rPr lang="it-IT" sz="1600" dirty="0"/>
              <a:t> </a:t>
            </a:r>
            <a:r>
              <a:rPr lang="it-IT" sz="1600" dirty="0" err="1"/>
              <a:t>problem</a:t>
            </a:r>
            <a:r>
              <a:rPr lang="it-IT" sz="1600" dirty="0"/>
              <a:t>, </a:t>
            </a:r>
            <a:r>
              <a:rPr lang="it-IT" sz="1600" dirty="0" err="1"/>
              <a:t>finding</a:t>
            </a:r>
            <a:r>
              <a:rPr lang="it-IT" sz="1600" dirty="0"/>
              <a:t> the </a:t>
            </a:r>
            <a:r>
              <a:rPr lang="it-IT" sz="1600" dirty="0" err="1"/>
              <a:t>next</a:t>
            </a:r>
            <a:r>
              <a:rPr lang="it-IT" sz="1600" dirty="0"/>
              <a:t> best position for the sensing </a:t>
            </a:r>
            <a:r>
              <a:rPr lang="it-IT" sz="1600" dirty="0" err="1"/>
              <a:t>apparatous</a:t>
            </a:r>
            <a:endParaRPr lang="it-IT" sz="1600" dirty="0"/>
          </a:p>
          <a:p>
            <a:pPr>
              <a:spcAft>
                <a:spcPts val="500"/>
              </a:spcAft>
              <a:buSzPct val="100000"/>
            </a:pP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Exploration (</a:t>
            </a:r>
            <a:r>
              <a:rPr lang="it-IT" dirty="0" err="1"/>
              <a:t>Yamauchi</a:t>
            </a:r>
            <a:r>
              <a:rPr lang="it-IT" dirty="0"/>
              <a:t> 1997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600" dirty="0"/>
              <a:t>Frontiers: 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 between explored (free) and unknown cells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grouped into cluster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moves toward frontier clusters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heuristics policies to decide which frontier region</a:t>
            </a:r>
            <a:endParaRPr lang="en-US" sz="1600" dirty="0"/>
          </a:p>
        </p:txBody>
      </p:sp>
      <p:pic>
        <p:nvPicPr>
          <p:cNvPr id="8" name="Image 0" descr="/home/claude/assets/frontiers_picture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257800" y="914400"/>
            <a:ext cx="3657600" cy="32461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257800" y="41605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exploration illustration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B901EC0B-66A8-4AFA-930E-484C08D7F9A2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Reinforcement Learning</a:t>
            </a:r>
            <a:endParaRPr lang="en-US" sz="2600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F0653542-D9B1-9A2A-6984-1A0D33716FD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126" t="22622" r="12733" b="21093"/>
          <a:stretch>
            <a:fillRect/>
          </a:stretch>
        </p:blipFill>
        <p:spPr>
          <a:xfrm>
            <a:off x="4747137" y="785808"/>
            <a:ext cx="3833300" cy="1635919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7DB5838F-3F80-CDC3-ECA0-7532233B7FE2}"/>
              </a:ext>
            </a:extLst>
          </p:cNvPr>
          <p:cNvSpPr txBox="1"/>
          <p:nvPr/>
        </p:nvSpPr>
        <p:spPr>
          <a:xfrm>
            <a:off x="368300" y="914400"/>
            <a:ext cx="4089400" cy="355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Left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789486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6412B2-2128-3929-4281-1E0C8C4E9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0844656A-11D0-0899-E1EE-08CAD68A483B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Slide Title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46C72F1A-60D1-A8D6-3402-F45F16CEE18F}"/>
              </a:ext>
            </a:extLst>
          </p:cNvPr>
          <p:cNvSpPr txBox="1"/>
          <p:nvPr/>
        </p:nvSpPr>
        <p:spPr>
          <a:xfrm>
            <a:off x="368300" y="914400"/>
            <a:ext cx="8382000" cy="355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goes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here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7593015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A2573F97-AE10-444A-9306-BFF3D7DCA88C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Slide Title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FD0ECAD6-FF98-4193-979E-566FFED4B5AD}"/>
              </a:ext>
            </a:extLst>
          </p:cNvPr>
          <p:cNvSpPr txBox="1"/>
          <p:nvPr/>
        </p:nvSpPr>
        <p:spPr>
          <a:xfrm>
            <a:off x="368300" y="914400"/>
            <a:ext cx="4089400" cy="355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Left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4CBD74A-88E8-4A7F-BF8C-396FF18C5FD4}"/>
              </a:ext>
            </a:extLst>
          </p:cNvPr>
          <p:cNvSpPr txBox="1"/>
          <p:nvPr/>
        </p:nvSpPr>
        <p:spPr>
          <a:xfrm>
            <a:off x="4699000" y="914400"/>
            <a:ext cx="4089400" cy="355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Right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597014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62960C30-3286-4C2A-B688-DEAE83675C09}"/>
              </a:ext>
            </a:extLst>
          </p:cNvPr>
          <p:cNvSpPr txBox="1"/>
          <p:nvPr/>
        </p:nvSpPr>
        <p:spPr>
          <a:xfrm>
            <a:off x="914400" y="1778000"/>
            <a:ext cx="7315200" cy="762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3600" b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Section Title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0AEED710-32FB-4CE7-BC12-02102C1D2BFF}"/>
              </a:ext>
            </a:extLst>
          </p:cNvPr>
          <p:cNvSpPr txBox="1"/>
          <p:nvPr/>
        </p:nvSpPr>
        <p:spPr>
          <a:xfrm>
            <a:off x="1524000" y="2667000"/>
            <a:ext cx="6096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>
                <a:solidFill>
                  <a:srgbClr val="666666"/>
                </a:solidFill>
                <a:latin typeface="Calibri"/>
                <a:ea typeface="Calibri"/>
                <a:cs typeface="Calibri"/>
              </a:rPr>
              <a:t>Section subtitle or description</a:t>
            </a:r>
          </a:p>
        </p:txBody>
      </p:sp>
    </p:spTree>
    <p:extLst>
      <p:ext uri="{BB962C8B-B14F-4D97-AF65-F5344CB8AC3E}">
        <p14:creationId xmlns:p14="http://schemas.microsoft.com/office/powerpoint/2010/main" val="23582887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D71D1CBA-50C0-4D94-BDFD-CE3626AAB801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Slide Title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D22DD014-55CD-4034-B01B-03DB851B6C4D}"/>
              </a:ext>
            </a:extLst>
          </p:cNvPr>
          <p:cNvSpPr txBox="1"/>
          <p:nvPr/>
        </p:nvSpPr>
        <p:spPr>
          <a:xfrm>
            <a:off x="368300" y="914400"/>
            <a:ext cx="4318000" cy="3492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Text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goes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here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17C1C3B0-E67F-4D08-89AC-6A936CD5AAC7}"/>
              </a:ext>
            </a:extLst>
          </p:cNvPr>
          <p:cNvSpPr/>
          <p:nvPr/>
        </p:nvSpPr>
        <p:spPr>
          <a:xfrm>
            <a:off x="4889500" y="914400"/>
            <a:ext cx="3937000" cy="3492500"/>
          </a:xfrm>
          <a:prstGeom prst="roundRect">
            <a:avLst/>
          </a:prstGeom>
          <a:solidFill>
            <a:srgbClr val="F0F0F0"/>
          </a:solidFill>
          <a:ln w="12700" cap="flat" cmpd="sng" algn="ctr">
            <a:solidFill>
              <a:srgbClr val="D6E4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it-IT" sz="160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Image / Chart</a:t>
            </a:r>
          </a:p>
        </p:txBody>
      </p:sp>
    </p:spTree>
    <p:extLst>
      <p:ext uri="{BB962C8B-B14F-4D97-AF65-F5344CB8AC3E}">
        <p14:creationId xmlns:p14="http://schemas.microsoft.com/office/powerpoint/2010/main" val="3990665965"/>
      </p:ext>
    </p:extLst>
  </p:cSld>
  <p:clrMapOvr>
    <a:masterClrMapping/>
  </p:clrMapOvr>
</p:sld>
</file>

<file path=ppt/theme/theme1.xml><?xml version="1.0" encoding="utf-8"?>
<a:theme xmlns:a="http://schemas.openxmlformats.org/drawingml/2006/main" name="standard slid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Frontespizio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F41429A-0E20-4A37-B7F9-5B30E28FAAB5}">
  <we:reference id="wa200010001" version="1.0.0.1" store="it-IT" storeType="OMEX"/>
  <we:alternateReferences>
    <we:reference id="WA200010001" version="1.0.0.1" store="WA200010001" storeType="OMEX"/>
  </we:alternateReferences>
  <we:properties>
    <we:property name="claude.fileId" value="&quot;a0536ab6-2f2e-4d83-9a69-81edefdca97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1335</TotalTime>
  <Words>215</Words>
  <Application>Microsoft Office PowerPoint</Application>
  <PresentationFormat>Presentazione su schermo (16:9)</PresentationFormat>
  <Paragraphs>48</Paragraphs>
  <Slides>9</Slides>
  <Notes>3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2</vt:i4>
      </vt:variant>
      <vt:variant>
        <vt:lpstr>Titoli diapositive</vt:lpstr>
      </vt:variant>
      <vt:variant>
        <vt:i4>9</vt:i4>
      </vt:variant>
    </vt:vector>
  </HeadingPairs>
  <TitlesOfParts>
    <vt:vector size="14" baseType="lpstr">
      <vt:lpstr>Arial</vt:lpstr>
      <vt:lpstr>Calibri</vt:lpstr>
      <vt:lpstr>Courier New</vt:lpstr>
      <vt:lpstr>standard slide</vt:lpstr>
      <vt:lpstr>Frontespizio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 Reinforcement Learning in Frontier-Based Autonomous Exploration</dc:title>
  <dc:subject>PptxGenJS Presentation</dc:subject>
  <dc:creator>Paolo Spallanzani</dc:creator>
  <cp:lastModifiedBy>PAOLO SPALLANZANI</cp:lastModifiedBy>
  <cp:revision>9</cp:revision>
  <dcterms:created xsi:type="dcterms:W3CDTF">2026-04-01T11:00:14Z</dcterms:created>
  <dcterms:modified xsi:type="dcterms:W3CDTF">2026-04-07T10:15:45Z</dcterms:modified>
</cp:coreProperties>
</file>