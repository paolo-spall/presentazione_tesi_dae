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g"/>
  <Override PartName="/ppt/media/image7.jpg" ContentType="image/png"/>
  <Override PartName="/ppt/media/image13.jpg" ContentType="image/pn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55" r:id="rId2"/>
  </p:sldMasterIdLst>
  <p:notesMasterIdLst>
    <p:notesMasterId r:id="rId33"/>
  </p:notesMasterIdLst>
  <p:sldIdLst>
    <p:sldId id="266" r:id="rId3"/>
    <p:sldId id="269" r:id="rId4"/>
    <p:sldId id="273" r:id="rId5"/>
    <p:sldId id="259" r:id="rId6"/>
    <p:sldId id="271" r:id="rId7"/>
    <p:sldId id="261" r:id="rId8"/>
    <p:sldId id="298" r:id="rId9"/>
    <p:sldId id="267" r:id="rId10"/>
    <p:sldId id="272" r:id="rId11"/>
    <p:sldId id="262" r:id="rId12"/>
    <p:sldId id="274" r:id="rId13"/>
    <p:sldId id="301" r:id="rId14"/>
    <p:sldId id="275" r:id="rId15"/>
    <p:sldId id="276" r:id="rId16"/>
    <p:sldId id="265" r:id="rId17"/>
    <p:sldId id="285" r:id="rId18"/>
    <p:sldId id="292" r:id="rId19"/>
    <p:sldId id="279" r:id="rId20"/>
    <p:sldId id="293" r:id="rId21"/>
    <p:sldId id="303" r:id="rId22"/>
    <p:sldId id="297" r:id="rId23"/>
    <p:sldId id="268" r:id="rId24"/>
    <p:sldId id="295" r:id="rId25"/>
    <p:sldId id="296" r:id="rId26"/>
    <p:sldId id="302" r:id="rId27"/>
    <p:sldId id="270" r:id="rId28"/>
    <p:sldId id="299" r:id="rId29"/>
    <p:sldId id="300" r:id="rId30"/>
    <p:sldId id="264" r:id="rId31"/>
    <p:sldId id="263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E4F0"/>
    <a:srgbClr val="1A2E4A"/>
    <a:srgbClr val="F5F7FA"/>
    <a:srgbClr val="4CAF50"/>
    <a:srgbClr val="C00000"/>
    <a:srgbClr val="C847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583" autoAdjust="0"/>
    <p:restoredTop sz="94564" autoAdjust="0"/>
  </p:normalViewPr>
  <p:slideViewPr>
    <p:cSldViewPr snapToGrid="0" snapToObjects="1">
      <p:cViewPr varScale="1">
        <p:scale>
          <a:sx n="114" d="100"/>
          <a:sy n="114" d="100"/>
        </p:scale>
        <p:origin x="566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44"/>
    </p:cViewPr>
  </p:sorterViewPr>
  <p:notesViewPr>
    <p:cSldViewPr snapToGrid="0" snapToObjects="1">
      <p:cViewPr varScale="1">
        <p:scale>
          <a:sx n="65" d="100"/>
          <a:sy n="65" d="100"/>
        </p:scale>
        <p:origin x="2453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1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F9F5B-54CF-BE03-B793-6DE0FF66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C7B444-F33D-49A3-C84E-E4FD51274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FA38E-751A-625F-9153-EA8CDCCD54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91571A-96E9-530E-5617-D017077E9B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853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84BED-C2A0-5CCB-FE3C-DD1F58E4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4FE47-B95B-7967-C04F-9D00B189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DB139-46FA-2E1C-7AB4-EC9976BE8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E3AD4-9236-2230-E11A-4515FCAA92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19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6E773-304D-0695-B80C-C338BAEFE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19098D-F93F-11E3-742E-E73C99C4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6715E9-4172-7B24-3B44-D6232A5EB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E0895-5927-CC51-B003-92282C31E3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97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2100B-E36D-2AD9-E4A2-FE9FCAD5D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6422AF-4688-128E-CA5D-EAB26F521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BA5EA-2CD4-AED6-CAEB-9FED66079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0E31A-2C70-98DD-83D9-274BDA6059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913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D7A8-1F12-2260-B729-4A4467482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937E6-5371-2F12-F6EE-4F70E04A23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00D65-E31C-3C9C-A2AA-FA4F21395D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15D08-8B4C-9037-2F4F-9F385213AE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227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BEF2A485-BE30-A66E-9173-707CE568EF4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BEDA1CF-C5AE-DD5B-9342-F610121D19B1}"/>
              </a:ext>
            </a:extLst>
          </p:cNvPr>
          <p:cNvSpPr txBox="1"/>
          <p:nvPr userDrawn="1"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4AC78B8-D2E8-8FD7-43EB-3F25868399E6}"/>
              </a:ext>
            </a:extLst>
          </p:cNvPr>
          <p:cNvSpPr/>
          <p:nvPr userDrawn="1"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12" name="Footer Left"/>
          <p:cNvSpPr txBox="1"/>
          <p:nvPr userDrawn="1"/>
        </p:nvSpPr>
        <p:spPr>
          <a:xfrm>
            <a:off x="317500" y="4851400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Author  ·  Presentation Title</a:t>
            </a:r>
          </a:p>
        </p:txBody>
      </p:sp>
      <p:sp>
        <p:nvSpPr>
          <p:cNvPr id="13" name="Footer Right"/>
          <p:cNvSpPr txBox="1"/>
          <p:nvPr userDrawn="1"/>
        </p:nvSpPr>
        <p:spPr>
          <a:xfrm>
            <a:off x="8407400" y="4851400"/>
            <a:ext cx="4572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en-US" sz="900" dirty="0">
                <a:solidFill>
                  <a:srgbClr val="BBBBBB"/>
                </a:solidFill>
                <a:latin typeface="Calibri" pitchFamily="34" charset="0"/>
              </a:rPr>
              <a:t># / N</a:t>
            </a:r>
          </a:p>
        </p:txBody>
      </p:sp>
      <p:pic>
        <p:nvPicPr>
          <p:cNvPr id="14" name="Unimore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42200" y="4572000"/>
            <a:ext cx="1524000" cy="54864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FF9179C6-E191-5331-8606-9480C7200249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B8496F5-498E-1F51-EE9E-F1CC505A6326}"/>
              </a:ext>
            </a:extLst>
          </p:cNvPr>
          <p:cNvSpPr txBox="1"/>
          <p:nvPr userDrawn="1"/>
        </p:nvSpPr>
        <p:spPr>
          <a:xfrm>
            <a:off x="3683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Left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BC8E3-3772-3517-6D88-69F15F76D304}"/>
              </a:ext>
            </a:extLst>
          </p:cNvPr>
          <p:cNvSpPr txBox="1"/>
          <p:nvPr userDrawn="1"/>
        </p:nvSpPr>
        <p:spPr>
          <a:xfrm>
            <a:off x="4699000" y="914400"/>
            <a:ext cx="40894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Right content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Bar"/>
          <p:cNvSpPr/>
          <p:nvPr userDrawn="1"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 w="6350">
            <a:solidFill>
              <a:srgbClr val="C8472C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11" name="Divider Line"/>
          <p:cNvCxnSpPr/>
          <p:nvPr userDrawn="1"/>
        </p:nvCxnSpPr>
        <p:spPr>
          <a:xfrm>
            <a:off x="317500" y="774700"/>
            <a:ext cx="8509000" cy="0"/>
          </a:xfrm>
          <a:prstGeom prst="line">
            <a:avLst/>
          </a:prstGeom>
          <a:ln w="12700">
            <a:solidFill>
              <a:srgbClr val="D6E4F0"/>
            </a:solidFill>
          </a:ln>
        </p:spPr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BA9E8BA-4469-EAFF-B7DA-097873334163}"/>
              </a:ext>
            </a:extLst>
          </p:cNvPr>
          <p:cNvSpPr txBox="1"/>
          <p:nvPr userDrawn="1"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endParaRPr lang="it-IT" sz="2600" b="1" dirty="0">
              <a:solidFill>
                <a:srgbClr val="1A1A1A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640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691527-7949-E352-4491-938A6C3C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2163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323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espizio"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526605BC-B1CA-2824-D924-78A259FD846E}"/>
              </a:ext>
            </a:extLst>
          </p:cNvPr>
          <p:cNvSpPr/>
          <p:nvPr userDrawn="1"/>
        </p:nvSpPr>
        <p:spPr>
          <a:xfrm>
            <a:off x="457200" y="93268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8B3960F7-6679-4E91-A84F-9A6E20A7E879}"/>
              </a:ext>
            </a:extLst>
          </p:cNvPr>
          <p:cNvSpPr/>
          <p:nvPr userDrawn="1"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Dipartimento di Scienze e Metodi dell'Ingegneria</a:t>
            </a:r>
            <a:endParaRPr lang="en-US" sz="1200" dirty="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03386294-E84F-C730-9131-561C7C53D31D}"/>
              </a:ext>
            </a:extLst>
          </p:cNvPr>
          <p:cNvSpPr/>
          <p:nvPr userDrawn="1"/>
        </p:nvSpPr>
        <p:spPr>
          <a:xfrm>
            <a:off x="457200" y="1280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 di Laurea Magistrale in Digital Automation Engineering</a:t>
            </a:r>
            <a:endParaRPr lang="en-US" sz="11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848A098-266E-562A-29D8-DAABDE0F7325}"/>
              </a:ext>
            </a:extLst>
          </p:cNvPr>
          <p:cNvSpPr/>
          <p:nvPr userDrawn="1"/>
        </p:nvSpPr>
        <p:spPr>
          <a:xfrm>
            <a:off x="457200" y="162763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 in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Autonomous Exploration</a:t>
            </a:r>
            <a:endParaRPr lang="en-US" sz="3000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2E5DF3F4-DC6A-CE9A-EDB9-15A7CF474C32}"/>
              </a:ext>
            </a:extLst>
          </p:cNvPr>
          <p:cNvSpPr/>
          <p:nvPr userDrawn="1"/>
        </p:nvSpPr>
        <p:spPr>
          <a:xfrm>
            <a:off x="2286000" y="3127248"/>
            <a:ext cx="45720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6A2E1985-9F70-66FA-81B8-88C111D3CAD1}"/>
              </a:ext>
            </a:extLst>
          </p:cNvPr>
          <p:cNvSpPr/>
          <p:nvPr userDrawn="1"/>
        </p:nvSpPr>
        <p:spPr>
          <a:xfrm>
            <a:off x="914400" y="32461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Tesi di Laurea di:  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</a:t>
            </a:r>
            <a:endParaRPr lang="en-US" sz="1200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6FF24EB2-1FCF-68A9-7B8B-012D729A0F8C}"/>
              </a:ext>
            </a:extLst>
          </p:cNvPr>
          <p:cNvSpPr/>
          <p:nvPr userDrawn="1"/>
        </p:nvSpPr>
        <p:spPr>
          <a:xfrm>
            <a:off x="914400" y="35661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Relatore: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Lorenzo Sabattini</a:t>
            </a:r>
            <a:endParaRPr lang="en-US" sz="1100" dirty="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D378B1E1-7B7F-E3BB-F19F-235818FCA12C}"/>
              </a:ext>
            </a:extLst>
          </p:cNvPr>
          <p:cNvSpPr/>
          <p:nvPr userDrawn="1"/>
        </p:nvSpPr>
        <p:spPr>
          <a:xfrm>
            <a:off x="914400" y="38587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Correlatori: 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Dott. Mattia Catellani  ·  Dott. Mattia Mantovani</a:t>
            </a:r>
            <a:endParaRPr lang="en-US" sz="1100" dirty="0"/>
          </a:p>
        </p:txBody>
      </p:sp>
      <p:sp>
        <p:nvSpPr>
          <p:cNvPr id="16" name="Text 8">
            <a:extLst>
              <a:ext uri="{FF2B5EF4-FFF2-40B4-BE49-F238E27FC236}">
                <a16:creationId xmlns:a16="http://schemas.microsoft.com/office/drawing/2014/main" id="{78AB9DC9-608E-C372-DFAB-74DA8DA9FE8C}"/>
              </a:ext>
            </a:extLst>
          </p:cNvPr>
          <p:cNvSpPr/>
          <p:nvPr userDrawn="1"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 Accademico 2024/2025</a:t>
            </a:r>
            <a:endParaRPr lang="en-US" sz="1000" dirty="0"/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08122842-6C81-70B2-D7B4-07F57673DC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14300"/>
            <a:ext cx="2019300" cy="726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780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>
            <a:extLst>
              <a:ext uri="{FF2B5EF4-FFF2-40B4-BE49-F238E27FC236}">
                <a16:creationId xmlns:a16="http://schemas.microsoft.com/office/drawing/2014/main" id="{EE330B32-3708-D315-1AD0-A10B738A23FC}"/>
              </a:ext>
            </a:extLst>
          </p:cNvPr>
          <p:cNvSpPr/>
          <p:nvPr userDrawn="1"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DF7A45D1-2CC8-6EAA-4EE8-FFE68F18D781}"/>
              </a:ext>
            </a:extLst>
          </p:cNvPr>
          <p:cNvSpPr/>
          <p:nvPr userDrawn="1"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19" name="Shape 2">
            <a:extLst>
              <a:ext uri="{FF2B5EF4-FFF2-40B4-BE49-F238E27FC236}">
                <a16:creationId xmlns:a16="http://schemas.microsoft.com/office/drawing/2014/main" id="{04D00198-E4B5-30CC-0027-A0984F44BB91}"/>
              </a:ext>
            </a:extLst>
          </p:cNvPr>
          <p:cNvSpPr/>
          <p:nvPr userDrawn="1"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66251E09-D0A7-09EF-126D-18A49BAD8201}"/>
              </a:ext>
            </a:extLst>
          </p:cNvPr>
          <p:cNvSpPr/>
          <p:nvPr userDrawn="1"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BCE28362-0855-98A7-16B7-F75AE5519E10}"/>
              </a:ext>
            </a:extLst>
          </p:cNvPr>
          <p:cNvSpPr/>
          <p:nvPr userDrawn="1"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B564588-27F1-D454-BF49-C741BEA540C9}"/>
              </a:ext>
            </a:extLst>
          </p:cNvPr>
          <p:cNvSpPr/>
          <p:nvPr userDrawn="1"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96D9CEE5-12B4-61A5-95C1-FFCA89560187}"/>
              </a:ext>
            </a:extLst>
          </p:cNvPr>
          <p:cNvSpPr/>
          <p:nvPr userDrawn="1"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AEADAF4D-B287-58F6-10FB-B193BEA40212}"/>
              </a:ext>
            </a:extLst>
          </p:cNvPr>
          <p:cNvSpPr/>
          <p:nvPr userDrawn="1"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4F86E7D2-0ACE-BA99-BABB-0EFACD1BC9A2}"/>
              </a:ext>
            </a:extLst>
          </p:cNvPr>
          <p:cNvSpPr/>
          <p:nvPr userDrawn="1"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61C44422-0542-B493-5AA1-72C50929A1CD}"/>
              </a:ext>
            </a:extLst>
          </p:cNvPr>
          <p:cNvSpPr/>
          <p:nvPr userDrawn="1"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70F9DB6-EB9F-417B-DA46-3CB83AC24A2D}"/>
              </a:ext>
            </a:extLst>
          </p:cNvPr>
          <p:cNvSpPr/>
          <p:nvPr userDrawn="1"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8CC124B3-CAC5-60F2-E867-12843D61BF32}"/>
              </a:ext>
            </a:extLst>
          </p:cNvPr>
          <p:cNvSpPr/>
          <p:nvPr userDrawn="1"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E7DCE628-96A6-38EF-ED31-21BF2C7F90DF}"/>
              </a:ext>
            </a:extLst>
          </p:cNvPr>
          <p:cNvSpPr/>
          <p:nvPr userDrawn="1"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304A07CA-B3AE-32F3-F8DC-F730D43B2C6A}"/>
              </a:ext>
            </a:extLst>
          </p:cNvPr>
          <p:cNvSpPr/>
          <p:nvPr userDrawn="1"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3234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2710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Unimore Logo">
            <a:extLst>
              <a:ext uri="{FF2B5EF4-FFF2-40B4-BE49-F238E27FC236}">
                <a16:creationId xmlns:a16="http://schemas.microsoft.com/office/drawing/2014/main" id="{6043A221-5444-D27B-415A-2EBF79EB34EC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34467" y="4616076"/>
            <a:ext cx="1307353" cy="470647"/>
          </a:xfrm>
          <a:prstGeom prst="rect">
            <a:avLst/>
          </a:prstGeom>
        </p:spPr>
      </p:pic>
      <p:sp>
        <p:nvSpPr>
          <p:cNvPr id="4" name="Footer Left">
            <a:extLst>
              <a:ext uri="{FF2B5EF4-FFF2-40B4-BE49-F238E27FC236}">
                <a16:creationId xmlns:a16="http://schemas.microsoft.com/office/drawing/2014/main" id="{FB136CB4-7A22-1793-524D-2BE9EE009B75}"/>
              </a:ext>
            </a:extLst>
          </p:cNvPr>
          <p:cNvSpPr txBox="1"/>
          <p:nvPr userDrawn="1"/>
        </p:nvSpPr>
        <p:spPr>
          <a:xfrm>
            <a:off x="685800" y="4851399"/>
            <a:ext cx="77724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0" r:id="rId2"/>
    <p:sldLayoutId id="2147483654" r:id="rId3"/>
    <p:sldLayoutId id="2147483669" r:id="rId4"/>
    <p:sldLayoutId id="2147483670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1A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2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15.png"/><Relationship Id="rId4" Type="http://schemas.openxmlformats.org/officeDocument/2006/relationships/image" Target="../media/image13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679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942976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88696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leveraged into autonomous exploration?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140273"/>
            <a:ext cx="8229600" cy="10780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000FCEB4-5A5B-AECB-8434-1AA1350D5054}"/>
              </a:ext>
            </a:extLst>
          </p:cNvPr>
          <p:cNvSpPr/>
          <p:nvPr/>
        </p:nvSpPr>
        <p:spPr>
          <a:xfrm>
            <a:off x="365760" y="3367363"/>
            <a:ext cx="8458200" cy="114034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0015EE5A-DA97-6AC7-337B-2E3B82A10631}"/>
              </a:ext>
            </a:extLst>
          </p:cNvPr>
          <p:cNvSpPr/>
          <p:nvPr/>
        </p:nvSpPr>
        <p:spPr>
          <a:xfrm>
            <a:off x="756525" y="3879832"/>
            <a:ext cx="7722390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to 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the possibility of</a:t>
            </a: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integrating learning-based methods with classical ones</a:t>
            </a:r>
            <a:endParaRPr lang="en-US" b="1" dirty="0"/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9E002ABA-51D8-44C0-5622-613A998D91FA}"/>
              </a:ext>
            </a:extLst>
          </p:cNvPr>
          <p:cNvSpPr/>
          <p:nvPr/>
        </p:nvSpPr>
        <p:spPr>
          <a:xfrm>
            <a:off x="686512" y="3371651"/>
            <a:ext cx="1324451" cy="4724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5734-CF37-87E8-1710-B49D7F31A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088FCE5-8752-2BE9-019C-D83E290F36B2}"/>
              </a:ext>
            </a:extLst>
          </p:cNvPr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834930-9CDC-649F-A5D9-6BFF89C9FD3F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594123-9EB4-0214-1146-B0034A104D25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&amp; Scope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B3CE1F0-3C1B-BB0F-D636-C66DC2195FE1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EEECED5-C202-9C0F-88A5-C92E3606F903}"/>
              </a:ext>
            </a:extLst>
          </p:cNvPr>
          <p:cNvSpPr/>
          <p:nvPr/>
        </p:nvSpPr>
        <p:spPr>
          <a:xfrm>
            <a:off x="365760" y="914400"/>
            <a:ext cx="8412480" cy="9601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9242DBA-A9A1-DF3B-26A2-DACFDF1392A9}"/>
              </a:ext>
            </a:extLst>
          </p:cNvPr>
          <p:cNvSpPr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Can Deep Reinforcement Learning (DRL) be effectively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autonomous exploration?</a:t>
            </a: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B0FB926-2341-946C-D166-ACBA004280B9}"/>
              </a:ext>
            </a:extLst>
          </p:cNvPr>
          <p:cNvSpPr/>
          <p:nvPr/>
        </p:nvSpPr>
        <p:spPr>
          <a:xfrm>
            <a:off x="457200" y="2011680"/>
            <a:ext cx="8229600" cy="14644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complex task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analytical 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exist but present some limitations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methods can provide more adaptive models</a:t>
            </a: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learning-based method be </a:t>
            </a: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classical ones? </a:t>
            </a:r>
            <a:endParaRPr lang="en-US" dirty="0"/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8F639CD3-34C8-D5DC-F5C8-88F37F8FBCD9}"/>
              </a:ext>
            </a:extLst>
          </p:cNvPr>
          <p:cNvSpPr/>
          <p:nvPr/>
        </p:nvSpPr>
        <p:spPr>
          <a:xfrm>
            <a:off x="365760" y="3565705"/>
            <a:ext cx="8412480" cy="800555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7CCC860-9210-70E3-C27A-87D315605618}"/>
              </a:ext>
            </a:extLst>
          </p:cNvPr>
          <p:cNvSpPr/>
          <p:nvPr/>
        </p:nvSpPr>
        <p:spPr>
          <a:xfrm>
            <a:off x="457200" y="3565705"/>
            <a:ext cx="8229600" cy="750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</a:p>
          <a:p>
            <a:pPr marL="0" indent="0" algn="ctr">
              <a:buNone/>
            </a:pPr>
            <a:r>
              <a:rPr lang="en-US" b="1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develop a framework for the investigation of this possibility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500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Context: Autonomous Exploration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Exploration: systematically map an unknown environment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Autonomous: the agent can perceive and moves without human guidance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autonomous exploration?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task, requires: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Mapping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Localization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Navigation</a:t>
            </a:r>
          </a:p>
          <a:p>
            <a:pPr marL="647700" lvl="1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400" dirty="0"/>
              <a:t>Decision making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5419961" y="3687886"/>
            <a:ext cx="3136106" cy="2285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exploration application examples</a:t>
            </a:r>
            <a:endParaRPr lang="en-US" sz="9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497BBE3-9ECA-8B02-05B1-5CA8969F94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47" r="3033"/>
          <a:stretch>
            <a:fillRect/>
          </a:stretch>
        </p:blipFill>
        <p:spPr>
          <a:xfrm>
            <a:off x="5187789" y="1277305"/>
            <a:ext cx="1757361" cy="1077575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D04AF77-05C1-3B51-5275-C1DCABC700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651" b="10263"/>
          <a:stretch>
            <a:fillRect/>
          </a:stretch>
        </p:blipFill>
        <p:spPr>
          <a:xfrm>
            <a:off x="5975687" y="2421300"/>
            <a:ext cx="2043800" cy="1077575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EE99CC8A-8B36-9C8B-61FA-7500A73EB6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782" r="4233"/>
          <a:stretch>
            <a:fillRect/>
          </a:stretch>
        </p:blipFill>
        <p:spPr>
          <a:xfrm>
            <a:off x="7046588" y="1277305"/>
            <a:ext cx="1757362" cy="1077575"/>
          </a:xfrm>
          <a:prstGeom prst="rect">
            <a:avLst/>
          </a:prstGeom>
        </p:spPr>
      </p:pic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546CEDB6-C13F-EB1B-1AC8-58CA8B3E7A63}"/>
              </a:ext>
            </a:extLst>
          </p:cNvPr>
          <p:cNvCxnSpPr/>
          <p:nvPr/>
        </p:nvCxnSpPr>
        <p:spPr>
          <a:xfrm>
            <a:off x="2428872" y="3814765"/>
            <a:ext cx="27860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47D1818-D2C0-D195-C9F9-F000EE269B9B}"/>
              </a:ext>
            </a:extLst>
          </p:cNvPr>
          <p:cNvSpPr txBox="1"/>
          <p:nvPr/>
        </p:nvSpPr>
        <p:spPr>
          <a:xfrm>
            <a:off x="2771773" y="3660872"/>
            <a:ext cx="2382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 The agent must decide where to move next </a:t>
            </a:r>
            <a:endParaRPr lang="it-IT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Approaches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Best View approach</a:t>
            </a:r>
            <a:b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it-IT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it-IT" sz="1600" dirty="0" err="1"/>
              <a:t>ptimization</a:t>
            </a:r>
            <a:r>
              <a:rPr lang="it-IT" sz="1600" dirty="0"/>
              <a:t> </a:t>
            </a:r>
            <a:r>
              <a:rPr lang="it-IT" sz="1600" dirty="0" err="1"/>
              <a:t>problem</a:t>
            </a:r>
            <a:r>
              <a:rPr lang="it-IT" sz="1600" dirty="0"/>
              <a:t>, </a:t>
            </a:r>
            <a:r>
              <a:rPr lang="it-IT" sz="1600" dirty="0" err="1"/>
              <a:t>finding</a:t>
            </a:r>
            <a:r>
              <a:rPr lang="it-IT" sz="1600" dirty="0"/>
              <a:t> the </a:t>
            </a:r>
            <a:r>
              <a:rPr lang="it-IT" sz="1600" dirty="0" err="1"/>
              <a:t>next</a:t>
            </a:r>
            <a:r>
              <a:rPr lang="it-IT" sz="1600" dirty="0"/>
              <a:t> best position for the sensing </a:t>
            </a:r>
            <a:r>
              <a:rPr lang="it-IT" sz="1600" dirty="0" err="1"/>
              <a:t>apparatous</a:t>
            </a:r>
            <a:endParaRPr lang="it-IT" sz="1600" dirty="0"/>
          </a:p>
          <a:p>
            <a:pPr>
              <a:spcAft>
                <a:spcPts val="500"/>
              </a:spcAft>
              <a:buSzPct val="100000"/>
            </a:pPr>
            <a:endParaRPr lang="en-US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(</a:t>
            </a:r>
            <a:r>
              <a:rPr lang="it-IT" dirty="0" err="1"/>
              <a:t>Yamauchi</a:t>
            </a:r>
            <a:r>
              <a:rPr lang="it-IT" dirty="0"/>
              <a:t> 1997</a:t>
            </a: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/>
              <a:t>Frontiers: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between explored (free) and unknown cells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grouped into cluster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moves toward frontier clusters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heuristics policies to decide which frontier region</a:t>
            </a:r>
            <a:endParaRPr lang="en-US" sz="1600" dirty="0"/>
          </a:p>
        </p:txBody>
      </p:sp>
      <p:pic>
        <p:nvPicPr>
          <p:cNvPr id="8" name="Image 0" descr="/home/claude/assets/frontiers_pictur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57800" y="914400"/>
            <a:ext cx="3657600" cy="32461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0" y="4160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Frontier-based exploration illustration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901EC0B-66A8-4AFA-930E-484C08D7F9A2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0653542-D9B1-9A2A-6984-1A0D33716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26" t="22622" r="12733" b="21093"/>
          <a:stretch>
            <a:fillRect/>
          </a:stretch>
        </p:blipFill>
        <p:spPr>
          <a:xfrm>
            <a:off x="5679282" y="1908326"/>
            <a:ext cx="3109083" cy="1326848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F7F5C26E-B483-858E-04DF-EE05A7A1B5F3}"/>
              </a:ext>
            </a:extLst>
          </p:cNvPr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/>
              <p:nvPr/>
            </p:nvSpPr>
            <p:spPr>
              <a:xfrm>
                <a:off x="457200" y="1280160"/>
                <a:ext cx="5222082" cy="29032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agent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sequentially observe interact with an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environment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modifying it and receives a scalar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reward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Observe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, perform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300" dirty="0"/>
                  <a:t> leading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300" dirty="0"/>
                  <a:t>, receives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sSub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𝑟</m:t>
                        </m:r>
                      </m:e>
                      <m:sub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𝑡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+1</m:t>
                        </m:r>
                      </m:sub>
                    </m:sSub>
                  </m:oMath>
                </a14:m>
                <a:endParaRPr lang="en-US" sz="1300" dirty="0"/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Goal: learn to take the best action </a:t>
                </a:r>
                <a:r>
                  <a:rPr lang="en-US" sz="1200" b="1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maximize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cumulative reward</a:t>
                </a: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</a:p>
              <a:p>
                <a:pPr>
                  <a:spcAft>
                    <a:spcPts val="500"/>
                  </a:spcAft>
                  <a:buSzPct val="100000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behavioral Policy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Π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|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output an action given a state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 Q-function </a:t>
                </a:r>
                <a14:m>
                  <m:oMath xmlns:m="http://schemas.openxmlformats.org/officeDocument/2006/math"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(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𝑆</m:t>
                    </m:r>
                    <m:r>
                      <a:rPr lang="it-IT" sz="13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,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𝑎</m:t>
                    </m:r>
                    <m:r>
                      <a:rPr lang="it-IT" sz="13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)</m:t>
                    </m:r>
                  </m:oMath>
                </a14:m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allow to assign a value to each action-state pair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endParaRPr lang="en-US" sz="1300" dirty="0">
                  <a:solidFill>
                    <a:srgbClr val="1A1A1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</p:txBody>
          </p:sp>
        </mc:Choice>
        <mc:Fallback>
          <p:sp>
            <p:nvSpPr>
              <p:cNvPr id="9" name="Text 8">
                <a:extLst>
                  <a:ext uri="{FF2B5EF4-FFF2-40B4-BE49-F238E27FC236}">
                    <a16:creationId xmlns:a16="http://schemas.microsoft.com/office/drawing/2014/main" id="{20F013AD-F929-BC0A-5743-A5947A99B8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280160"/>
                <a:ext cx="5222082" cy="2903220"/>
              </a:xfrm>
              <a:prstGeom prst="rect">
                <a:avLst/>
              </a:prstGeom>
              <a:blipFill>
                <a:blip r:embed="rId3"/>
                <a:stretch>
                  <a:fillRect l="-233" t="-420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0DC10423-BDC3-CDC1-6579-474E3A5724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028" y="3923112"/>
            <a:ext cx="3113669" cy="483156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C448EB91-789F-B3B5-736B-406379695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5049" y="2611294"/>
            <a:ext cx="1976851" cy="494213"/>
          </a:xfrm>
          <a:prstGeom prst="rect">
            <a:avLst/>
          </a:prstGeom>
        </p:spPr>
      </p:pic>
      <p:sp>
        <p:nvSpPr>
          <p:cNvPr id="19" name="Shape 22">
            <a:extLst>
              <a:ext uri="{FF2B5EF4-FFF2-40B4-BE49-F238E27FC236}">
                <a16:creationId xmlns:a16="http://schemas.microsoft.com/office/drawing/2014/main" id="{3F595427-3DD0-57FC-DAC1-7DA4377682E1}"/>
              </a:ext>
            </a:extLst>
          </p:cNvPr>
          <p:cNvSpPr/>
          <p:nvPr/>
        </p:nvSpPr>
        <p:spPr>
          <a:xfrm>
            <a:off x="1795049" y="2548294"/>
            <a:ext cx="2078853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20" name="Shape 22">
            <a:extLst>
              <a:ext uri="{FF2B5EF4-FFF2-40B4-BE49-F238E27FC236}">
                <a16:creationId xmlns:a16="http://schemas.microsoft.com/office/drawing/2014/main" id="{1D016AD0-8AF3-FFBE-63F2-525B866D478F}"/>
              </a:ext>
            </a:extLst>
          </p:cNvPr>
          <p:cNvSpPr/>
          <p:nvPr/>
        </p:nvSpPr>
        <p:spPr>
          <a:xfrm>
            <a:off x="1441028" y="3893235"/>
            <a:ext cx="3130972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6789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AAB9E-CDD0-0F57-8B7B-789264467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658FAD49-D0CC-A805-9A3D-AA6717AD0B6F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Reinforcement Learning</a:t>
            </a:r>
            <a:endParaRPr lang="en-US" sz="26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18DCC72-96ED-6DEC-7CB8-825054805F74}"/>
              </a:ext>
            </a:extLst>
          </p:cNvPr>
          <p:cNvSpPr/>
          <p:nvPr/>
        </p:nvSpPr>
        <p:spPr>
          <a:xfrm>
            <a:off x="457200" y="8886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 Learning</a:t>
            </a:r>
            <a:endParaRPr 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CA31438-CC1F-2DBE-C75E-7DE4E7E15FE9}"/>
              </a:ext>
            </a:extLst>
          </p:cNvPr>
          <p:cNvSpPr/>
          <p:nvPr/>
        </p:nvSpPr>
        <p:spPr>
          <a:xfrm>
            <a:off x="457200" y="1208719"/>
            <a:ext cx="4321969" cy="85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Q-Algorithm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allow to iteratively estimate the Q-function from experience</a:t>
            </a:r>
          </a:p>
          <a:p>
            <a:pPr>
              <a:spcAft>
                <a:spcPts val="500"/>
              </a:spcAft>
              <a:buSzPct val="100000"/>
            </a:pPr>
            <a:endParaRPr lang="en-US" sz="13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8437B19-2201-552E-3177-C28E81544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235" y="3210167"/>
            <a:ext cx="3880052" cy="968554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3D30F77C-FF6D-4D81-8AA7-EAF0025AB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5235" y="1525226"/>
            <a:ext cx="3832365" cy="956651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1463F26B-8A19-3D34-2B5F-CEB841A4DF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3066"/>
          <a:stretch>
            <a:fillRect/>
          </a:stretch>
        </p:blipFill>
        <p:spPr>
          <a:xfrm>
            <a:off x="455472" y="2007737"/>
            <a:ext cx="4055533" cy="3682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/>
              <p:nvPr/>
            </p:nvSpPr>
            <p:spPr>
              <a:xfrm>
                <a:off x="543988" y="3354901"/>
                <a:ext cx="4361247" cy="956651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For high dimensional state spaces the Q-table can become too memory expansive </a:t>
                </a:r>
              </a:p>
              <a:p>
                <a:pPr marL="190500" indent="-190500">
                  <a:spcAft>
                    <a:spcPts val="500"/>
                  </a:spcAft>
                  <a:buSzPct val="100000"/>
                  <a:buChar char="•"/>
                </a:pPr>
                <a:r>
                  <a:rPr lang="en-US" sz="1300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In Deep Q-Network the Q-function mapping is approximated by Deep </a:t>
                </a:r>
                <a:r>
                  <a:rPr lang="en-US" sz="1300" b="1" dirty="0">
                    <a:solidFill>
                      <a:srgbClr val="1A1A1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Neural Network </a:t>
                </a:r>
                <a14:m>
                  <m:oMath xmlns:m="http://schemas.openxmlformats.org/officeDocument/2006/math">
                    <m:r>
                      <a:rPr lang="it-IT" sz="130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𝑄</m:t>
                    </m:r>
                    <m:d>
                      <m:dPr>
                        <m:ctrlP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dPr>
                      <m:e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𝑆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,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𝑎</m:t>
                        </m:r>
                        <m:r>
                          <a:rPr lang="it-IT" sz="13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;</m:t>
                        </m:r>
                        <m:r>
                          <a:rPr lang="it-IT" sz="13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sz="1300" dirty="0"/>
              </a:p>
            </p:txBody>
          </p:sp>
        </mc:Choice>
        <mc:Fallback>
          <p:sp>
            <p:nvSpPr>
              <p:cNvPr id="15" name="Text 8">
                <a:extLst>
                  <a:ext uri="{FF2B5EF4-FFF2-40B4-BE49-F238E27FC236}">
                    <a16:creationId xmlns:a16="http://schemas.microsoft.com/office/drawing/2014/main" id="{76B6664A-4D66-2DE4-DA3E-DE9E7F71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988" y="3354901"/>
                <a:ext cx="4361247" cy="956651"/>
              </a:xfrm>
              <a:prstGeom prst="rect">
                <a:avLst/>
              </a:prstGeom>
              <a:blipFill>
                <a:blip r:embed="rId5"/>
                <a:stretch>
                  <a:fillRect l="-279" t="-1274" b="-4459"/>
                </a:stretch>
              </a:blipFill>
              <a:ln/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7">
            <a:extLst>
              <a:ext uri="{FF2B5EF4-FFF2-40B4-BE49-F238E27FC236}">
                <a16:creationId xmlns:a16="http://schemas.microsoft.com/office/drawing/2014/main" id="{0BB49070-AA2A-F57E-8BCA-7F61D012C63B}"/>
              </a:ext>
            </a:extLst>
          </p:cNvPr>
          <p:cNvSpPr/>
          <p:nvPr/>
        </p:nvSpPr>
        <p:spPr>
          <a:xfrm>
            <a:off x="508000" y="3001567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Deep Q-Network</a:t>
            </a:r>
            <a:endParaRPr lang="en-US" dirty="0"/>
          </a:p>
        </p:txBody>
      </p:sp>
      <p:pic>
        <p:nvPicPr>
          <p:cNvPr id="20" name="Immagine 19">
            <a:extLst>
              <a:ext uri="{FF2B5EF4-FFF2-40B4-BE49-F238E27FC236}">
                <a16:creationId xmlns:a16="http://schemas.microsoft.com/office/drawing/2014/main" id="{72798926-5939-D7FC-D9E9-5198BF433C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662" y="1713834"/>
            <a:ext cx="3988338" cy="354014"/>
          </a:xfrm>
          <a:prstGeom prst="rect">
            <a:avLst/>
          </a:prstGeom>
        </p:spPr>
      </p:pic>
      <p:sp>
        <p:nvSpPr>
          <p:cNvPr id="23" name="Text 8">
            <a:extLst>
              <a:ext uri="{FF2B5EF4-FFF2-40B4-BE49-F238E27FC236}">
                <a16:creationId xmlns:a16="http://schemas.microsoft.com/office/drawing/2014/main" id="{55F54F12-3502-0FB5-3625-F6B89F306522}"/>
              </a:ext>
            </a:extLst>
          </p:cNvPr>
          <p:cNvSpPr/>
          <p:nvPr/>
        </p:nvSpPr>
        <p:spPr>
          <a:xfrm>
            <a:off x="508000" y="2316271"/>
            <a:ext cx="4321969" cy="45123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Q-learning the Q-function is encoded in a table called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</a:t>
            </a: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3450AAB-B6E8-8C14-FB9A-8B6673C1DD9C}"/>
              </a:ext>
            </a:extLst>
          </p:cNvPr>
          <p:cNvSpPr/>
          <p:nvPr/>
        </p:nvSpPr>
        <p:spPr>
          <a:xfrm>
            <a:off x="626525" y="1707535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3975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412B2-2128-3929-4281-1E0C8C4E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0844656A-11D0-0899-E1EE-08CAD68A483B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6C72F1A-60D1-A8D6-3402-F45F16CEE18F}"/>
              </a:ext>
            </a:extLst>
          </p:cNvPr>
          <p:cNvSpPr txBox="1"/>
          <p:nvPr/>
        </p:nvSpPr>
        <p:spPr>
          <a:xfrm>
            <a:off x="368300" y="914400"/>
            <a:ext cx="8382000" cy="355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3E816355-8EC3-9299-675D-00F44FE50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3500" y="1428750"/>
            <a:ext cx="6477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1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/>
              <a:t>Hybrid modular architecture</a:t>
            </a:r>
          </a:p>
        </p:txBody>
      </p:sp>
      <p:sp>
        <p:nvSpPr>
          <p:cNvPr id="24" name="Shape 22"/>
          <p:cNvSpPr/>
          <p:nvPr/>
        </p:nvSpPr>
        <p:spPr>
          <a:xfrm>
            <a:off x="365760" y="309324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analytical components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566168"/>
            <a:ext cx="3749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Frontier detection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Low level navigation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3093248"/>
            <a:ext cx="3977640" cy="130302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166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component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37760" y="3459008"/>
            <a:ext cx="37490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making module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pic>
        <p:nvPicPr>
          <p:cNvPr id="30" name="Elemento grafico 29">
            <a:extLst>
              <a:ext uri="{FF2B5EF4-FFF2-40B4-BE49-F238E27FC236}">
                <a16:creationId xmlns:a16="http://schemas.microsoft.com/office/drawing/2014/main" id="{62CBA648-A5C8-375B-CC90-4A922032D4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500" y="1057276"/>
            <a:ext cx="6477000" cy="2286000"/>
          </a:xfrm>
          <a:prstGeom prst="rect">
            <a:avLst/>
          </a:prstGeom>
        </p:spPr>
      </p:pic>
      <p:sp>
        <p:nvSpPr>
          <p:cNvPr id="31" name="Text 27">
            <a:extLst>
              <a:ext uri="{FF2B5EF4-FFF2-40B4-BE49-F238E27FC236}">
                <a16:creationId xmlns:a16="http://schemas.microsoft.com/office/drawing/2014/main" id="{B0EE0268-342E-3264-CDCE-7421F2A88300}"/>
              </a:ext>
            </a:extLst>
          </p:cNvPr>
          <p:cNvSpPr/>
          <p:nvPr/>
        </p:nvSpPr>
        <p:spPr>
          <a:xfrm>
            <a:off x="5125536" y="3918506"/>
            <a:ext cx="2415540" cy="3246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of the target position</a:t>
            </a:r>
            <a:endParaRPr lang="en-US" sz="1300" dirty="0"/>
          </a:p>
          <a:p>
            <a:pPr>
              <a:spcAft>
                <a:spcPts val="500"/>
              </a:spcAft>
              <a:buSzPct val="100000"/>
            </a:pPr>
            <a:endParaRPr lang="en-US" sz="1300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C6BF7B3B-C3AE-5F9F-9C63-3B09C46A5C8A}"/>
              </a:ext>
            </a:extLst>
          </p:cNvPr>
          <p:cNvCxnSpPr>
            <a:cxnSpLocks/>
          </p:cNvCxnSpPr>
          <p:nvPr/>
        </p:nvCxnSpPr>
        <p:spPr>
          <a:xfrm>
            <a:off x="6204288" y="3764903"/>
            <a:ext cx="0" cy="188420"/>
          </a:xfrm>
          <a:prstGeom prst="straightConnector1">
            <a:avLst/>
          </a:prstGeom>
          <a:ln w="28575" cap="flat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A2573F97-AE10-444A-9306-BFF3D7DCA88C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091A1769-B9E0-690D-90A7-0369076A82EE}"/>
              </a:ext>
            </a:extLst>
          </p:cNvPr>
          <p:cNvSpPr/>
          <p:nvPr/>
        </p:nvSpPr>
        <p:spPr>
          <a:xfrm>
            <a:off x="370840" y="1364341"/>
            <a:ext cx="42519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 discrete map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maps with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obstacle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observes a local window within his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</a:t>
            </a:r>
            <a:endParaRPr lang="en-US" sz="1400" b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observations are used to build a </a:t>
            </a: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believes map</a:t>
            </a:r>
            <a:endParaRPr lang="en-US" sz="1400" b="1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40497A2-ABCE-D9C0-95B2-62483D5DA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092" y="1085967"/>
            <a:ext cx="3278333" cy="15657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F715845-B525-3552-E815-E5F6C2D4D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9600" y="3040282"/>
            <a:ext cx="5465652" cy="1595007"/>
          </a:xfrm>
          <a:prstGeom prst="rect">
            <a:avLst/>
          </a:prstGeom>
        </p:spPr>
      </p:pic>
      <p:sp>
        <p:nvSpPr>
          <p:cNvPr id="11" name="Text 5">
            <a:extLst>
              <a:ext uri="{FF2B5EF4-FFF2-40B4-BE49-F238E27FC236}">
                <a16:creationId xmlns:a16="http://schemas.microsoft.com/office/drawing/2014/main" id="{5A32195A-73EF-D939-B137-3D52DB558EEB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– 2D occupancy grid</a:t>
            </a:r>
          </a:p>
        </p:txBody>
      </p:sp>
    </p:spTree>
    <p:extLst>
      <p:ext uri="{BB962C8B-B14F-4D97-AF65-F5344CB8AC3E}">
        <p14:creationId xmlns:p14="http://schemas.microsoft.com/office/powerpoint/2010/main" val="1959701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B7A4-5D27-70B1-0A98-ED2995FE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22">
            <a:extLst>
              <a:ext uri="{FF2B5EF4-FFF2-40B4-BE49-F238E27FC236}">
                <a16:creationId xmlns:a16="http://schemas.microsoft.com/office/drawing/2014/main" id="{D4EE8D53-8338-A278-7AC1-88A20B87F4E9}"/>
              </a:ext>
            </a:extLst>
          </p:cNvPr>
          <p:cNvSpPr/>
          <p:nvPr/>
        </p:nvSpPr>
        <p:spPr>
          <a:xfrm>
            <a:off x="349068" y="890646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FD32A6E3-1067-D149-8143-6698F5640355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73027F75-A051-76BC-591E-600C8A5CC59B}"/>
              </a:ext>
            </a:extLst>
          </p:cNvPr>
          <p:cNvSpPr/>
          <p:nvPr/>
        </p:nvSpPr>
        <p:spPr>
          <a:xfrm>
            <a:off x="533266" y="1257987"/>
            <a:ext cx="4251960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Discriminate frontier cells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theme into cluster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cluster’s centroids </a:t>
            </a:r>
            <a:endParaRPr lang="en-US" sz="1400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AC0CC9D-40D3-4901-4004-A8502D9116E2}"/>
              </a:ext>
            </a:extLst>
          </p:cNvPr>
          <p:cNvSpPr/>
          <p:nvPr/>
        </p:nvSpPr>
        <p:spPr>
          <a:xfrm>
            <a:off x="533266" y="901421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detection system</a:t>
            </a:r>
          </a:p>
        </p:txBody>
      </p:sp>
      <p:sp>
        <p:nvSpPr>
          <p:cNvPr id="12" name="Shape 22">
            <a:extLst>
              <a:ext uri="{FF2B5EF4-FFF2-40B4-BE49-F238E27FC236}">
                <a16:creationId xmlns:a16="http://schemas.microsoft.com/office/drawing/2014/main" id="{32DCC85E-21BD-A456-C7F1-E4AE1506FBB9}"/>
              </a:ext>
            </a:extLst>
          </p:cNvPr>
          <p:cNvSpPr/>
          <p:nvPr/>
        </p:nvSpPr>
        <p:spPr>
          <a:xfrm>
            <a:off x="4699296" y="890647"/>
            <a:ext cx="4095636" cy="130989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B119D0DF-27F6-E8DC-8DAA-B098EEEE2BCC}"/>
              </a:ext>
            </a:extLst>
          </p:cNvPr>
          <p:cNvSpPr/>
          <p:nvPr/>
        </p:nvSpPr>
        <p:spPr>
          <a:xfrm>
            <a:off x="4842557" y="1257987"/>
            <a:ext cx="3768177" cy="645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 obstacle free path to the target position (A* algorithm)</a:t>
            </a: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1B94AC84-FA26-EB5F-63FB-A8BD8B41C148}"/>
              </a:ext>
            </a:extLst>
          </p:cNvPr>
          <p:cNvSpPr/>
          <p:nvPr/>
        </p:nvSpPr>
        <p:spPr>
          <a:xfrm>
            <a:off x="4756198" y="888443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avoidance path planner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0650657-3A5E-C657-AF7E-7008E89CA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464" y="2445206"/>
            <a:ext cx="2091528" cy="208241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215788E4-AC38-615A-0D66-D901C167C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7572" y="2340366"/>
            <a:ext cx="2098145" cy="2187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509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4BFB7-8AD0-C29E-2F95-187E3F198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81019E-77B0-A0CC-3D93-C2CCA001A95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The Simulator</a:t>
            </a: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698E1C71-E685-CD86-004B-1AB507233782}"/>
              </a:ext>
            </a:extLst>
          </p:cNvPr>
          <p:cNvSpPr/>
          <p:nvPr/>
        </p:nvSpPr>
        <p:spPr>
          <a:xfrm>
            <a:off x="320040" y="1499077"/>
            <a:ext cx="3151823" cy="267462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83138C28-537B-7102-4C03-CF656624F66A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AA628CE1-1C0B-489A-747C-3BD4D798649A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greedy min distance heuristic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pic>
        <p:nvPicPr>
          <p:cNvPr id="10" name="video_heuristic">
            <a:hlinkClick r:id="" action="ppaction://media"/>
            <a:extLst>
              <a:ext uri="{FF2B5EF4-FFF2-40B4-BE49-F238E27FC236}">
                <a16:creationId xmlns:a16="http://schemas.microsoft.com/office/drawing/2014/main" id="{FB81732C-E216-E380-47B7-7767BF8653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507580" y="1379064"/>
            <a:ext cx="5614987" cy="2836438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C202F898-579F-B2B0-72A0-51C32FB4984A}"/>
              </a:ext>
            </a:extLst>
          </p:cNvPr>
          <p:cNvSpPr/>
          <p:nvPr/>
        </p:nvSpPr>
        <p:spPr>
          <a:xfrm>
            <a:off x="4102894" y="1346274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B26A343-4D3F-C48B-7417-ED8FCD9AAA79}"/>
              </a:ext>
            </a:extLst>
          </p:cNvPr>
          <p:cNvSpPr/>
          <p:nvPr/>
        </p:nvSpPr>
        <p:spPr>
          <a:xfrm>
            <a:off x="370840" y="915257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</a:t>
            </a:r>
          </a:p>
        </p:txBody>
      </p:sp>
    </p:spTree>
    <p:extLst>
      <p:ext uri="{BB962C8B-B14F-4D97-AF65-F5344CB8AC3E}">
        <p14:creationId xmlns:p14="http://schemas.microsoft.com/office/powerpoint/2010/main" val="31226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2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18F7C838-AC57-F767-DC7C-08DC98A61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954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05F464F0-19F3-6264-96AD-9547261B3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155" y="1058035"/>
            <a:ext cx="2568188" cy="473204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71536"/>
            <a:ext cx="4114800" cy="234314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917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 (What it sees)</a:t>
            </a:r>
            <a:endParaRPr lang="en-US" sz="1600" b="1" dirty="0">
              <a:solidFill>
                <a:srgbClr val="C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0040" y="3335841"/>
            <a:ext cx="4114800" cy="1135856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 (What it does)</a:t>
            </a:r>
            <a:endParaRPr lang="en-US" sz="1600" dirty="0">
              <a:solidFill>
                <a:srgbClr val="1A2E4A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373817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A151AF7E-644D-62B9-0E14-203A8F678F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31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7FE5F316-F47F-26F1-BE4E-60B56DC9D70E}"/>
              </a:ext>
            </a:extLst>
          </p:cNvPr>
          <p:cNvCxnSpPr>
            <a:cxnSpLocks/>
          </p:cNvCxnSpPr>
          <p:nvPr/>
        </p:nvCxnSpPr>
        <p:spPr>
          <a:xfrm flipH="1" flipV="1">
            <a:off x="5324951" y="1449323"/>
            <a:ext cx="1788973" cy="1915954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A6FFBE33-21E2-E712-D5F3-2AF5260BD7AF}"/>
              </a:ext>
            </a:extLst>
          </p:cNvPr>
          <p:cNvCxnSpPr>
            <a:cxnSpLocks/>
          </p:cNvCxnSpPr>
          <p:nvPr/>
        </p:nvCxnSpPr>
        <p:spPr>
          <a:xfrm flipH="1" flipV="1">
            <a:off x="5803583" y="1449323"/>
            <a:ext cx="2679084" cy="2165415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2329471A-AEDD-D01B-190F-017C34CF4038}"/>
              </a:ext>
            </a:extLst>
          </p:cNvPr>
          <p:cNvSpPr/>
          <p:nvPr/>
        </p:nvSpPr>
        <p:spPr>
          <a:xfrm>
            <a:off x="5872166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8B453163-D985-04CF-1A72-31C4C666F7AD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359019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6E994413-5923-858F-30CD-BA0AF7218074}"/>
              </a:ext>
            </a:extLst>
          </p:cNvPr>
          <p:cNvCxnSpPr>
            <a:cxnSpLocks/>
          </p:cNvCxnSpPr>
          <p:nvPr/>
        </p:nvCxnSpPr>
        <p:spPr>
          <a:xfrm flipH="1" flipV="1">
            <a:off x="6287153" y="1456943"/>
            <a:ext cx="1637973" cy="668799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5E6D407A-4C5B-571F-1AA3-4B3D850C2177}"/>
              </a:ext>
            </a:extLst>
          </p:cNvPr>
          <p:cNvSpPr/>
          <p:nvPr/>
        </p:nvSpPr>
        <p:spPr>
          <a:xfrm>
            <a:off x="5091615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0B2E10E4-4556-1B9A-DDE9-627BA9E9E8A1}"/>
              </a:ext>
            </a:extLst>
          </p:cNvPr>
          <p:cNvSpPr/>
          <p:nvPr/>
        </p:nvSpPr>
        <p:spPr>
          <a:xfrm>
            <a:off x="5026961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FDA82-E5B2-8A17-0988-B55897B81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magine 65">
            <a:extLst>
              <a:ext uri="{FF2B5EF4-FFF2-40B4-BE49-F238E27FC236}">
                <a16:creationId xmlns:a16="http://schemas.microsoft.com/office/drawing/2014/main" id="{651F61AD-8145-78B9-3D0D-B73F4C3E3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4954" y="4064498"/>
            <a:ext cx="2725222" cy="540523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8203ED47-F708-04CE-FAAE-5F68B768AE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155" y="1058035"/>
            <a:ext cx="2568188" cy="473204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7D993B8F-E60C-43A4-D72B-8E00E920EFAE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E80885-34DB-F683-87EF-65FA2604D688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Observations &amp; Actions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CC6E8B2-A757-DF89-DE78-A304BB067030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3523A67-0DD8-0DE6-D041-50B79BC96453}"/>
              </a:ext>
            </a:extLst>
          </p:cNvPr>
          <p:cNvSpPr/>
          <p:nvPr/>
        </p:nvSpPr>
        <p:spPr>
          <a:xfrm>
            <a:off x="320040" y="871536"/>
            <a:ext cx="4114800" cy="2343149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B47BD97-E5B2-9D22-CE78-19AC701CE5EA}"/>
              </a:ext>
            </a:extLst>
          </p:cNvPr>
          <p:cNvSpPr/>
          <p:nvPr/>
        </p:nvSpPr>
        <p:spPr>
          <a:xfrm>
            <a:off x="320040" y="871536"/>
            <a:ext cx="411480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1494D87-A04D-C781-5C41-55810106ED6F}"/>
              </a:ext>
            </a:extLst>
          </p:cNvPr>
          <p:cNvSpPr/>
          <p:nvPr/>
        </p:nvSpPr>
        <p:spPr>
          <a:xfrm>
            <a:off x="457200" y="917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Space – What it sees</a:t>
            </a:r>
            <a:endParaRPr lang="en-US" sz="13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A839DE7-48E3-B745-3A84-A87D2C6ACE53}"/>
              </a:ext>
            </a:extLst>
          </p:cNvPr>
          <p:cNvSpPr/>
          <p:nvPr/>
        </p:nvSpPr>
        <p:spPr>
          <a:xfrm>
            <a:off x="457200" y="1295304"/>
            <a:ext cx="3840480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setup: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Per-cluster frontiers information vector: 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position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gain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Agent position (optional)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to fixed length N for consistent DNN input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6FCCD1D-EBF2-5E97-BDAC-817B01C405C3}"/>
              </a:ext>
            </a:extLst>
          </p:cNvPr>
          <p:cNvSpPr/>
          <p:nvPr/>
        </p:nvSpPr>
        <p:spPr>
          <a:xfrm>
            <a:off x="320040" y="3335841"/>
            <a:ext cx="4114800" cy="1135856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9A0909F-E430-E05C-0431-3548162CAF71}"/>
              </a:ext>
            </a:extLst>
          </p:cNvPr>
          <p:cNvSpPr/>
          <p:nvPr/>
        </p:nvSpPr>
        <p:spPr>
          <a:xfrm>
            <a:off x="320040" y="3335841"/>
            <a:ext cx="411480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C96F1A3-2FB4-7297-11A2-7D90F9D0F833}"/>
              </a:ext>
            </a:extLst>
          </p:cNvPr>
          <p:cNvSpPr/>
          <p:nvPr/>
        </p:nvSpPr>
        <p:spPr>
          <a:xfrm>
            <a:off x="457200" y="3381561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Space – What it does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20B0190-C776-20AA-B006-BEC49DCB4B27}"/>
              </a:ext>
            </a:extLst>
          </p:cNvPr>
          <p:cNvSpPr/>
          <p:nvPr/>
        </p:nvSpPr>
        <p:spPr>
          <a:xfrm>
            <a:off x="457200" y="3738177"/>
            <a:ext cx="3840480" cy="73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Discrete: select one of N frontier cluster centroids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centroid passed to Path Planner for navigation</a:t>
            </a:r>
            <a:endParaRPr lang="en-US" sz="1300" dirty="0"/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32F57AD3-8109-CC9F-E20E-843867708B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7631" y="1616488"/>
            <a:ext cx="2324889" cy="2314760"/>
          </a:xfrm>
          <a:prstGeom prst="rect">
            <a:avLst/>
          </a:prstGeom>
        </p:spPr>
      </p:pic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A18B465B-E187-9D59-E8EF-68E304405775}"/>
              </a:ext>
            </a:extLst>
          </p:cNvPr>
          <p:cNvCxnSpPr>
            <a:cxnSpLocks/>
          </p:cNvCxnSpPr>
          <p:nvPr/>
        </p:nvCxnSpPr>
        <p:spPr>
          <a:xfrm flipH="1" flipV="1">
            <a:off x="5324951" y="1449323"/>
            <a:ext cx="1788973" cy="1915954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57FF8089-E3AF-CAA1-A3EF-9A9A161C5D6C}"/>
              </a:ext>
            </a:extLst>
          </p:cNvPr>
          <p:cNvCxnSpPr>
            <a:cxnSpLocks/>
          </p:cNvCxnSpPr>
          <p:nvPr/>
        </p:nvCxnSpPr>
        <p:spPr>
          <a:xfrm flipH="1" flipV="1">
            <a:off x="5803583" y="1449323"/>
            <a:ext cx="2679084" cy="2165415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e 45">
            <a:extLst>
              <a:ext uri="{FF2B5EF4-FFF2-40B4-BE49-F238E27FC236}">
                <a16:creationId xmlns:a16="http://schemas.microsoft.com/office/drawing/2014/main" id="{DC2005E5-1175-832A-C745-429B1E66F5EB}"/>
              </a:ext>
            </a:extLst>
          </p:cNvPr>
          <p:cNvSpPr/>
          <p:nvPr/>
        </p:nvSpPr>
        <p:spPr>
          <a:xfrm>
            <a:off x="5872166" y="4072219"/>
            <a:ext cx="570384" cy="536352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48" name="Connettore 2 47">
            <a:extLst>
              <a:ext uri="{FF2B5EF4-FFF2-40B4-BE49-F238E27FC236}">
                <a16:creationId xmlns:a16="http://schemas.microsoft.com/office/drawing/2014/main" id="{CF4CE0D0-C321-1751-C9EF-D96C24DF69E5}"/>
              </a:ext>
            </a:extLst>
          </p:cNvPr>
          <p:cNvCxnSpPr>
            <a:cxnSpLocks/>
            <a:stCxn id="46" idx="7"/>
          </p:cNvCxnSpPr>
          <p:nvPr/>
        </p:nvCxnSpPr>
        <p:spPr>
          <a:xfrm flipV="1">
            <a:off x="6359019" y="3693319"/>
            <a:ext cx="2158563" cy="457447"/>
          </a:xfrm>
          <a:prstGeom prst="straightConnector1">
            <a:avLst/>
          </a:prstGeom>
          <a:ln w="19050">
            <a:solidFill>
              <a:srgbClr val="1A2E4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26F6E763-DD45-CE2A-326B-11450D1AA4E1}"/>
              </a:ext>
            </a:extLst>
          </p:cNvPr>
          <p:cNvCxnSpPr>
            <a:cxnSpLocks/>
          </p:cNvCxnSpPr>
          <p:nvPr/>
        </p:nvCxnSpPr>
        <p:spPr>
          <a:xfrm flipH="1" flipV="1">
            <a:off x="6287153" y="1456943"/>
            <a:ext cx="1637973" cy="668799"/>
          </a:xfrm>
          <a:prstGeom prst="straightConnector1">
            <a:avLst/>
          </a:prstGeom>
          <a:ln w="19050">
            <a:solidFill>
              <a:srgbClr val="C8472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 6">
            <a:extLst>
              <a:ext uri="{FF2B5EF4-FFF2-40B4-BE49-F238E27FC236}">
                <a16:creationId xmlns:a16="http://schemas.microsoft.com/office/drawing/2014/main" id="{D56634B4-DD1F-AEDB-AE41-235B866DE38E}"/>
              </a:ext>
            </a:extLst>
          </p:cNvPr>
          <p:cNvSpPr/>
          <p:nvPr/>
        </p:nvSpPr>
        <p:spPr>
          <a:xfrm>
            <a:off x="5091615" y="3852730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Action (e.g. = 2):</a:t>
            </a:r>
          </a:p>
        </p:txBody>
      </p:sp>
      <p:sp>
        <p:nvSpPr>
          <p:cNvPr id="64" name="Text 6">
            <a:extLst>
              <a:ext uri="{FF2B5EF4-FFF2-40B4-BE49-F238E27FC236}">
                <a16:creationId xmlns:a16="http://schemas.microsoft.com/office/drawing/2014/main" id="{9DB2A96F-B647-4E24-3F7F-D2B6ECAA253D}"/>
              </a:ext>
            </a:extLst>
          </p:cNvPr>
          <p:cNvSpPr/>
          <p:nvPr/>
        </p:nvSpPr>
        <p:spPr>
          <a:xfrm>
            <a:off x="5026961" y="877308"/>
            <a:ext cx="1286782" cy="2140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/>
              <a:t>Observations:</a:t>
            </a:r>
          </a:p>
        </p:txBody>
      </p:sp>
    </p:spTree>
    <p:extLst>
      <p:ext uri="{BB962C8B-B14F-4D97-AF65-F5344CB8AC3E}">
        <p14:creationId xmlns:p14="http://schemas.microsoft.com/office/powerpoint/2010/main" val="10933640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reward configurations compared across the experimental campaign: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261872"/>
            <a:ext cx="4069080" cy="36576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— Relative / Sorted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newly explored cells at each step (relative gain)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sorted by distance (closest cluster first)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padding penalty for inactive action slots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Caused degenerate policy — agent always picks action 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1261872"/>
            <a:ext cx="4069080" cy="3429000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261872"/>
            <a:ext cx="4069080" cy="36576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3075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2 — Absolute / Unsorted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92040" y="1664208"/>
            <a:ext cx="38404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= absolute coverage reached (clearer exploration signal)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 random order — no sorting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padding penalty — avoids degenerate exploitation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First configuration yielding a non-degenerate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DRL Module: Reward Shaping</a:t>
            </a:r>
            <a:endParaRPr lang="en-US" sz="2600" dirty="0"/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317500" y="8890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206" name="Rew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927027"/>
              </p:ext>
            </p:extLst>
          </p:nvPr>
        </p:nvGraphicFramePr>
        <p:xfrm>
          <a:off x="617220" y="1347722"/>
          <a:ext cx="7714504" cy="301752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400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8505">
                  <a:extLst>
                    <a:ext uri="{9D8B030D-6E8A-4147-A177-3AD203B41FA5}">
                      <a16:colId xmlns:a16="http://schemas.microsoft.com/office/drawing/2014/main" val="3129147511"/>
                    </a:ext>
                  </a:extLst>
                </a:gridCol>
                <a:gridCol w="184535">
                  <a:extLst>
                    <a:ext uri="{9D8B030D-6E8A-4147-A177-3AD203B41FA5}">
                      <a16:colId xmlns:a16="http://schemas.microsoft.com/office/drawing/2014/main" val="3892954019"/>
                    </a:ext>
                  </a:extLst>
                </a:gridCol>
                <a:gridCol w="1211579">
                  <a:extLst>
                    <a:ext uri="{9D8B030D-6E8A-4147-A177-3AD203B41FA5}">
                      <a16:colId xmlns:a16="http://schemas.microsoft.com/office/drawing/2014/main" val="536005186"/>
                    </a:ext>
                  </a:extLst>
                </a:gridCol>
                <a:gridCol w="1199032">
                  <a:extLst>
                    <a:ext uri="{9D8B030D-6E8A-4147-A177-3AD203B41FA5}">
                      <a16:colId xmlns:a16="http://schemas.microsoft.com/office/drawing/2014/main" val="1421492333"/>
                    </a:ext>
                  </a:extLst>
                </a:gridCol>
                <a:gridCol w="1440553">
                  <a:extLst>
                    <a:ext uri="{9D8B030D-6E8A-4147-A177-3AD203B41FA5}">
                      <a16:colId xmlns:a16="http://schemas.microsoft.com/office/drawing/2014/main" val="2806643730"/>
                    </a:ext>
                  </a:extLst>
                </a:gridCol>
              </a:tblGrid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  <a:endParaRPr lang="it-IT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b="1" dirty="0">
                        <a:solidFill>
                          <a:srgbClr val="1A2E4A"/>
                        </a:solidFill>
                        <a:latin typeface="Calibri" pitchFamily="34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280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Action selects padding slot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new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  <a:endParaRPr lang="en-US" sz="10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Some cells explored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proportional positive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537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Exploration ≥ threshold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  <a:endParaRPr lang="en-US" sz="1100" dirty="0">
                        <a:solidFill>
                          <a:srgbClr val="2E7D3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  <a:endParaRPr lang="it-IT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Max steps exceeded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  <a:endParaRPr lang="en-US" sz="1100" dirty="0">
                        <a:solidFill>
                          <a:srgbClr val="4472C4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No progress for ≥ 20 steps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intermediate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E67E22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8280">
                <a:tc gridSpan="6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910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Oscillating behavior detected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999999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solidFill>
                          <a:srgbClr val="C8472C"/>
                        </a:solidFill>
                        <a:latin typeface="Calibri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08" name="Footnote"/>
          <p:cNvSpPr/>
          <p:nvPr/>
        </p:nvSpPr>
        <p:spPr>
          <a:xfrm>
            <a:off x="3251724" y="4438388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900" dirty="0">
                <a:solidFill>
                  <a:srgbClr val="888888"/>
                </a:solidFill>
                <a:latin typeface="Calibri" pitchFamily="34" charset="0"/>
              </a:rPr>
              <a:t>Entries marked </a:t>
            </a:r>
            <a:r>
              <a:rPr lang="en-US" sz="900" b="1" dirty="0">
                <a:solidFill>
                  <a:srgbClr val="4472C4"/>
                </a:solidFill>
                <a:latin typeface="Calibri" pitchFamily="34" charset="0"/>
              </a:rPr>
              <a:t>= R1</a:t>
            </a:r>
            <a:r>
              <a:rPr lang="en-US" sz="900" dirty="0">
                <a:solidFill>
                  <a:srgbClr val="888888"/>
                </a:solidFill>
                <a:latin typeface="Calibri" pitchFamily="34" charset="0"/>
              </a:rPr>
              <a:t> are identical to Reward 1.</a:t>
            </a:r>
          </a:p>
        </p:txBody>
      </p:sp>
    </p:spTree>
    <p:extLst>
      <p:ext uri="{BB962C8B-B14F-4D97-AF65-F5344CB8AC3E}">
        <p14:creationId xmlns:p14="http://schemas.microsoft.com/office/powerpoint/2010/main" val="3991558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Formulations Comparison</a:t>
            </a:r>
          </a:p>
        </p:txBody>
      </p:sp>
      <p:cxnSp>
        <p:nvCxnSpPr>
          <p:cNvPr id="2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204" name="CardHeader"/>
          <p:cNvSpPr/>
          <p:nvPr/>
        </p:nvSpPr>
        <p:spPr>
          <a:xfrm>
            <a:off x="317500" y="8890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E8EDF3"/>
          </a:solidFill>
          <a:ln w="6350">
            <a:solidFill>
              <a:srgbClr val="D6E4F0"/>
            </a:solidFill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Shaping Comparison</a:t>
            </a:r>
          </a:p>
        </p:txBody>
      </p:sp>
      <p:graphicFrame>
        <p:nvGraphicFramePr>
          <p:cNvPr id="400" name="RewardTableV2"/>
          <p:cNvGraphicFramePr>
            <a:graphicFrameLocks noGrp="1"/>
          </p:cNvGraphicFramePr>
          <p:nvPr/>
        </p:nvGraphicFramePr>
        <p:xfrm>
          <a:off x="406400" y="1320800"/>
          <a:ext cx="8293100" cy="3256280"/>
        </p:xfrm>
        <a:graphic>
          <a:graphicData uri="http://schemas.openxmlformats.org/drawingml/2006/table">
            <a:tbl>
              <a:tblPr firstRow="1">
                <a:noFill/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Condition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Reward 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end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/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R1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b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R2</a:t>
                      </a:r>
                    </a:p>
                  </a:txBody>
                  <a:tcPr>
                    <a:solidFill>
                      <a:srgbClr val="E8ED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Action outcome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Action selects padding slot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continues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No new cells explored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Some cells explored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interm.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Episode termination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Exploration ≥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2E7D32"/>
                          </a:solidFill>
                          <a:latin typeface="Calibri" pitchFamily="34" charset="0"/>
                        </a:rPr>
                        <a:t>large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terminated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Max steps exceeded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large negative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8F9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8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No progress for ≥ 20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E67E22"/>
                          </a:solidFill>
                          <a:latin typeface="Calibri" pitchFamily="34" charset="0"/>
                        </a:rPr>
                        <a:t>interm.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4472C4"/>
                          </a:solidFill>
                          <a:latin typeface="Calibri" pitchFamily="34" charset="0"/>
                        </a:rPr>
                        <a:t>=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truncated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300">
                <a:tc gridSpan="5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i="1" dirty="0">
                          <a:solidFill>
                            <a:srgbClr val="1A2E4A"/>
                          </a:solidFill>
                          <a:latin typeface="Calibri" pitchFamily="34" charset="0"/>
                        </a:rPr>
                        <a:t>Additional signal — Reward 2 only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•  Oscillating behavior detected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C8472C"/>
                          </a:solidFill>
                          <a:latin typeface="Calibri" pitchFamily="34" charset="0"/>
                        </a:rPr>
                        <a:t>small 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solidFill>
                            <a:srgbClr val="999999"/>
                          </a:solidFill>
                          <a:latin typeface="Calibri" pitchFamily="34" charset="0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00656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AccentBar"/>
          <p:cNvSpPr/>
          <p:nvPr/>
        </p:nvSpPr>
        <p:spPr>
          <a:xfrm>
            <a:off x="317500" y="241300"/>
            <a:ext cx="63500" cy="457200"/>
          </a:xfrm>
          <a:prstGeom prst="rect">
            <a:avLst/>
          </a:prstGeom>
          <a:solidFill>
            <a:srgbClr val="C8472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Title"/>
          <p:cNvSpPr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Padding</a:t>
            </a:r>
          </a:p>
        </p:txBody>
      </p:sp>
      <p:cxnSp>
        <p:nvCxnSpPr>
          <p:cNvPr id="102" name="SepLine"/>
          <p:cNvCxnSpPr/>
          <p:nvPr/>
        </p:nvCxnSpPr>
        <p:spPr>
          <a:xfrm>
            <a:off x="317500" y="774700"/>
            <a:ext cx="8509000" cy="0"/>
          </a:xfrm>
          <a:prstGeom prst="line">
            <a:avLst/>
          </a:prstGeom>
          <a:ln w="19050">
            <a:solidFill>
              <a:srgbClr val="D6E4F0"/>
            </a:solidFill>
          </a:ln>
        </p:spPr>
      </p:cxnSp>
      <p:sp>
        <p:nvSpPr>
          <p:cNvPr id="103" name="CardBg"/>
          <p:cNvSpPr/>
          <p:nvPr/>
        </p:nvSpPr>
        <p:spPr>
          <a:xfrm>
            <a:off x="317500" y="952500"/>
            <a:ext cx="8509000" cy="3429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D6E4F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4" name="CardHeader"/>
          <p:cNvSpPr/>
          <p:nvPr/>
        </p:nvSpPr>
        <p:spPr>
          <a:xfrm>
            <a:off x="317500" y="952500"/>
            <a:ext cx="8509000" cy="368300"/>
          </a:xfrm>
          <a:prstGeom prst="roundRect">
            <a:avLst>
              <a:gd name="adj" fmla="val 3000"/>
            </a:avLst>
          </a:prstGeom>
          <a:solidFill>
            <a:srgbClr val="1A2E4A"/>
          </a:solidFill>
          <a:ln>
            <a:noFill/>
          </a:ln>
        </p:spPr>
        <p:txBody>
          <a:bodyPr wrap="square" lIns="91440" tIns="0" rIns="0" bIns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Padded Observation Vector</a:t>
            </a:r>
          </a:p>
        </p:txBody>
      </p:sp>
      <p:sp>
        <p:nvSpPr>
          <p:cNvPr id="105" name="Caption"/>
          <p:cNvSpPr/>
          <p:nvPr/>
        </p:nvSpPr>
        <p:spPr>
          <a:xfrm>
            <a:off x="508000" y="1447800"/>
            <a:ext cx="812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with 3 active clusters and 3 padding slots (N = 6):</a:t>
            </a:r>
          </a:p>
        </p:txBody>
      </p:sp>
      <p:graphicFrame>
        <p:nvGraphicFramePr>
          <p:cNvPr id="106" name="Table1"/>
          <p:cNvGraphicFramePr>
            <a:graphicFrameLocks noGrp="1"/>
          </p:cNvGraphicFramePr>
          <p:nvPr/>
        </p:nvGraphicFramePr>
        <p:xfrm>
          <a:off x="825500" y="1828800"/>
          <a:ext cx="7467600" cy="9652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24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1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2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Cluster 3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</a:rPr>
                        <a:t>Pad</a:t>
                      </a:r>
                    </a:p>
                  </a:txBody>
                  <a:tcPr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x₁, y₁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x₂, y₂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x₃, y₃ ]</a:t>
                      </a:r>
                    </a:p>
                  </a:txBody>
                  <a:tcPr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</a:rPr>
                        <a:t>[ 0, 0 ]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8" name="BracketActive"/>
          <p:cNvSpPr/>
          <p:nvPr/>
        </p:nvSpPr>
        <p:spPr>
          <a:xfrm>
            <a:off x="825500" y="2819400"/>
            <a:ext cx="3733800" cy="177800"/>
          </a:xfrm>
          <a:prstGeom prst="bracketPair">
            <a:avLst>
              <a:gd name="adj" fmla="val 30000"/>
            </a:avLst>
          </a:prstGeom>
          <a:noFill/>
          <a:ln w="12700">
            <a:solidFill>
              <a:srgbClr val="4472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9" name="BracketPad"/>
          <p:cNvSpPr/>
          <p:nvPr/>
        </p:nvSpPr>
        <p:spPr>
          <a:xfrm>
            <a:off x="4559300" y="2819400"/>
            <a:ext cx="3733800" cy="177800"/>
          </a:xfrm>
          <a:prstGeom prst="bracketPair">
            <a:avLst>
              <a:gd name="adj" fmla="val 30000"/>
            </a:avLst>
          </a:prstGeom>
          <a:noFill/>
          <a:ln w="12700">
            <a:solidFill>
              <a:srgbClr val="A5A5A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0" name="LabelActive"/>
          <p:cNvSpPr/>
          <p:nvPr/>
        </p:nvSpPr>
        <p:spPr>
          <a:xfrm>
            <a:off x="825500" y="2997200"/>
            <a:ext cx="3733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dirty="0">
                <a:solidFill>
                  <a:srgbClr val="4472C4"/>
                </a:solidFill>
                <a:latin typeface="Calibri" pitchFamily="34" charset="0"/>
              </a:rPr>
              <a:t>Active clusters</a:t>
            </a:r>
          </a:p>
        </p:txBody>
      </p:sp>
      <p:sp>
        <p:nvSpPr>
          <p:cNvPr id="111" name="LabelPad"/>
          <p:cNvSpPr/>
          <p:nvPr/>
        </p:nvSpPr>
        <p:spPr>
          <a:xfrm>
            <a:off x="4559300" y="2997200"/>
            <a:ext cx="3733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100" b="1" dirty="0">
                <a:solidFill>
                  <a:srgbClr val="A5A5A5"/>
                </a:solidFill>
                <a:latin typeface="Calibri" pitchFamily="34" charset="0"/>
              </a:rPr>
              <a:t>Padding (zero-filled)</a:t>
            </a:r>
          </a:p>
        </p:txBody>
      </p:sp>
      <p:sp>
        <p:nvSpPr>
          <p:cNvPr id="107" name="ExplText"/>
          <p:cNvSpPr/>
          <p:nvPr/>
        </p:nvSpPr>
        <p:spPr>
          <a:xfrm>
            <a:off x="508000" y="3327400"/>
            <a:ext cx="8128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clusters provide real frontier data </a:t>
            </a:r>
            <a:r>
              <a:rPr lang="en-US" sz="1300" dirty="0">
                <a:solidFill>
                  <a:srgbClr val="4472C4"/>
                </a:solidFill>
                <a:latin typeface="Calibri" pitchFamily="34" charset="0"/>
              </a:rPr>
              <a:t>[ x, y ]</a:t>
            </a:r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slots are zero-filled </a:t>
            </a:r>
            <a:r>
              <a:rPr lang="en-US" sz="1300" dirty="0">
                <a:solidFill>
                  <a:srgbClr val="A5A5A5"/>
                </a:solidFill>
                <a:latin typeface="Calibri" pitchFamily="34" charset="0"/>
              </a:rPr>
              <a:t>[ 0, 0 ]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</a:rPr>
              <a:t> to maintain a fixed-length vector for the DNN input</a:t>
            </a:r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consistent observation size regardless of the number of active clusters</a:t>
            </a:r>
          </a:p>
        </p:txBody>
      </p:sp>
    </p:spTree>
    <p:extLst>
      <p:ext uri="{BB962C8B-B14F-4D97-AF65-F5344CB8AC3E}">
        <p14:creationId xmlns:p14="http://schemas.microsoft.com/office/powerpoint/2010/main" val="2975609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Campaign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3840" y="975360"/>
            <a:ext cx="4527031" cy="31318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Configuration search: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× observation set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best configuration per reward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Hyperparameter optimization: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converged to a single optimal hyperparameter set</a:t>
            </a:r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>
              <a:spcAft>
                <a:spcPts val="500"/>
              </a:spcAft>
              <a:buSzPct val="100000"/>
            </a:pPr>
            <a:endParaRPr lang="en-US" sz="14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Training budget: </a:t>
            </a:r>
            <a:b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/ 750k / 1M time steps </a:t>
            </a: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 best models selected</a:t>
            </a:r>
            <a:endParaRPr lang="en-US" sz="1400" dirty="0"/>
          </a:p>
        </p:txBody>
      </p:sp>
      <p:pic>
        <p:nvPicPr>
          <p:cNvPr id="8" name="Image 0" descr="/home/claude/assets/experimental_process_white.png"/>
          <p:cNvPicPr>
            <a:picLocks noChangeAspect="1"/>
          </p:cNvPicPr>
          <p:nvPr/>
        </p:nvPicPr>
        <p:blipFill>
          <a:blip r:embed="rId3"/>
          <a:srcRect t="2820" b="2625"/>
          <a:stretch>
            <a:fillRect/>
          </a:stretch>
        </p:blipFill>
        <p:spPr>
          <a:xfrm>
            <a:off x="4537813" y="833629"/>
            <a:ext cx="4450830" cy="392125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1F82-86CB-2B93-A10A-F0881A4FF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22">
            <a:extLst>
              <a:ext uri="{FF2B5EF4-FFF2-40B4-BE49-F238E27FC236}">
                <a16:creationId xmlns:a16="http://schemas.microsoft.com/office/drawing/2014/main" id="{CEB9E8F4-9A40-E685-6DE7-62ECFAEF90F3}"/>
              </a:ext>
            </a:extLst>
          </p:cNvPr>
          <p:cNvSpPr/>
          <p:nvPr/>
        </p:nvSpPr>
        <p:spPr>
          <a:xfrm>
            <a:off x="555688" y="2021653"/>
            <a:ext cx="8016814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EB21816-4242-2403-BB00-E48F41181D7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34A0A1E-8666-2C5E-D4E5-44FD694B868B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metrics and baselines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69C474C-6A6E-54C7-CF90-95987EF8C62B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2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it-IT" sz="12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0">
                <a:extLst>
                  <a:ext uri="{FF2B5EF4-FFF2-40B4-BE49-F238E27FC236}">
                    <a16:creationId xmlns:a16="http://schemas.microsoft.com/office/drawing/2014/main" id="{EDC57CE9-7DB1-F0AF-FD1B-1BE8BFDC26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9387895"/>
                  </p:ext>
                </p:extLst>
              </p:nvPr>
            </p:nvGraphicFramePr>
            <p:xfrm>
              <a:off x="4470650" y="3240069"/>
              <a:ext cx="3851910" cy="1225849"/>
            </p:xfrm>
            <a:graphic>
              <a:graphicData uri="http://schemas.openxmlformats.org/drawingml/2006/table">
                <a:tbl>
                  <a:tblPr/>
                  <a:tblGrid>
                    <a:gridCol w="12839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8397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11449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Heuristic policy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Mean Reward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Standard dev.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68421" r="-948" b="-109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2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2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2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</a:t>
                          </a:r>
                          <a:endParaRPr lang="en-US" sz="12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474" t="-170667" r="-948" b="-1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 5">
            <a:extLst>
              <a:ext uri="{FF2B5EF4-FFF2-40B4-BE49-F238E27FC236}">
                <a16:creationId xmlns:a16="http://schemas.microsoft.com/office/drawing/2014/main" id="{B580FB8F-3A5B-8AD7-2802-80DB23ADA122}"/>
              </a:ext>
            </a:extLst>
          </p:cNvPr>
          <p:cNvSpPr/>
          <p:nvPr/>
        </p:nvSpPr>
        <p:spPr>
          <a:xfrm>
            <a:off x="612009" y="2119643"/>
            <a:ext cx="4527031" cy="4234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 (training loss)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97EF2BF-6C79-502E-5A29-073A2F24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18" t="73066" b="6569"/>
          <a:stretch>
            <a:fillRect/>
          </a:stretch>
        </p:blipFill>
        <p:spPr>
          <a:xfrm>
            <a:off x="4379015" y="2410159"/>
            <a:ext cx="3884480" cy="27843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CA7C3BD-FBDC-BD37-8A53-4891AE992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4222" y="2057978"/>
            <a:ext cx="3988338" cy="354014"/>
          </a:xfrm>
          <a:prstGeom prst="rect">
            <a:avLst/>
          </a:prstGeom>
        </p:spPr>
      </p:pic>
      <p:sp>
        <p:nvSpPr>
          <p:cNvPr id="10" name="Shape 22">
            <a:extLst>
              <a:ext uri="{FF2B5EF4-FFF2-40B4-BE49-F238E27FC236}">
                <a16:creationId xmlns:a16="http://schemas.microsoft.com/office/drawing/2014/main" id="{518784C9-3C4B-0D94-71D6-4DAD31EEB22C}"/>
              </a:ext>
            </a:extLst>
          </p:cNvPr>
          <p:cNvSpPr/>
          <p:nvPr/>
        </p:nvSpPr>
        <p:spPr>
          <a:xfrm>
            <a:off x="4379015" y="2109957"/>
            <a:ext cx="4002609" cy="608736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B75966A6-5387-B30B-85E6-5FE0FF060110}"/>
              </a:ext>
            </a:extLst>
          </p:cNvPr>
          <p:cNvSpPr/>
          <p:nvPr/>
        </p:nvSpPr>
        <p:spPr>
          <a:xfrm>
            <a:off x="567216" y="889881"/>
            <a:ext cx="4527031" cy="12258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cumulative episode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reward</a:t>
            </a:r>
          </a:p>
          <a:p>
            <a:pPr marL="742950" lvl="1" indent="-285750">
              <a:spcAft>
                <a:spcPts val="500"/>
              </a:spcAft>
              <a:buSzPct val="70000"/>
              <a:buFont typeface="Courier New" panose="02070309020205020404" pitchFamily="49" charset="0"/>
              <a:buChar char="o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reward</a:t>
            </a: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D2B65FBC-BA4A-1A4E-7B1E-08122DC9B00A}"/>
              </a:ext>
            </a:extLst>
          </p:cNvPr>
          <p:cNvSpPr/>
          <p:nvPr/>
        </p:nvSpPr>
        <p:spPr>
          <a:xfrm>
            <a:off x="567216" y="3185521"/>
            <a:ext cx="4527031" cy="5958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reward - heuristics baselines</a:t>
            </a:r>
            <a:endParaRPr lang="en-US" sz="14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512A01C-4984-B722-8921-EDFE615C12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1415" y="1144397"/>
            <a:ext cx="1976851" cy="494213"/>
          </a:xfrm>
          <a:prstGeom prst="rect">
            <a:avLst/>
          </a:prstGeom>
        </p:spPr>
      </p:pic>
      <p:sp>
        <p:nvSpPr>
          <p:cNvPr id="14" name="Shape 22">
            <a:extLst>
              <a:ext uri="{FF2B5EF4-FFF2-40B4-BE49-F238E27FC236}">
                <a16:creationId xmlns:a16="http://schemas.microsoft.com/office/drawing/2014/main" id="{0CBFA162-1513-4B75-7735-D0A344DCD9A0}"/>
              </a:ext>
            </a:extLst>
          </p:cNvPr>
          <p:cNvSpPr/>
          <p:nvPr/>
        </p:nvSpPr>
        <p:spPr>
          <a:xfrm>
            <a:off x="5301415" y="1081397"/>
            <a:ext cx="2078853" cy="571714"/>
          </a:xfrm>
          <a:prstGeom prst="rect">
            <a:avLst/>
          </a:prstGeom>
          <a:noFill/>
          <a:ln w="12700">
            <a:solidFill>
              <a:srgbClr val="D6E4F0"/>
            </a:solidFill>
            <a:prstDash val="solid"/>
          </a:ln>
        </p:spPr>
      </p:sp>
      <p:sp>
        <p:nvSpPr>
          <p:cNvPr id="17" name="Shape 22">
            <a:extLst>
              <a:ext uri="{FF2B5EF4-FFF2-40B4-BE49-F238E27FC236}">
                <a16:creationId xmlns:a16="http://schemas.microsoft.com/office/drawing/2014/main" id="{1DC4FEF8-9EF8-27DA-E6BD-C44EE18ADD4B}"/>
              </a:ext>
            </a:extLst>
          </p:cNvPr>
          <p:cNvSpPr/>
          <p:nvPr/>
        </p:nvSpPr>
        <p:spPr>
          <a:xfrm>
            <a:off x="567217" y="903634"/>
            <a:ext cx="8005284" cy="1000153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8" name="Shape 22">
            <a:extLst>
              <a:ext uri="{FF2B5EF4-FFF2-40B4-BE49-F238E27FC236}">
                <a16:creationId xmlns:a16="http://schemas.microsoft.com/office/drawing/2014/main" id="{4F76B0BF-2404-9F95-FC07-620C437B4567}"/>
              </a:ext>
            </a:extLst>
          </p:cNvPr>
          <p:cNvSpPr/>
          <p:nvPr/>
        </p:nvSpPr>
        <p:spPr>
          <a:xfrm>
            <a:off x="555687" y="3145830"/>
            <a:ext cx="8016814" cy="1411882"/>
          </a:xfrm>
          <a:prstGeom prst="rect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817255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1: Degenerate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2753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58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Centroids relative positions   ·   Sorted by distance    ·   </a:t>
            </a:r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1   ·   1M steps</a:t>
            </a:r>
            <a:endParaRPr lang="en-US" sz="1200" dirty="0"/>
          </a:p>
        </p:txBody>
      </p:sp>
      <p:pic>
        <p:nvPicPr>
          <p:cNvPr id="9" name="Image 0" descr="/home/claude/assets/relative_sorted_1e6_loss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25880"/>
            <a:ext cx="5212080" cy="225992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20040" y="347912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pic>
        <p:nvPicPr>
          <p:cNvPr id="11" name="Image 1" descr="/home/claude/assets/relative_sorted_1e6_train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325880"/>
            <a:ext cx="3200400" cy="22599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23560" y="347431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945D122D-FE56-F66D-9E60-75297FD9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6849344"/>
              </p:ext>
            </p:extLst>
          </p:nvPr>
        </p:nvGraphicFramePr>
        <p:xfrm>
          <a:off x="1548384" y="3741010"/>
          <a:ext cx="295503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518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77518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645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/>
                        <a:t>16.91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50146383-70B6-2311-65E8-CEB8607C3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981833"/>
              </p:ext>
            </p:extLst>
          </p:nvPr>
        </p:nvGraphicFramePr>
        <p:xfrm>
          <a:off x="4802123" y="3741010"/>
          <a:ext cx="295503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777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14815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1.0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6">
            <a:extLst>
              <a:ext uri="{FF2B5EF4-FFF2-40B4-BE49-F238E27FC236}">
                <a16:creationId xmlns:a16="http://schemas.microsoft.com/office/drawing/2014/main" id="{D8EFB94C-0DE9-BCBB-8B88-78A5834E0A55}"/>
              </a:ext>
            </a:extLst>
          </p:cNvPr>
          <p:cNvSpPr/>
          <p:nvPr/>
        </p:nvSpPr>
        <p:spPr>
          <a:xfrm>
            <a:off x="320040" y="1178432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320040" y="484632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Deep RL in Frontier-Based Autonomous Exploration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Reward Hacking Analysis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2919" y="1664208"/>
            <a:ext cx="4000501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policy learned always chose action = 0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Diverging huge TD loss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DBC1CF05-FB80-5024-B303-168429DC47FC}"/>
              </a:ext>
            </a:extLst>
          </p:cNvPr>
          <p:cNvSpPr/>
          <p:nvPr/>
        </p:nvSpPr>
        <p:spPr>
          <a:xfrm>
            <a:off x="5676900" y="1772032"/>
            <a:ext cx="2857500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Degenerated Policy</a:t>
            </a:r>
          </a:p>
        </p:txBody>
      </p: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272714BA-2147-04E3-170B-53D1AD2B69E9}"/>
              </a:ext>
            </a:extLst>
          </p:cNvPr>
          <p:cNvCxnSpPr/>
          <p:nvPr/>
        </p:nvCxnSpPr>
        <p:spPr>
          <a:xfrm>
            <a:off x="4739640" y="1958340"/>
            <a:ext cx="5334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Shape 6">
            <a:extLst>
              <a:ext uri="{FF2B5EF4-FFF2-40B4-BE49-F238E27FC236}">
                <a16:creationId xmlns:a16="http://schemas.microsoft.com/office/drawing/2014/main" id="{B0F76DF1-2FC5-B064-121C-7293DA1C33E3}"/>
              </a:ext>
            </a:extLst>
          </p:cNvPr>
          <p:cNvSpPr/>
          <p:nvPr/>
        </p:nvSpPr>
        <p:spPr>
          <a:xfrm>
            <a:off x="320040" y="2844164"/>
            <a:ext cx="8503920" cy="1444752"/>
          </a:xfrm>
          <a:prstGeom prst="rect">
            <a:avLst/>
          </a:prstGeom>
          <a:solidFill>
            <a:srgbClr val="FFF3F3"/>
          </a:solidFill>
          <a:ln w="12700">
            <a:solidFill>
              <a:srgbClr val="C8472C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0369533-4D61-B342-5649-10CAF7CF861D}"/>
              </a:ext>
            </a:extLst>
          </p:cNvPr>
          <p:cNvSpPr/>
          <p:nvPr/>
        </p:nvSpPr>
        <p:spPr>
          <a:xfrm>
            <a:off x="502920" y="30373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C847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dirty="0"/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C82A692-61BA-906F-351E-A5B833B2A71F}"/>
              </a:ext>
            </a:extLst>
          </p:cNvPr>
          <p:cNvSpPr/>
          <p:nvPr/>
        </p:nvSpPr>
        <p:spPr>
          <a:xfrm>
            <a:off x="502920" y="3329940"/>
            <a:ext cx="7536180" cy="6652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always at end + Large penalty    </a:t>
            </a: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Strong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ncentive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chose action = 0</a:t>
            </a:r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Centroids    </a:t>
            </a:r>
            <a:r>
              <a:rPr lang="en-US" sz="16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6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Chosing</a:t>
            </a: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action = 0 correspond to greedy heuristic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35152"/>
            <a:ext cx="8503920" cy="475488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53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 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 centroids positions   ·   Not-sorted    ·    Agent position    ·   Reward 2   ·   1M steps</a:t>
            </a:r>
            <a:endParaRPr lang="en-US" sz="1200" dirty="0"/>
          </a:p>
        </p:txBody>
      </p:sp>
      <p:pic>
        <p:nvPicPr>
          <p:cNvPr id="9" name="Image 0" descr="/home/claude/assets/absolute_ag_notsorted_1e6_rewar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1368550"/>
            <a:ext cx="5212080" cy="2279905"/>
          </a:xfrm>
          <a:prstGeom prst="rect">
            <a:avLst/>
          </a:prstGeom>
        </p:spPr>
      </p:pic>
      <p:pic>
        <p:nvPicPr>
          <p:cNvPr id="11" name="Image 1" descr="/home/claude/assets/absolute_ag_notsorted_1e6_loss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23560" y="1368550"/>
            <a:ext cx="3200400" cy="2279906"/>
          </a:xfrm>
          <a:prstGeom prst="rect">
            <a:avLst/>
          </a:prstGeom>
        </p:spPr>
      </p:pic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53B08E-3213-8AE6-722D-90F5AC50D2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908223"/>
              </p:ext>
            </p:extLst>
          </p:nvPr>
        </p:nvGraphicFramePr>
        <p:xfrm>
          <a:off x="1190244" y="3801970"/>
          <a:ext cx="2955036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7518">
                  <a:extLst>
                    <a:ext uri="{9D8B030D-6E8A-4147-A177-3AD203B41FA5}">
                      <a16:colId xmlns:a16="http://schemas.microsoft.com/office/drawing/2014/main" val="2914056647"/>
                    </a:ext>
                  </a:extLst>
                </a:gridCol>
                <a:gridCol w="1477518">
                  <a:extLst>
                    <a:ext uri="{9D8B030D-6E8A-4147-A177-3AD203B41FA5}">
                      <a16:colId xmlns:a16="http://schemas.microsoft.com/office/drawing/2014/main" val="2011988342"/>
                    </a:ext>
                  </a:extLst>
                </a:gridCol>
              </a:tblGrid>
              <a:tr h="2645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Evaluation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reward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9600443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Mean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 err="1">
                          <a:solidFill>
                            <a:schemeClr val="tx1"/>
                          </a:solidFill>
                        </a:rPr>
                        <a:t>Std</a:t>
                      </a:r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. Dev.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591342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/>
                        <a:t>15.55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2.45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868980"/>
                  </a:ext>
                </a:extLst>
              </a:tr>
            </a:tbl>
          </a:graphicData>
        </a:graphic>
      </p:graphicFrame>
      <p:graphicFrame>
        <p:nvGraphicFramePr>
          <p:cNvPr id="16" name="Tabella 15">
            <a:extLst>
              <a:ext uri="{FF2B5EF4-FFF2-40B4-BE49-F238E27FC236}">
                <a16:creationId xmlns:a16="http://schemas.microsoft.com/office/drawing/2014/main" id="{FB42DADA-AB9B-1D95-3072-5F611B9B5A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087378"/>
              </p:ext>
            </p:extLst>
          </p:nvPr>
        </p:nvGraphicFramePr>
        <p:xfrm>
          <a:off x="4504942" y="3796495"/>
          <a:ext cx="4044697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244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6345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61611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61611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0.51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7" name="Text 7">
            <a:extLst>
              <a:ext uri="{FF2B5EF4-FFF2-40B4-BE49-F238E27FC236}">
                <a16:creationId xmlns:a16="http://schemas.microsoft.com/office/drawing/2014/main" id="{FD04F33C-E278-23E9-0264-CAC95382EAA7}"/>
              </a:ext>
            </a:extLst>
          </p:cNvPr>
          <p:cNvSpPr/>
          <p:nvPr/>
        </p:nvSpPr>
        <p:spPr>
          <a:xfrm>
            <a:off x="320040" y="3547708"/>
            <a:ext cx="5212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 reward</a:t>
            </a:r>
            <a:endParaRPr lang="en-US" sz="12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CD231252-5FF8-456E-16C7-45AA245BE1D0}"/>
              </a:ext>
            </a:extLst>
          </p:cNvPr>
          <p:cNvSpPr/>
          <p:nvPr/>
        </p:nvSpPr>
        <p:spPr>
          <a:xfrm>
            <a:off x="5623560" y="354289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 loss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30961-854E-EC71-472E-591F094FC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7531578A-E3BB-09BC-59CF-EC4114E95786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E15AF7-DD8E-4136-92A0-152A05D7BDB9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C8A423E-6CBC-6285-B644-90A897F665EC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F0B0059-B144-1151-0203-90392E471778}"/>
              </a:ext>
            </a:extLst>
          </p:cNvPr>
          <p:cNvSpPr/>
          <p:nvPr/>
        </p:nvSpPr>
        <p:spPr>
          <a:xfrm>
            <a:off x="320040" y="2295143"/>
            <a:ext cx="8503920" cy="1920240"/>
          </a:xfrm>
          <a:prstGeom prst="rect">
            <a:avLst/>
          </a:prstGeom>
          <a:solidFill>
            <a:srgbClr val="F0F8F0"/>
          </a:solidFill>
          <a:ln w="12700">
            <a:solidFill>
              <a:srgbClr val="4CAF50"/>
            </a:solidFill>
            <a:prstDash val="solid"/>
          </a:ln>
        </p:spPr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C66C2FBC-8DBB-B1B7-A2AD-9B94ED408D68}"/>
              </a:ext>
            </a:extLst>
          </p:cNvPr>
          <p:cNvSpPr/>
          <p:nvPr/>
        </p:nvSpPr>
        <p:spPr>
          <a:xfrm>
            <a:off x="502920" y="2846066"/>
            <a:ext cx="5280661" cy="1047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overall performance, comparable with heuristics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small TD loss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Varied action choice</a:t>
            </a: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912B23C1-5D4F-C8C2-C317-5795A8B3CE33}"/>
              </a:ext>
            </a:extLst>
          </p:cNvPr>
          <p:cNvSpPr/>
          <p:nvPr/>
        </p:nvSpPr>
        <p:spPr>
          <a:xfrm>
            <a:off x="5875019" y="3076948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genuinely learning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94BADAC-E89C-B452-949C-0D76C130C014}"/>
              </a:ext>
            </a:extLst>
          </p:cNvPr>
          <p:cNvCxnSpPr/>
          <p:nvPr/>
        </p:nvCxnSpPr>
        <p:spPr>
          <a:xfrm>
            <a:off x="5543550" y="3339842"/>
            <a:ext cx="533400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ella 17">
            <a:extLst>
              <a:ext uri="{FF2B5EF4-FFF2-40B4-BE49-F238E27FC236}">
                <a16:creationId xmlns:a16="http://schemas.microsoft.com/office/drawing/2014/main" id="{775E278A-6ECD-2CC0-04B6-232778E09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593258"/>
              </p:ext>
            </p:extLst>
          </p:nvPr>
        </p:nvGraphicFramePr>
        <p:xfrm>
          <a:off x="525782" y="1019557"/>
          <a:ext cx="512064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2630">
                  <a:extLst>
                    <a:ext uri="{9D8B030D-6E8A-4147-A177-3AD203B41FA5}">
                      <a16:colId xmlns:a16="http://schemas.microsoft.com/office/drawing/2014/main" val="12596961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2018588786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1209705665"/>
                    </a:ext>
                  </a:extLst>
                </a:gridCol>
                <a:gridCol w="610706">
                  <a:extLst>
                    <a:ext uri="{9D8B030D-6E8A-4147-A177-3AD203B41FA5}">
                      <a16:colId xmlns:a16="http://schemas.microsoft.com/office/drawing/2014/main" val="4073463488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782007197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05224779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3568728515"/>
                    </a:ext>
                  </a:extLst>
                </a:gridCol>
                <a:gridCol w="556473">
                  <a:extLst>
                    <a:ext uri="{9D8B030D-6E8A-4147-A177-3AD203B41FA5}">
                      <a16:colId xmlns:a16="http://schemas.microsoft.com/office/drawing/2014/main" val="1156081108"/>
                    </a:ext>
                  </a:extLst>
                </a:gridCol>
              </a:tblGrid>
              <a:tr h="264555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Action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distributions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sorted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by </a:t>
                      </a:r>
                      <a:r>
                        <a:rPr lang="it-IT" sz="1200" dirty="0" err="1">
                          <a:solidFill>
                            <a:schemeClr val="tx1"/>
                          </a:solidFill>
                        </a:rPr>
                        <a:t>distance</a:t>
                      </a:r>
                      <a:r>
                        <a:rPr lang="it-IT" sz="12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89873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Action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b="1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656554"/>
                  </a:ext>
                </a:extLst>
              </a:tr>
              <a:tr h="194448">
                <a:tc>
                  <a:txBody>
                    <a:bodyPr/>
                    <a:lstStyle/>
                    <a:p>
                      <a:r>
                        <a:rPr lang="it-IT" sz="1200" dirty="0" err="1"/>
                        <a:t>Probability</a:t>
                      </a:r>
                      <a:endParaRPr lang="it-IT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0.085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0.063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it-IT" sz="1200" dirty="0"/>
                        <a:t>0.003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8192910"/>
                  </a:ext>
                </a:extLst>
              </a:tr>
            </a:tbl>
          </a:graphicData>
        </a:graphic>
      </p:graphicFrame>
      <p:sp>
        <p:nvSpPr>
          <p:cNvPr id="19" name="Text 8">
            <a:extLst>
              <a:ext uri="{FF2B5EF4-FFF2-40B4-BE49-F238E27FC236}">
                <a16:creationId xmlns:a16="http://schemas.microsoft.com/office/drawing/2014/main" id="{D4C2B804-F085-8FB8-F74C-F4A8DE171C55}"/>
              </a:ext>
            </a:extLst>
          </p:cNvPr>
          <p:cNvSpPr/>
          <p:nvPr/>
        </p:nvSpPr>
        <p:spPr>
          <a:xfrm>
            <a:off x="6139814" y="1286256"/>
            <a:ext cx="2766061" cy="341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policy learned is </a:t>
            </a:r>
          </a:p>
          <a:p>
            <a:pPr algn="ctr">
              <a:spcAft>
                <a:spcPts val="500"/>
              </a:spcAft>
              <a:buSzPct val="100000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the heuristic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96C43A4C-15D6-5B2A-E554-84B6475071B3}"/>
              </a:ext>
            </a:extLst>
          </p:cNvPr>
          <p:cNvCxnSpPr>
            <a:cxnSpLocks/>
          </p:cNvCxnSpPr>
          <p:nvPr/>
        </p:nvCxnSpPr>
        <p:spPr>
          <a:xfrm>
            <a:off x="5915023" y="1588016"/>
            <a:ext cx="262891" cy="0"/>
          </a:xfrm>
          <a:prstGeom prst="straightConnector1">
            <a:avLst/>
          </a:prstGeom>
          <a:ln w="28575">
            <a:solidFill>
              <a:srgbClr val="4CAF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7">
            <a:extLst>
              <a:ext uri="{FF2B5EF4-FFF2-40B4-BE49-F238E27FC236}">
                <a16:creationId xmlns:a16="http://schemas.microsoft.com/office/drawing/2014/main" id="{F2CB1858-9EB4-4CC7-7CE9-9191E65A2805}"/>
              </a:ext>
            </a:extLst>
          </p:cNvPr>
          <p:cNvSpPr/>
          <p:nvPr/>
        </p:nvSpPr>
        <p:spPr>
          <a:xfrm>
            <a:off x="457200" y="243687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dirty="0">
              <a:solidFill>
                <a:srgbClr val="4CAF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5526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AF6A6-E9E3-70C5-C92D-6BE1B9378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>
            <a:extLst>
              <a:ext uri="{FF2B5EF4-FFF2-40B4-BE49-F238E27FC236}">
                <a16:creationId xmlns:a16="http://schemas.microsoft.com/office/drawing/2014/main" id="{22A185FB-6C81-C907-F1DB-81755007A792}"/>
              </a:ext>
            </a:extLst>
          </p:cNvPr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8A37824-64E3-AF34-8983-0045515CEB90}"/>
              </a:ext>
            </a:extLst>
          </p:cNvPr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2: Successful Policy</a:t>
            </a:r>
            <a:endParaRPr lang="en-US" sz="2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A6B66D4-5DAB-F399-975C-EEF4926328F3}"/>
              </a:ext>
            </a:extLst>
          </p:cNvPr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B2A6FF3E-20F2-75A6-1B97-44B9FA1FE1ED}"/>
              </a:ext>
            </a:extLst>
          </p:cNvPr>
          <p:cNvSpPr/>
          <p:nvPr/>
        </p:nvSpPr>
        <p:spPr>
          <a:xfrm>
            <a:off x="320040" y="1499077"/>
            <a:ext cx="2966085" cy="2674622"/>
          </a:xfrm>
          <a:prstGeom prst="rect">
            <a:avLst/>
          </a:prstGeom>
          <a:solidFill>
            <a:srgbClr val="F5F7FA"/>
          </a:solidFill>
          <a:ln w="12700">
            <a:solidFill>
              <a:srgbClr val="D6E4F0"/>
            </a:solidFill>
            <a:prstDash val="solid"/>
          </a:ln>
        </p:spPr>
      </p:sp>
      <p:sp>
        <p:nvSpPr>
          <p:cNvPr id="3" name="Text 7">
            <a:extLst>
              <a:ext uri="{FF2B5EF4-FFF2-40B4-BE49-F238E27FC236}">
                <a16:creationId xmlns:a16="http://schemas.microsoft.com/office/drawing/2014/main" id="{4CF78298-C8EE-3DFC-B9F5-87B8383A3A3F}"/>
              </a:ext>
            </a:extLst>
          </p:cNvPr>
          <p:cNvSpPr/>
          <p:nvPr/>
        </p:nvSpPr>
        <p:spPr>
          <a:xfrm>
            <a:off x="457200" y="1623381"/>
            <a:ext cx="282892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setup</a:t>
            </a:r>
            <a:endParaRPr lang="en-US" sz="1400" b="1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3A8A94C0-CD7C-3FDC-8C84-B0A2547E143F}"/>
              </a:ext>
            </a:extLst>
          </p:cNvPr>
          <p:cNvSpPr/>
          <p:nvPr/>
        </p:nvSpPr>
        <p:spPr>
          <a:xfrm>
            <a:off x="457200" y="2001429"/>
            <a:ext cx="2828925" cy="18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 20x20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/>
              <a:t>Obstacle probability 0.05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range n = 3 cells</a:t>
            </a:r>
          </a:p>
          <a:p>
            <a:pPr marL="190500" indent="-190500">
              <a:spcAft>
                <a:spcPts val="500"/>
              </a:spcAft>
              <a:buSzPct val="100000"/>
              <a:buFontTx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trained </a:t>
            </a: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300" i="1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30DF32F-098E-D4E1-2549-4093D93099F1}"/>
              </a:ext>
            </a:extLst>
          </p:cNvPr>
          <p:cNvSpPr/>
          <p:nvPr/>
        </p:nvSpPr>
        <p:spPr>
          <a:xfrm>
            <a:off x="370840" y="915257"/>
            <a:ext cx="327961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simulation rendering</a:t>
            </a:r>
          </a:p>
        </p:txBody>
      </p:sp>
      <p:pic>
        <p:nvPicPr>
          <p:cNvPr id="10" name="video_best-model">
            <a:hlinkClick r:id="" action="ppaction://media"/>
            <a:extLst>
              <a:ext uri="{FF2B5EF4-FFF2-40B4-BE49-F238E27FC236}">
                <a16:creationId xmlns:a16="http://schemas.microsoft.com/office/drawing/2014/main" id="{1886301F-9F9A-6B6B-4DF9-26194CA044B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304344" y="1460466"/>
            <a:ext cx="5703922" cy="2851962"/>
          </a:xfrm>
          <a:prstGeom prst="rect">
            <a:avLst/>
          </a:prstGeom>
        </p:spPr>
      </p:pic>
      <p:sp>
        <p:nvSpPr>
          <p:cNvPr id="9" name="Text 7">
            <a:extLst>
              <a:ext uri="{FF2B5EF4-FFF2-40B4-BE49-F238E27FC236}">
                <a16:creationId xmlns:a16="http://schemas.microsoft.com/office/drawing/2014/main" id="{8B651904-6CC3-8EB9-9C38-70B530C7C402}"/>
              </a:ext>
            </a:extLst>
          </p:cNvPr>
          <p:cNvSpPr/>
          <p:nvPr/>
        </p:nvSpPr>
        <p:spPr>
          <a:xfrm>
            <a:off x="4081462" y="1417601"/>
            <a:ext cx="44195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rendering example – Heuristic policy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2926436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750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20040" y="237744"/>
            <a:ext cx="64008" cy="457200"/>
          </a:xfrm>
          <a:prstGeom prst="rect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2560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Comparison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20040" y="777240"/>
            <a:ext cx="8503920" cy="0"/>
          </a:xfrm>
          <a:prstGeom prst="line">
            <a:avLst/>
          </a:prstGeom>
          <a:noFill/>
          <a:ln w="19050">
            <a:solidFill>
              <a:srgbClr val="D6E4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961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on 100 test episodes per map size. Metric: mean episode reward at episode end (coverage 90%).</a:t>
            </a:r>
            <a:endParaRPr 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2185350"/>
                  </p:ext>
                </p:extLst>
              </p:nvPr>
            </p:nvGraphicFramePr>
            <p:xfrm>
              <a:off x="320040" y="1255584"/>
              <a:ext cx="8503920" cy="3200400"/>
            </p:xfrm>
            <a:graphic>
              <a:graphicData uri="http://schemas.openxmlformats.org/drawingml/2006/table">
                <a:tbl>
                  <a:tblPr/>
                  <a:tblGrid>
                    <a:gridCol w="141732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16.48</a:t>
                          </a:r>
                          <a14:m>
                            <m:oMath xmlns:m="http://schemas.openxmlformats.org/officeDocument/2006/math"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1.78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36.39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1.27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15.01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1.12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it-IT" sz="1300" i="0" dirty="0">
                              <a:ea typeface="Cambria Math" panose="02040503050406030204" pitchFamily="18" charset="0"/>
                            </a:rPr>
                            <a:t>34.32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2.58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16.91</a:t>
                          </a:r>
                          <a:r>
                            <a:rPr lang="it-IT" sz="1300" i="0" baseline="0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en-US" sz="1300" i="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 </a:t>
                          </a:r>
                          <a:r>
                            <a:rPr lang="it-IT" sz="1300" i="0" dirty="0"/>
                            <a:t>0.57</a:t>
                          </a:r>
                        </a:p>
                        <a:p>
                          <a:pPr marL="0" indent="0" algn="ctr">
                            <a:buNone/>
                          </a:pP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it-IT" sz="1300" i="0" dirty="0"/>
                            <a:t>15.55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</m:oMath>
                          </a14:m>
                          <a:r>
                            <a:rPr lang="it-IT" sz="1300" i="0" dirty="0"/>
                            <a:t> 2.45</a:t>
                          </a:r>
                        </a:p>
                        <a:p>
                          <a:pPr algn="ctr"/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300" b="0" i="0" u="none" strike="noStrike" kern="1200" baseline="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31.46 </a:t>
                          </a:r>
                          <a14:m>
                            <m:oMath xmlns:m="http://schemas.openxmlformats.org/officeDocument/2006/math">
                              <m:r>
                                <a:rPr lang="it-IT" sz="13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±</m:t>
                              </m:r>
                              <m:r>
                                <a:rPr lang="it-IT" sz="13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it-IT" sz="1300" b="0" i="0" u="none" strike="noStrike" kern="1200" baseline="0" smtClean="0">
                                  <a:solidFill>
                                    <a:schemeClr val="tx1"/>
                                  </a:solidFill>
                                  <a:latin typeface="+mn-lt"/>
                                  <a:ea typeface="+mn-ea"/>
                                  <a:cs typeface="+mn-cs"/>
                                </a:rPr>
                                <m:t>4.75</m:t>
                              </m:r>
                            </m:oMath>
                          </a14:m>
                          <a:endParaRPr lang="it-IT" sz="1300" i="0" dirty="0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2185350"/>
                  </p:ext>
                </p:extLst>
              </p:nvPr>
            </p:nvGraphicFramePr>
            <p:xfrm>
              <a:off x="320040" y="1255584"/>
              <a:ext cx="8503920" cy="3200400"/>
            </p:xfrm>
            <a:graphic>
              <a:graphicData uri="http://schemas.openxmlformats.org/drawingml/2006/table">
                <a:tbl>
                  <a:tblPr/>
                  <a:tblGrid>
                    <a:gridCol w="141732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41732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Reward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Obs. Order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20×20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30×30 Coverage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FFFFFF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Outcome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A2E4A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min distance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000" t="-100952" r="-200429" b="-30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724" t="-100952" r="-101293" b="-3038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Greedy max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Information gain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000" t="-199057" r="-200429" b="-2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724" t="-199057" r="-101293" b="-2009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Nearest frontier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243651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1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Relative - 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000" t="-301905" r="-200429" b="-1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i="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—</a:t>
                          </a:r>
                          <a:endParaRPr lang="en-US" sz="1300" i="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C8472C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⚠ Degenerate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FF0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Model 2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latin typeface="Calibri" charset="0"/>
                              <a:ea typeface="Calibri" charset="0"/>
                              <a:cs typeface="Calibri" charset="0"/>
                            </a:rPr>
                            <a:t>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Absolute + Agent</a:t>
                          </a:r>
                        </a:p>
                        <a:p>
                          <a:pPr marL="0" indent="0" algn="ctr">
                            <a:buNone/>
                          </a:pPr>
                          <a:r>
                            <a:rPr lang="en-US" sz="1300" dirty="0">
                              <a:solidFill>
                                <a:srgbClr val="000000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Unsorted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4FB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000" t="-401905" r="-200429" b="-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01724" t="-401905" r="-101293" b="-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None/>
                          </a:pPr>
                          <a:r>
                            <a:rPr lang="en-US" sz="1300" b="1" dirty="0">
                              <a:solidFill>
                                <a:srgbClr val="2E7D32"/>
                              </a:solidFill>
                              <a:latin typeface="Calibri" pitchFamily="34" charset="0"/>
                              <a:ea typeface="Calibri" pitchFamily="34" charset="-122"/>
                              <a:cs typeface="Calibri" pitchFamily="34" charset="-120"/>
                            </a:rPr>
                            <a:t>✓ Converged</a:t>
                          </a:r>
                          <a:endParaRPr lang="en-US" sz="1300" dirty="0">
                            <a:latin typeface="Calibri" charset="0"/>
                            <a:ea typeface="Calibri" charset="0"/>
                            <a:cs typeface="Calibri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D0D8E4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0FBF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8229600" cy="0"/>
          </a:xfrm>
          <a:prstGeom prst="line">
            <a:avLst/>
          </a:prstGeom>
          <a:noFill/>
          <a:ln w="25400">
            <a:solidFill>
              <a:srgbClr val="C847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1480" y="987552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969264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DQN agent was successfully integrated as the decision-making module in a modular frontier-based exploration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746504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28216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hacking revealed the critical influence of observation and reward configuration on the learned policy 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2505456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487168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 demonstrates convergent training with stable loss — a proof-of-concept for learned frontier selection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3264408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246120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developed framework can be considered validated by the meaningful results obtained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023360"/>
            <a:ext cx="256032" cy="256032"/>
          </a:xfrm>
          <a:prstGeom prst="ellipse">
            <a:avLst/>
          </a:prstGeom>
          <a:solidFill>
            <a:srgbClr val="C8472C"/>
          </a:solidFill>
          <a:ln w="12700">
            <a:solidFill>
              <a:srgbClr val="C847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005072"/>
            <a:ext cx="8001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end-to-end DRL system, multi-agent settings, dynamic and 3D environments, more complex information structures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773168"/>
            <a:ext cx="8229600" cy="0"/>
          </a:xfrm>
          <a:prstGeom prst="line">
            <a:avLst/>
          </a:prstGeom>
          <a:noFill/>
          <a:ln w="19050">
            <a:solidFill>
              <a:srgbClr val="C847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974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Paolo Spallanzani  ·  Università degli Studi di Modena e Reggio Emilia  ·  A.A. 2024/2025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1CCEB-5AA5-084F-DE39-6223F847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9247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960C30-3286-4C2A-B688-DEAE83675C09}"/>
              </a:ext>
            </a:extLst>
          </p:cNvPr>
          <p:cNvSpPr txBox="1"/>
          <p:nvPr/>
        </p:nvSpPr>
        <p:spPr>
          <a:xfrm>
            <a:off x="914400" y="1778000"/>
            <a:ext cx="7315200" cy="762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3600" b="1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Section Title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AEED710-32FB-4CE7-BC12-02102C1D2BFF}"/>
              </a:ext>
            </a:extLst>
          </p:cNvPr>
          <p:cNvSpPr txBox="1"/>
          <p:nvPr/>
        </p:nvSpPr>
        <p:spPr>
          <a:xfrm>
            <a:off x="1524000" y="2667000"/>
            <a:ext cx="609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>
                <a:solidFill>
                  <a:srgbClr val="666666"/>
                </a:solidFill>
                <a:latin typeface="Calibri"/>
                <a:ea typeface="Calibri"/>
                <a:cs typeface="Calibri"/>
              </a:rPr>
              <a:t>Section subtitle or description</a:t>
            </a:r>
          </a:p>
        </p:txBody>
      </p:sp>
    </p:spTree>
    <p:extLst>
      <p:ext uri="{BB962C8B-B14F-4D97-AF65-F5344CB8AC3E}">
        <p14:creationId xmlns:p14="http://schemas.microsoft.com/office/powerpoint/2010/main" val="23582887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D71D1CBA-50C0-4D94-BDFD-CE3626AAB801}"/>
              </a:ext>
            </a:extLst>
          </p:cNvPr>
          <p:cNvSpPr txBox="1"/>
          <p:nvPr/>
        </p:nvSpPr>
        <p:spPr>
          <a:xfrm>
            <a:off x="508000" y="2540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it-IT" sz="2600" b="1" dirty="0">
                <a:solidFill>
                  <a:srgbClr val="1A1A1A"/>
                </a:solidFill>
                <a:latin typeface="Calibri"/>
                <a:ea typeface="Calibri"/>
                <a:cs typeface="Calibri"/>
              </a:rPr>
              <a:t>Slide Title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2DD014-55CD-4034-B01B-03DB851B6C4D}"/>
              </a:ext>
            </a:extLst>
          </p:cNvPr>
          <p:cNvSpPr txBox="1"/>
          <p:nvPr/>
        </p:nvSpPr>
        <p:spPr>
          <a:xfrm>
            <a:off x="368300" y="914400"/>
            <a:ext cx="4318000" cy="3492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Text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content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goes</a:t>
            </a:r>
            <a:r>
              <a:rPr lang="it-IT" sz="1600" dirty="0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600" dirty="0" err="1">
                <a:solidFill>
                  <a:srgbClr val="333333"/>
                </a:solidFill>
                <a:latin typeface="Calibri"/>
                <a:ea typeface="Calibri"/>
                <a:cs typeface="Calibri"/>
              </a:rPr>
              <a:t>here</a:t>
            </a:r>
            <a:endParaRPr lang="it-IT" sz="1600" dirty="0">
              <a:solidFill>
                <a:srgbClr val="3333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17C1C3B0-E67F-4D08-89AC-6A936CD5AAC7}"/>
              </a:ext>
            </a:extLst>
          </p:cNvPr>
          <p:cNvSpPr/>
          <p:nvPr/>
        </p:nvSpPr>
        <p:spPr>
          <a:xfrm>
            <a:off x="4889500" y="914400"/>
            <a:ext cx="3937000" cy="3492500"/>
          </a:xfrm>
          <a:prstGeom prst="roundRect">
            <a:avLst/>
          </a:prstGeom>
          <a:solidFill>
            <a:srgbClr val="F0F0F0"/>
          </a:solidFill>
          <a:ln w="12700" cap="flat" cmpd="sng" algn="ctr">
            <a:solidFill>
              <a:srgbClr val="D6E4F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1600">
                <a:solidFill>
                  <a:srgbClr val="AAAAAA"/>
                </a:solidFill>
                <a:latin typeface="Calibri"/>
                <a:ea typeface="Calibri"/>
                <a:cs typeface="Calibri"/>
              </a:rPr>
              <a:t>Image / Chart</a:t>
            </a:r>
          </a:p>
        </p:txBody>
      </p:sp>
    </p:spTree>
    <p:extLst>
      <p:ext uri="{BB962C8B-B14F-4D97-AF65-F5344CB8AC3E}">
        <p14:creationId xmlns:p14="http://schemas.microsoft.com/office/powerpoint/2010/main" val="3990665965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rontespizi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F41429A-0E20-4A37-B7F9-5B30E28FAAB5}">
  <we:reference id="wa200010001" version="1.0.0.1" store="it-IT" storeType="OMEX"/>
  <we:alternateReferences>
    <we:reference id="WA200010001" version="1.0.0.1" store="WA200010001" storeType="OMEX"/>
  </we:alternateReferences>
  <we:properties>
    <we:property name="claude.fileId" value="&quot;a0536ab6-2f2e-4d83-9a69-81edefdca97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2256</TotalTime>
  <Words>1611</Words>
  <Application>Microsoft Office PowerPoint</Application>
  <PresentationFormat>Presentazione su schermo (16:9)</PresentationFormat>
  <Paragraphs>408</Paragraphs>
  <Slides>30</Slides>
  <Notes>17</Notes>
  <HiddenSlides>0</HiddenSlides>
  <MMClips>2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30</vt:i4>
      </vt:variant>
    </vt:vector>
  </HeadingPairs>
  <TitlesOfParts>
    <vt:vector size="36" baseType="lpstr">
      <vt:lpstr>Arial</vt:lpstr>
      <vt:lpstr>Calibri</vt:lpstr>
      <vt:lpstr>Cambria Math</vt:lpstr>
      <vt:lpstr>Courier New</vt:lpstr>
      <vt:lpstr>standard slide</vt:lpstr>
      <vt:lpstr>Frontespizio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Reinforcement Learning in Frontier-Based Autonomous Exploration</dc:title>
  <dc:subject>PptxGenJS Presentation</dc:subject>
  <dc:creator>Paolo Spallanzani</dc:creator>
  <cp:lastModifiedBy>PAOLO SPALLANZANI</cp:lastModifiedBy>
  <cp:revision>22</cp:revision>
  <dcterms:created xsi:type="dcterms:W3CDTF">2026-04-01T11:00:14Z</dcterms:created>
  <dcterms:modified xsi:type="dcterms:W3CDTF">2026-04-08T09:01:06Z</dcterms:modified>
</cp:coreProperties>
</file>