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6.jpg" ContentType="image/jpg"/>
  <Override PartName="/ppt/media/image7.jpg" ContentType="image/png"/>
  <Override PartName="/ppt/media/image13.jpg" ContentType="image/pn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5" r:id="rId2"/>
  </p:sldMasterIdLst>
  <p:notesMasterIdLst>
    <p:notesMasterId r:id="rId25"/>
  </p:notesMasterIdLst>
  <p:sldIdLst>
    <p:sldId id="266" r:id="rId3"/>
    <p:sldId id="269" r:id="rId4"/>
    <p:sldId id="259" r:id="rId5"/>
    <p:sldId id="271" r:id="rId6"/>
    <p:sldId id="261" r:id="rId7"/>
    <p:sldId id="298" r:id="rId8"/>
    <p:sldId id="272" r:id="rId9"/>
    <p:sldId id="262" r:id="rId10"/>
    <p:sldId id="274" r:id="rId11"/>
    <p:sldId id="301" r:id="rId12"/>
    <p:sldId id="275" r:id="rId13"/>
    <p:sldId id="285" r:id="rId14"/>
    <p:sldId id="293" r:id="rId15"/>
    <p:sldId id="303" r:id="rId16"/>
    <p:sldId id="297" r:id="rId17"/>
    <p:sldId id="268" r:id="rId18"/>
    <p:sldId id="295" r:id="rId19"/>
    <p:sldId id="296" r:id="rId20"/>
    <p:sldId id="302" r:id="rId21"/>
    <p:sldId id="270" r:id="rId22"/>
    <p:sldId id="299" r:id="rId23"/>
    <p:sldId id="30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4F0"/>
    <a:srgbClr val="1A2E4A"/>
    <a:srgbClr val="F5F7FA"/>
    <a:srgbClr val="4CAF50"/>
    <a:srgbClr val="C00000"/>
    <a:srgbClr val="C84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4564" autoAdjust="0"/>
  </p:normalViewPr>
  <p:slideViewPr>
    <p:cSldViewPr snapToGrid="0" snapToObjects="1">
      <p:cViewPr varScale="1">
        <p:scale>
          <a:sx n="107" d="100"/>
          <a:sy n="107" d="100"/>
        </p:scale>
        <p:origin x="75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4"/>
    </p:cViewPr>
  </p:sorterViewPr>
  <p:notesViewPr>
    <p:cSldViewPr snapToGrid="0" snapToObjects="1">
      <p:cViewPr varScale="1">
        <p:scale>
          <a:sx n="65" d="100"/>
          <a:sy n="65" d="100"/>
        </p:scale>
        <p:origin x="2453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1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E773-304D-0695-B80C-C338BAEF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9098D-F93F-11E3-742E-E73C99C4A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715E9-4172-7B24-3B44-D6232A5EB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0895-5927-CC51-B003-92282C31E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97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2100B-E36D-2AD9-E4A2-FE9FCAD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422AF-4688-128E-CA5D-EAB26F521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BA5EA-2CD4-AED6-CAEB-9FED66079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0E31A-2C70-98DD-83D9-274BDA605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91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D7A8-1F12-2260-B729-4A446748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937E6-5371-2F12-F6EE-4F70E04A2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00D65-E31C-3C9C-A2AA-FA4F21395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15D08-8B4C-9037-2F4F-9F385213A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2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EF2A485-BE30-A66E-9173-707CE568EF4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it-IT" sz="26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DA1CF-C5AE-DD5B-9342-F610121D19B1}"/>
              </a:ext>
            </a:extLst>
          </p:cNvPr>
          <p:cNvSpPr txBox="1"/>
          <p:nvPr userDrawn="1"/>
        </p:nvSpPr>
        <p:spPr>
          <a:xfrm>
            <a:off x="368300" y="914400"/>
            <a:ext cx="4318000" cy="349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Text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4AC78B8-D2E8-8FD7-43EB-3F25868399E6}"/>
              </a:ext>
            </a:extLst>
          </p:cNvPr>
          <p:cNvSpPr/>
          <p:nvPr userDrawn="1"/>
        </p:nvSpPr>
        <p:spPr>
          <a:xfrm>
            <a:off x="4889500" y="914400"/>
            <a:ext cx="3937000" cy="3492500"/>
          </a:xfrm>
          <a:prstGeom prst="roundRect">
            <a:avLst/>
          </a:prstGeom>
          <a:solidFill>
            <a:srgbClr val="F0F0F0"/>
          </a:solidFill>
          <a:ln w="12700" cap="flat" cmpd="sng" algn="ctr">
            <a:solidFill>
              <a:srgbClr val="D6E4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Image / Chart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12" name="Footer Left"/>
          <p:cNvSpPr txBox="1"/>
          <p:nvPr userDrawn="1"/>
        </p:nvSpPr>
        <p:spPr>
          <a:xfrm>
            <a:off x="317500" y="4851400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Author  ·  Presentation Title</a:t>
            </a:r>
          </a:p>
        </p:txBody>
      </p:sp>
      <p:sp>
        <p:nvSpPr>
          <p:cNvPr id="13" name="Footer Right"/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  <p:pic>
        <p:nvPicPr>
          <p:cNvPr id="14" name="Unimore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2200" y="4572000"/>
            <a:ext cx="1524000" cy="54864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9179C6-E191-5331-8606-9480C7200249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8496F5-498E-1F51-EE9E-F1CC505A6326}"/>
              </a:ext>
            </a:extLst>
          </p:cNvPr>
          <p:cNvSpPr txBox="1"/>
          <p:nvPr userDrawn="1"/>
        </p:nvSpPr>
        <p:spPr>
          <a:xfrm>
            <a:off x="3683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Left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EBC8E3-3772-3517-6D88-69F15F76D304}"/>
              </a:ext>
            </a:extLst>
          </p:cNvPr>
          <p:cNvSpPr txBox="1"/>
          <p:nvPr userDrawn="1"/>
        </p:nvSpPr>
        <p:spPr>
          <a:xfrm>
            <a:off x="46990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Right content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A9E8BA-4469-EAFF-B7DA-09787333416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it-IT" sz="26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640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691527-7949-E352-4491-938A6C3C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1216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32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espizio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526605BC-B1CA-2824-D924-78A259FD846E}"/>
              </a:ext>
            </a:extLst>
          </p:cNvPr>
          <p:cNvSpPr/>
          <p:nvPr userDrawn="1"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B3960F7-6679-4E91-A84F-9A6E20A7E879}"/>
              </a:ext>
            </a:extLst>
          </p:cNvPr>
          <p:cNvSpPr/>
          <p:nvPr userDrawn="1"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Dipartimento di Scienze e Metodi dell'Ingegneria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3386294-E84F-C730-9131-561C7C53D31D}"/>
              </a:ext>
            </a:extLst>
          </p:cNvPr>
          <p:cNvSpPr/>
          <p:nvPr userDrawn="1"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Laurea Magistrale in Digital Automation Engineering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848A098-266E-562A-29D8-DAABDE0F7325}"/>
              </a:ext>
            </a:extLst>
          </p:cNvPr>
          <p:cNvSpPr/>
          <p:nvPr userDrawn="1"/>
        </p:nvSpPr>
        <p:spPr>
          <a:xfrm>
            <a:off x="457200" y="16276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in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Autonomous Exploration</a:t>
            </a:r>
            <a:endParaRPr lang="en-US" sz="30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E5DF3F4-DC6A-CE9A-EDB9-15A7CF474C32}"/>
              </a:ext>
            </a:extLst>
          </p:cNvPr>
          <p:cNvSpPr/>
          <p:nvPr userDrawn="1"/>
        </p:nvSpPr>
        <p:spPr>
          <a:xfrm>
            <a:off x="2286000" y="3127248"/>
            <a:ext cx="45720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A2E1985-9F70-66FA-81B8-88C111D3CAD1}"/>
              </a:ext>
            </a:extLst>
          </p:cNvPr>
          <p:cNvSpPr/>
          <p:nvPr userDrawn="1"/>
        </p:nvSpPr>
        <p:spPr>
          <a:xfrm>
            <a:off x="914400" y="3246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di: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FF24EB2-1FCF-68A9-7B8B-012D729A0F8C}"/>
              </a:ext>
            </a:extLst>
          </p:cNvPr>
          <p:cNvSpPr/>
          <p:nvPr userDrawn="1"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Lorenzo Sabattini</a:t>
            </a:r>
            <a:endParaRPr lang="en-US" sz="11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378B1E1-7B7F-E3BB-F19F-235818FCA12C}"/>
              </a:ext>
            </a:extLst>
          </p:cNvPr>
          <p:cNvSpPr/>
          <p:nvPr userDrawn="1"/>
        </p:nvSpPr>
        <p:spPr>
          <a:xfrm>
            <a:off x="91440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Dott. Mattia Catellani  ·  Dott. Mattia Mantovani</a:t>
            </a:r>
            <a:endParaRPr lang="en-US" sz="11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8AB9DC9-608E-C372-DFAB-74DA8DA9FE8C}"/>
              </a:ext>
            </a:extLst>
          </p:cNvPr>
          <p:cNvSpPr/>
          <p:nvPr userDrawn="1"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 2024/2025</a:t>
            </a:r>
            <a:endParaRPr lang="en-US" sz="100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8122842-6C81-70B2-D7B4-07F57673DC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114300"/>
            <a:ext cx="2019300" cy="72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8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EE330B32-3708-D315-1AD0-A10B738A23FC}"/>
              </a:ext>
            </a:extLst>
          </p:cNvPr>
          <p:cNvSpPr/>
          <p:nvPr userDrawn="1"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DF7A45D1-2CC8-6EAA-4EE8-FFE68F18D781}"/>
              </a:ext>
            </a:extLst>
          </p:cNvPr>
          <p:cNvSpPr/>
          <p:nvPr userDrawn="1"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04D00198-E4B5-30CC-0027-A0984F44BB91}"/>
              </a:ext>
            </a:extLst>
          </p:cNvPr>
          <p:cNvSpPr/>
          <p:nvPr userDrawn="1"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6251E09-D0A7-09EF-126D-18A49BAD8201}"/>
              </a:ext>
            </a:extLst>
          </p:cNvPr>
          <p:cNvSpPr/>
          <p:nvPr userDrawn="1"/>
        </p:nvSpPr>
        <p:spPr>
          <a:xfrm>
            <a:off x="804672" y="96926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CE28362-0855-98A7-16B7-F75AE5519E10}"/>
              </a:ext>
            </a:extLst>
          </p:cNvPr>
          <p:cNvSpPr/>
          <p:nvPr userDrawn="1"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B564588-27F1-D454-BF49-C741BEA540C9}"/>
              </a:ext>
            </a:extLst>
          </p:cNvPr>
          <p:cNvSpPr/>
          <p:nvPr userDrawn="1"/>
        </p:nvSpPr>
        <p:spPr>
          <a:xfrm>
            <a:off x="804672" y="172821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96D9CEE5-12B4-61A5-95C1-FFCA89560187}"/>
              </a:ext>
            </a:extLst>
          </p:cNvPr>
          <p:cNvSpPr/>
          <p:nvPr userDrawn="1"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AEADAF4D-B287-58F6-10FB-B193BEA40212}"/>
              </a:ext>
            </a:extLst>
          </p:cNvPr>
          <p:cNvSpPr/>
          <p:nvPr userDrawn="1"/>
        </p:nvSpPr>
        <p:spPr>
          <a:xfrm>
            <a:off x="804672" y="2487168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F86E7D2-0ACE-BA99-BABB-0EFACD1BC9A2}"/>
              </a:ext>
            </a:extLst>
          </p:cNvPr>
          <p:cNvSpPr/>
          <p:nvPr userDrawn="1"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1C44422-0542-B493-5AA1-72C50929A1CD}"/>
              </a:ext>
            </a:extLst>
          </p:cNvPr>
          <p:cNvSpPr/>
          <p:nvPr userDrawn="1"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70F9DB6-EB9F-417B-DA46-3CB83AC24A2D}"/>
              </a:ext>
            </a:extLst>
          </p:cNvPr>
          <p:cNvSpPr/>
          <p:nvPr userDrawn="1"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CC124B3-CAC5-60F2-E867-12843D61BF32}"/>
              </a:ext>
            </a:extLst>
          </p:cNvPr>
          <p:cNvSpPr/>
          <p:nvPr userDrawn="1"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7DCE628-96A6-38EF-ED31-21BF2C7F90DF}"/>
              </a:ext>
            </a:extLst>
          </p:cNvPr>
          <p:cNvSpPr/>
          <p:nvPr userDrawn="1"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04A07CA-B3AE-32F3-F8DC-F730D43B2C6A}"/>
              </a:ext>
            </a:extLst>
          </p:cNvPr>
          <p:cNvSpPr/>
          <p:nvPr userDrawn="1"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234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71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Unimore Logo">
            <a:extLst>
              <a:ext uri="{FF2B5EF4-FFF2-40B4-BE49-F238E27FC236}">
                <a16:creationId xmlns:a16="http://schemas.microsoft.com/office/drawing/2014/main" id="{6043A221-5444-D27B-415A-2EBF79EB34E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4467" y="4616076"/>
            <a:ext cx="1307353" cy="470647"/>
          </a:xfrm>
          <a:prstGeom prst="rect">
            <a:avLst/>
          </a:prstGeom>
        </p:spPr>
      </p:pic>
      <p:sp>
        <p:nvSpPr>
          <p:cNvPr id="4" name="Footer Left">
            <a:extLst>
              <a:ext uri="{FF2B5EF4-FFF2-40B4-BE49-F238E27FC236}">
                <a16:creationId xmlns:a16="http://schemas.microsoft.com/office/drawing/2014/main" id="{FB136CB4-7A22-1793-524D-2BE9EE009B75}"/>
              </a:ext>
            </a:extLst>
          </p:cNvPr>
          <p:cNvSpPr txBox="1"/>
          <p:nvPr userDrawn="1"/>
        </p:nvSpPr>
        <p:spPr>
          <a:xfrm>
            <a:off x="685800" y="4851399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4" r:id="rId3"/>
    <p:sldLayoutId id="2147483669" r:id="rId4"/>
    <p:sldLayoutId id="2147483670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67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737" y="942976"/>
            <a:ext cx="7785194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869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Deep Reinforcement Learning (DRL) be effectively</a:t>
            </a:r>
          </a:p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leveraged into autonomous exploration?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6524" y="2097409"/>
            <a:ext cx="7615951" cy="1078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complex task</a:t>
            </a:r>
            <a:endParaRPr lang="en-US" sz="16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analytical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exist but present some limitations</a:t>
            </a:r>
            <a:endParaRPr lang="en-US" sz="16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methods can provide more adaptive models</a:t>
            </a:r>
            <a:endParaRPr lang="en-US" sz="16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00FCEB4-5A5B-AECB-8434-1AA1350D5054}"/>
              </a:ext>
            </a:extLst>
          </p:cNvPr>
          <p:cNvSpPr/>
          <p:nvPr/>
        </p:nvSpPr>
        <p:spPr>
          <a:xfrm>
            <a:off x="673400" y="3324499"/>
            <a:ext cx="7827505" cy="114034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015EE5A-DA97-6AC7-337B-2E3B82A10631}"/>
              </a:ext>
            </a:extLst>
          </p:cNvPr>
          <p:cNvSpPr/>
          <p:nvPr/>
        </p:nvSpPr>
        <p:spPr>
          <a:xfrm>
            <a:off x="756525" y="3836968"/>
            <a:ext cx="7023019" cy="472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framework to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the possibility of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integrating learning-based methods with classical ones</a:t>
            </a:r>
            <a:endParaRPr lang="en-US" sz="1600" b="1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E002ABA-51D8-44C0-5622-613A998D91FA}"/>
              </a:ext>
            </a:extLst>
          </p:cNvPr>
          <p:cNvSpPr/>
          <p:nvPr/>
        </p:nvSpPr>
        <p:spPr>
          <a:xfrm>
            <a:off x="3909774" y="3293842"/>
            <a:ext cx="1324451" cy="472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Autonomous Exploration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4336" y="1092992"/>
            <a:ext cx="4526280" cy="32321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systematically map an unknown environment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agent can perceive and moves without human guidance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autonomous exploration?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task, require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Mapping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Localization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Navigation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Decision making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19961" y="3687886"/>
            <a:ext cx="3136106" cy="228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application examples</a:t>
            </a:r>
            <a:endParaRPr lang="en-US" sz="9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497BBE3-9ECA-8B02-05B1-5CA8969F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47" r="3033"/>
          <a:stretch>
            <a:fillRect/>
          </a:stretch>
        </p:blipFill>
        <p:spPr>
          <a:xfrm>
            <a:off x="5187789" y="1277305"/>
            <a:ext cx="1757361" cy="107757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04AF77-05C1-3B51-5275-C1DCABC700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651" b="10263"/>
          <a:stretch>
            <a:fillRect/>
          </a:stretch>
        </p:blipFill>
        <p:spPr>
          <a:xfrm>
            <a:off x="5975687" y="2421300"/>
            <a:ext cx="2043800" cy="107757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E99CC8A-8B36-9C8B-61FA-7500A73EB6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82" r="4233"/>
          <a:stretch>
            <a:fillRect/>
          </a:stretch>
        </p:blipFill>
        <p:spPr>
          <a:xfrm>
            <a:off x="7046588" y="1277305"/>
            <a:ext cx="1757362" cy="1077575"/>
          </a:xfrm>
          <a:prstGeom prst="rect">
            <a:avLst/>
          </a:prstGeom>
        </p:spPr>
      </p:pic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46CEDB6-C13F-EB1B-1AC8-58CA8B3E7A63}"/>
              </a:ext>
            </a:extLst>
          </p:cNvPr>
          <p:cNvCxnSpPr/>
          <p:nvPr/>
        </p:nvCxnSpPr>
        <p:spPr>
          <a:xfrm>
            <a:off x="2493163" y="3808767"/>
            <a:ext cx="27860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47D1818-D2C0-D195-C9F9-F000EE269B9B}"/>
              </a:ext>
            </a:extLst>
          </p:cNvPr>
          <p:cNvSpPr txBox="1"/>
          <p:nvPr/>
        </p:nvSpPr>
        <p:spPr>
          <a:xfrm>
            <a:off x="2836064" y="3654874"/>
            <a:ext cx="238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 The agent must decide where to move next </a:t>
            </a:r>
            <a:endParaRPr lang="it-IT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Approaches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View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b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it-IT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it-IT" sz="1600" dirty="0" err="1"/>
              <a:t>ptimization</a:t>
            </a:r>
            <a:r>
              <a:rPr lang="it-IT" sz="1600" dirty="0"/>
              <a:t> </a:t>
            </a:r>
            <a:r>
              <a:rPr lang="it-IT" sz="1600" dirty="0" err="1"/>
              <a:t>problem</a:t>
            </a:r>
            <a:r>
              <a:rPr lang="it-IT" sz="1600" dirty="0"/>
              <a:t>, </a:t>
            </a:r>
            <a:r>
              <a:rPr lang="it-IT" sz="1600" dirty="0" err="1"/>
              <a:t>finding</a:t>
            </a:r>
            <a:r>
              <a:rPr lang="it-IT" sz="1600" dirty="0"/>
              <a:t> the </a:t>
            </a:r>
            <a:r>
              <a:rPr lang="it-IT" sz="1600" dirty="0" err="1"/>
              <a:t>next</a:t>
            </a:r>
            <a:r>
              <a:rPr lang="it-IT" sz="1600" dirty="0"/>
              <a:t> best position for the sensing </a:t>
            </a:r>
            <a:r>
              <a:rPr lang="it-IT" sz="1600" dirty="0" err="1"/>
              <a:t>apparatus</a:t>
            </a:r>
            <a:endParaRPr lang="it-IT" sz="1600" dirty="0"/>
          </a:p>
          <a:p>
            <a:pPr>
              <a:spcAft>
                <a:spcPts val="500"/>
              </a:spcAft>
              <a:buSzPct val="100000"/>
            </a:pP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Exploration (</a:t>
            </a:r>
            <a:r>
              <a:rPr lang="it-IT" dirty="0" err="1"/>
              <a:t>Yamauchi</a:t>
            </a:r>
            <a:r>
              <a:rPr lang="it-IT" dirty="0"/>
              <a:t> 1997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/>
              <a:t>Frontiers: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between explored (free) and unknown cells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grouped into cluster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moves toward frontier clusters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heuristics policies to decide which frontier region</a:t>
            </a:r>
            <a:endParaRPr lang="en-US" sz="1600" dirty="0"/>
          </a:p>
        </p:txBody>
      </p:sp>
      <p:pic>
        <p:nvPicPr>
          <p:cNvPr id="8" name="Image 0" descr="/home/claude/assets/frontiers_pictu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0" y="914400"/>
            <a:ext cx="365760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exploration illustration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901EC0B-66A8-4AFA-930E-484C08D7F9A2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26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0653542-D9B1-9A2A-6984-1A0D33716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26" t="22622" r="12733" b="21093"/>
          <a:stretch>
            <a:fillRect/>
          </a:stretch>
        </p:blipFill>
        <p:spPr>
          <a:xfrm>
            <a:off x="5794409" y="1855824"/>
            <a:ext cx="3109083" cy="155889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F7F5C26E-B483-858E-04DF-EE05A7A1B5F3}"/>
              </a:ext>
            </a:extLst>
          </p:cNvPr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8">
                <a:extLst>
                  <a:ext uri="{FF2B5EF4-FFF2-40B4-BE49-F238E27FC236}">
                    <a16:creationId xmlns:a16="http://schemas.microsoft.com/office/drawing/2014/main" id="{20F013AD-F929-BC0A-5743-A5947A99B8CF}"/>
                  </a:ext>
                </a:extLst>
              </p:cNvPr>
              <p:cNvSpPr/>
              <p:nvPr/>
            </p:nvSpPr>
            <p:spPr>
              <a:xfrm>
                <a:off x="464343" y="1315880"/>
                <a:ext cx="5972175" cy="29032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 agent observe and interact with an environment and receives a scalar reward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Observe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</m:e>
                      <m:sub>
                        <m:r>
                          <a:rPr lang="it-IT" sz="13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300" dirty="0"/>
                  <a:t>, perform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𝑎</m:t>
                        </m:r>
                      </m:e>
                      <m:sub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300" dirty="0"/>
                  <a:t> leading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</m:e>
                      <m:sub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300" dirty="0"/>
                  <a:t>, receives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𝑟</m:t>
                        </m:r>
                      </m:e>
                      <m:sub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+1</m:t>
                        </m:r>
                      </m:sub>
                    </m:sSub>
                  </m:oMath>
                </a14:m>
                <a:endParaRPr lang="en-US" sz="1300" dirty="0"/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Goal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learn to take the best action </a:t>
                </a:r>
                <a:r>
                  <a:rPr lang="en-US" sz="13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maximize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cumulative reward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</a:p>
              <a:p>
                <a:pPr>
                  <a:spcAft>
                    <a:spcPts val="500"/>
                  </a:spcAft>
                  <a:buSzPct val="100000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behavioral Policy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Π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𝑆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output an action given a state 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Q-function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𝑄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𝑆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allow to assign a value to each action-state pair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>
          <p:sp>
            <p:nvSpPr>
              <p:cNvPr id="9" name="Text 8">
                <a:extLst>
                  <a:ext uri="{FF2B5EF4-FFF2-40B4-BE49-F238E27FC236}">
                    <a16:creationId xmlns:a16="http://schemas.microsoft.com/office/drawing/2014/main" id="{20F013AD-F929-BC0A-5743-A5947A99B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43" y="1315880"/>
                <a:ext cx="5972175" cy="2903220"/>
              </a:xfrm>
              <a:prstGeom prst="rect">
                <a:avLst/>
              </a:prstGeom>
              <a:blipFill>
                <a:blip r:embed="rId3"/>
                <a:stretch>
                  <a:fillRect l="-204" t="-420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0DC10423-BDC3-CDC1-6579-474E3A572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766" y="3677263"/>
            <a:ext cx="3113669" cy="48315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448EB91-789F-B3B5-736B-406379695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522" y="2304119"/>
            <a:ext cx="1976851" cy="494213"/>
          </a:xfrm>
          <a:prstGeom prst="rect">
            <a:avLst/>
          </a:prstGeom>
        </p:spPr>
      </p:pic>
      <p:sp>
        <p:nvSpPr>
          <p:cNvPr id="19" name="Shape 22">
            <a:extLst>
              <a:ext uri="{FF2B5EF4-FFF2-40B4-BE49-F238E27FC236}">
                <a16:creationId xmlns:a16="http://schemas.microsoft.com/office/drawing/2014/main" id="{3F595427-3DD0-57FC-DAC1-7DA4377682E1}"/>
              </a:ext>
            </a:extLst>
          </p:cNvPr>
          <p:cNvSpPr/>
          <p:nvPr/>
        </p:nvSpPr>
        <p:spPr>
          <a:xfrm>
            <a:off x="2043514" y="2304119"/>
            <a:ext cx="2078853" cy="494213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1D016AD0-8AF3-FFBE-63F2-525B866D478F}"/>
              </a:ext>
            </a:extLst>
          </p:cNvPr>
          <p:cNvSpPr/>
          <p:nvPr/>
        </p:nvSpPr>
        <p:spPr>
          <a:xfrm>
            <a:off x="1626766" y="3647386"/>
            <a:ext cx="3130972" cy="571714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7894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AB9E-CDD0-0F57-8B7B-78926446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58FAD49-D0CC-A805-9A3D-AA6717AD0B6F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26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18DCC72-96ED-6DEC-7CB8-825054805F74}"/>
              </a:ext>
            </a:extLst>
          </p:cNvPr>
          <p:cNvSpPr/>
          <p:nvPr/>
        </p:nvSpPr>
        <p:spPr>
          <a:xfrm>
            <a:off x="457200" y="888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 Learning</a:t>
            </a:r>
            <a:endParaRPr lang="en-US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CA31438-CC1F-2DBE-C75E-7DE4E7E15FE9}"/>
              </a:ext>
            </a:extLst>
          </p:cNvPr>
          <p:cNvSpPr/>
          <p:nvPr/>
        </p:nvSpPr>
        <p:spPr>
          <a:xfrm>
            <a:off x="457200" y="1208719"/>
            <a:ext cx="4321969" cy="85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Q-Algorithm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 to iteratively estimate the Q-function from experience</a:t>
            </a:r>
          </a:p>
          <a:p>
            <a:pPr>
              <a:spcAft>
                <a:spcPts val="500"/>
              </a:spcAft>
              <a:buSzPct val="100000"/>
            </a:pPr>
            <a:endParaRPr lang="en-US" sz="13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8437B19-2201-552E-3177-C28E81544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35" y="3210167"/>
            <a:ext cx="3880052" cy="96855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D30F77C-FF6D-4D81-8AA7-EAF0025AB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35" y="1525226"/>
            <a:ext cx="3832365" cy="95665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463F26B-8A19-3D34-2B5F-CEB841A4DF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066"/>
          <a:stretch>
            <a:fillRect/>
          </a:stretch>
        </p:blipFill>
        <p:spPr>
          <a:xfrm>
            <a:off x="455472" y="2007737"/>
            <a:ext cx="4055533" cy="3682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8">
                <a:extLst>
                  <a:ext uri="{FF2B5EF4-FFF2-40B4-BE49-F238E27FC236}">
                    <a16:creationId xmlns:a16="http://schemas.microsoft.com/office/drawing/2014/main" id="{76B6664A-4D66-2DE4-DA3E-DE9E7F71954B}"/>
                  </a:ext>
                </a:extLst>
              </p:cNvPr>
              <p:cNvSpPr/>
              <p:nvPr/>
            </p:nvSpPr>
            <p:spPr>
              <a:xfrm>
                <a:off x="543988" y="3354901"/>
                <a:ext cx="4361247" cy="956651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 high dimensional state spaces the Q-table can become too memory expansive 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 Deep Q-Network the Q-function mapping is approximated by Deep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Neural Network </a:t>
                </a:r>
                <a14:m>
                  <m:oMath xmlns:m="http://schemas.openxmlformats.org/officeDocument/2006/math">
                    <m:r>
                      <a:rPr lang="it-IT" sz="130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𝑄</m:t>
                    </m:r>
                    <m:d>
                      <m:dPr>
                        <m:ctrlP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𝑎</m:t>
                        </m:r>
                        <m:r>
                          <a:rPr lang="it-IT" sz="13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;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300" dirty="0"/>
              </a:p>
            </p:txBody>
          </p:sp>
        </mc:Choice>
        <mc:Fallback>
          <p:sp>
            <p:nvSpPr>
              <p:cNvPr id="15" name="Text 8">
                <a:extLst>
                  <a:ext uri="{FF2B5EF4-FFF2-40B4-BE49-F238E27FC236}">
                    <a16:creationId xmlns:a16="http://schemas.microsoft.com/office/drawing/2014/main" id="{76B6664A-4D66-2DE4-DA3E-DE9E7F719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88" y="3354901"/>
                <a:ext cx="4361247" cy="956651"/>
              </a:xfrm>
              <a:prstGeom prst="rect">
                <a:avLst/>
              </a:prstGeom>
              <a:blipFill>
                <a:blip r:embed="rId5"/>
                <a:stretch>
                  <a:fillRect l="-279" t="-1274" b="-4459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7">
            <a:extLst>
              <a:ext uri="{FF2B5EF4-FFF2-40B4-BE49-F238E27FC236}">
                <a16:creationId xmlns:a16="http://schemas.microsoft.com/office/drawing/2014/main" id="{0BB49070-AA2A-F57E-8BCA-7F61D012C63B}"/>
              </a:ext>
            </a:extLst>
          </p:cNvPr>
          <p:cNvSpPr/>
          <p:nvPr/>
        </p:nvSpPr>
        <p:spPr>
          <a:xfrm>
            <a:off x="508000" y="300156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</a:t>
            </a:r>
            <a:endParaRPr lang="en-US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72798926-5939-D7FC-D9E9-5198BF433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62" y="1713834"/>
            <a:ext cx="3988338" cy="354014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55F54F12-3502-0FB5-3625-F6B89F306522}"/>
              </a:ext>
            </a:extLst>
          </p:cNvPr>
          <p:cNvSpPr/>
          <p:nvPr/>
        </p:nvSpPr>
        <p:spPr>
          <a:xfrm>
            <a:off x="508000" y="2316271"/>
            <a:ext cx="4321969" cy="4512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Q-learning the Q-function is encoded in a table called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3450AAB-B6E8-8C14-FB9A-8B6673C1DD9C}"/>
              </a:ext>
            </a:extLst>
          </p:cNvPr>
          <p:cNvSpPr/>
          <p:nvPr/>
        </p:nvSpPr>
        <p:spPr>
          <a:xfrm>
            <a:off x="626525" y="1707535"/>
            <a:ext cx="4002609" cy="608736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397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/>
              <a:t>Hybrid modular architecture</a:t>
            </a:r>
          </a:p>
        </p:txBody>
      </p:sp>
      <p:sp>
        <p:nvSpPr>
          <p:cNvPr id="24" name="Shape 22"/>
          <p:cNvSpPr/>
          <p:nvPr/>
        </p:nvSpPr>
        <p:spPr>
          <a:xfrm>
            <a:off x="1004754" y="3093248"/>
            <a:ext cx="3311977" cy="13030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1914" y="3153831"/>
            <a:ext cx="26112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analytical components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1914" y="3566168"/>
            <a:ext cx="2960893" cy="800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Frontier detection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Low level navigation</a:t>
            </a:r>
          </a:p>
        </p:txBody>
      </p:sp>
      <p:sp>
        <p:nvSpPr>
          <p:cNvPr id="27" name="Shape 25"/>
          <p:cNvSpPr/>
          <p:nvPr/>
        </p:nvSpPr>
        <p:spPr>
          <a:xfrm>
            <a:off x="4754881" y="3093248"/>
            <a:ext cx="3316624" cy="13030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16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component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58715" y="3526443"/>
            <a:ext cx="2851785" cy="32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module</a:t>
            </a:r>
            <a:endParaRPr lang="en-US" sz="1300" dirty="0"/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62CBA648-A5C8-375B-CC90-4A922032D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1057276"/>
            <a:ext cx="6477000" cy="2286000"/>
          </a:xfrm>
          <a:prstGeom prst="rect">
            <a:avLst/>
          </a:prstGeom>
        </p:spPr>
      </p:pic>
      <p:sp>
        <p:nvSpPr>
          <p:cNvPr id="31" name="Text 27">
            <a:extLst>
              <a:ext uri="{FF2B5EF4-FFF2-40B4-BE49-F238E27FC236}">
                <a16:creationId xmlns:a16="http://schemas.microsoft.com/office/drawing/2014/main" id="{B0EE0268-342E-3264-CDCE-7421F2A88300}"/>
              </a:ext>
            </a:extLst>
          </p:cNvPr>
          <p:cNvSpPr/>
          <p:nvPr/>
        </p:nvSpPr>
        <p:spPr>
          <a:xfrm>
            <a:off x="5146491" y="3985941"/>
            <a:ext cx="2415540" cy="32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of the target position</a:t>
            </a:r>
            <a:endParaRPr lang="en-US" sz="1300" dirty="0"/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C6BF7B3B-C3AE-5F9F-9C63-3B09C46A5C8A}"/>
              </a:ext>
            </a:extLst>
          </p:cNvPr>
          <p:cNvCxnSpPr>
            <a:cxnSpLocks/>
          </p:cNvCxnSpPr>
          <p:nvPr/>
        </p:nvCxnSpPr>
        <p:spPr>
          <a:xfrm>
            <a:off x="6225243" y="3832338"/>
            <a:ext cx="0" cy="188420"/>
          </a:xfrm>
          <a:prstGeom prst="straightConnector1">
            <a:avLst/>
          </a:prstGeom>
          <a:ln w="28575" cap="flat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573F97-AE10-444A-9306-BFF3D7DCA88C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91A1769-B9E0-690D-90A7-0369076A82EE}"/>
              </a:ext>
            </a:extLst>
          </p:cNvPr>
          <p:cNvSpPr/>
          <p:nvPr/>
        </p:nvSpPr>
        <p:spPr>
          <a:xfrm>
            <a:off x="370840" y="1364341"/>
            <a:ext cx="4251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 discrete map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maps with random obstacle placement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a local window within his perception range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observations are used to build a believes map</a:t>
            </a:r>
            <a:endParaRPr lang="en-US" sz="14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40497A2-ABCE-D9C0-95B2-62483D5D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92" y="1085967"/>
            <a:ext cx="3278333" cy="156579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F715845-B525-3552-E815-E5F6C2D4D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0" y="3040282"/>
            <a:ext cx="5465652" cy="1595007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5A32195A-73EF-D939-B137-3D52DB558EEB}"/>
              </a:ext>
            </a:extLst>
          </p:cNvPr>
          <p:cNvSpPr/>
          <p:nvPr/>
        </p:nvSpPr>
        <p:spPr>
          <a:xfrm>
            <a:off x="370840" y="915257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– 2D occupancy grid</a:t>
            </a:r>
          </a:p>
        </p:txBody>
      </p:sp>
    </p:spTree>
    <p:extLst>
      <p:ext uri="{BB962C8B-B14F-4D97-AF65-F5344CB8AC3E}">
        <p14:creationId xmlns:p14="http://schemas.microsoft.com/office/powerpoint/2010/main" val="1959701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B7A4-5D27-70B1-0A98-ED2995FE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2">
            <a:extLst>
              <a:ext uri="{FF2B5EF4-FFF2-40B4-BE49-F238E27FC236}">
                <a16:creationId xmlns:a16="http://schemas.microsoft.com/office/drawing/2014/main" id="{D4EE8D53-8338-A278-7AC1-88A20B87F4E9}"/>
              </a:ext>
            </a:extLst>
          </p:cNvPr>
          <p:cNvSpPr/>
          <p:nvPr/>
        </p:nvSpPr>
        <p:spPr>
          <a:xfrm>
            <a:off x="349068" y="890646"/>
            <a:ext cx="4095636" cy="130989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D32A6E3-1067-D149-8143-6698F5640355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3027F75-A051-76BC-591E-600C8A5CC59B}"/>
              </a:ext>
            </a:extLst>
          </p:cNvPr>
          <p:cNvSpPr/>
          <p:nvPr/>
        </p:nvSpPr>
        <p:spPr>
          <a:xfrm>
            <a:off x="533266" y="1257987"/>
            <a:ext cx="4251960" cy="64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Discriminate frontier cells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theme into cluster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cluster’s centroids 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AC0CC9D-40D3-4901-4004-A8502D9116E2}"/>
              </a:ext>
            </a:extLst>
          </p:cNvPr>
          <p:cNvSpPr/>
          <p:nvPr/>
        </p:nvSpPr>
        <p:spPr>
          <a:xfrm>
            <a:off x="533266" y="901421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detection system</a:t>
            </a:r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32DCC85E-21BD-A456-C7F1-E4AE1506FBB9}"/>
              </a:ext>
            </a:extLst>
          </p:cNvPr>
          <p:cNvSpPr/>
          <p:nvPr/>
        </p:nvSpPr>
        <p:spPr>
          <a:xfrm>
            <a:off x="4699296" y="890647"/>
            <a:ext cx="4095636" cy="130989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119D0DF-27F6-E8DC-8DAA-B098EEEE2BCC}"/>
              </a:ext>
            </a:extLst>
          </p:cNvPr>
          <p:cNvSpPr/>
          <p:nvPr/>
        </p:nvSpPr>
        <p:spPr>
          <a:xfrm>
            <a:off x="4842557" y="1257987"/>
            <a:ext cx="3768177" cy="64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 obstacle free path to the target position (A* algorithm)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B94AC84-FA26-EB5F-63FB-A8BD8B41C148}"/>
              </a:ext>
            </a:extLst>
          </p:cNvPr>
          <p:cNvSpPr/>
          <p:nvPr/>
        </p:nvSpPr>
        <p:spPr>
          <a:xfrm>
            <a:off x="4756198" y="888443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 path planner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0650657-3A5E-C657-AF7E-7008E89C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4" y="2445206"/>
            <a:ext cx="2091528" cy="208241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15788E4-AC38-615A-0D66-D901C167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572" y="2340366"/>
            <a:ext cx="2098145" cy="218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09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BFB7-8AD0-C29E-2F95-187E3F19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481019E-77B0-A0CC-3D93-C2CCA001A951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698E1C71-E685-CD86-004B-1AB507233782}"/>
              </a:ext>
            </a:extLst>
          </p:cNvPr>
          <p:cNvSpPr/>
          <p:nvPr/>
        </p:nvSpPr>
        <p:spPr>
          <a:xfrm>
            <a:off x="320040" y="1499077"/>
            <a:ext cx="3151823" cy="267462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3138C28-537B-7102-4C03-CF656624F66A}"/>
              </a:ext>
            </a:extLst>
          </p:cNvPr>
          <p:cNvSpPr/>
          <p:nvPr/>
        </p:nvSpPr>
        <p:spPr>
          <a:xfrm>
            <a:off x="457200" y="1623381"/>
            <a:ext cx="28289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setup</a:t>
            </a:r>
            <a:endParaRPr lang="en-US" sz="1400" b="1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A628CE1-1C0B-489A-747C-3BD4D798649A}"/>
              </a:ext>
            </a:extLst>
          </p:cNvPr>
          <p:cNvSpPr/>
          <p:nvPr/>
        </p:nvSpPr>
        <p:spPr>
          <a:xfrm>
            <a:off x="457200" y="2001429"/>
            <a:ext cx="2828925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 20x20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Obstacle probability 0.05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range n = 3 cells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greedy min distance heuristic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pic>
        <p:nvPicPr>
          <p:cNvPr id="10" name="video_heuristic">
            <a:hlinkClick r:id="" action="ppaction://media"/>
            <a:extLst>
              <a:ext uri="{FF2B5EF4-FFF2-40B4-BE49-F238E27FC236}">
                <a16:creationId xmlns:a16="http://schemas.microsoft.com/office/drawing/2014/main" id="{FB81732C-E216-E380-47B7-7767BF86530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07580" y="1379064"/>
            <a:ext cx="5614987" cy="2836438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C202F898-579F-B2B0-72A0-51C32FB4984A}"/>
              </a:ext>
            </a:extLst>
          </p:cNvPr>
          <p:cNvSpPr/>
          <p:nvPr/>
        </p:nvSpPr>
        <p:spPr>
          <a:xfrm>
            <a:off x="4102894" y="1346274"/>
            <a:ext cx="4419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rendering example – Heuristic policy</a:t>
            </a:r>
            <a:endParaRPr lang="en-US" sz="1400" i="1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B26A343-4D3F-C48B-7417-ED8FCD9AAA79}"/>
              </a:ext>
            </a:extLst>
          </p:cNvPr>
          <p:cNvSpPr/>
          <p:nvPr/>
        </p:nvSpPr>
        <p:spPr>
          <a:xfrm>
            <a:off x="370840" y="915257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rendering</a:t>
            </a:r>
          </a:p>
        </p:txBody>
      </p:sp>
    </p:spTree>
    <p:extLst>
      <p:ext uri="{BB962C8B-B14F-4D97-AF65-F5344CB8AC3E}">
        <p14:creationId xmlns:p14="http://schemas.microsoft.com/office/powerpoint/2010/main" val="3122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magine 65">
            <a:extLst>
              <a:ext uri="{FF2B5EF4-FFF2-40B4-BE49-F238E27FC236}">
                <a16:creationId xmlns:a16="http://schemas.microsoft.com/office/drawing/2014/main" id="{18F7C838-AC57-F767-DC7C-08DC98A61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362" y="4064498"/>
            <a:ext cx="2725222" cy="540523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05F464F0-19F3-6264-96AD-9547261B3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563" y="1058035"/>
            <a:ext cx="2568188" cy="473204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Observations &amp; Actions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503" y="952976"/>
            <a:ext cx="3977640" cy="226170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663" y="9529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  (What it sees)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78663" y="1295304"/>
            <a:ext cx="3840480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setup: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frontiers information vector: 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position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Agent position (optional)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to fixed length N for consistent DNN input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1503" y="3354699"/>
            <a:ext cx="3977640" cy="1081277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663" y="338156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 (What it does)</a:t>
            </a:r>
            <a:endParaRPr lang="en-US" sz="1600" dirty="0">
              <a:solidFill>
                <a:srgbClr val="1A2E4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8663" y="3702457"/>
            <a:ext cx="3840480" cy="73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select one of N frontier cluster centroids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centroid passed to Path Planner for navigation</a:t>
            </a:r>
            <a:endParaRPr lang="en-US" sz="13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A151AF7E-644D-62B9-0E14-203A8F678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039" y="1616488"/>
            <a:ext cx="2324889" cy="2314760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7FE5F316-F47F-26F1-BE4E-60B56DC9D70E}"/>
              </a:ext>
            </a:extLst>
          </p:cNvPr>
          <p:cNvCxnSpPr>
            <a:cxnSpLocks/>
          </p:cNvCxnSpPr>
          <p:nvPr/>
        </p:nvCxnSpPr>
        <p:spPr>
          <a:xfrm flipH="1" flipV="1">
            <a:off x="5196359" y="1449323"/>
            <a:ext cx="1788973" cy="19159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A6FFBE33-21E2-E712-D5F3-2AF5260BD7AF}"/>
              </a:ext>
            </a:extLst>
          </p:cNvPr>
          <p:cNvCxnSpPr>
            <a:cxnSpLocks/>
          </p:cNvCxnSpPr>
          <p:nvPr/>
        </p:nvCxnSpPr>
        <p:spPr>
          <a:xfrm flipH="1" flipV="1">
            <a:off x="5674991" y="1449323"/>
            <a:ext cx="2679084" cy="216541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e 45">
            <a:extLst>
              <a:ext uri="{FF2B5EF4-FFF2-40B4-BE49-F238E27FC236}">
                <a16:creationId xmlns:a16="http://schemas.microsoft.com/office/drawing/2014/main" id="{2329471A-AEDD-D01B-190F-017C34CF4038}"/>
              </a:ext>
            </a:extLst>
          </p:cNvPr>
          <p:cNvSpPr/>
          <p:nvPr/>
        </p:nvSpPr>
        <p:spPr>
          <a:xfrm>
            <a:off x="5743574" y="4072219"/>
            <a:ext cx="570384" cy="5363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8B453163-D985-04CF-1A72-31C4C666F7AD}"/>
              </a:ext>
            </a:extLst>
          </p:cNvPr>
          <p:cNvCxnSpPr>
            <a:cxnSpLocks/>
            <a:stCxn id="46" idx="7"/>
          </p:cNvCxnSpPr>
          <p:nvPr/>
        </p:nvCxnSpPr>
        <p:spPr>
          <a:xfrm flipV="1">
            <a:off x="6230427" y="3693319"/>
            <a:ext cx="2158563" cy="457447"/>
          </a:xfrm>
          <a:prstGeom prst="straightConnector1">
            <a:avLst/>
          </a:prstGeom>
          <a:ln w="19050">
            <a:solidFill>
              <a:srgbClr val="1A2E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6E994413-5923-858F-30CD-BA0AF7218074}"/>
              </a:ext>
            </a:extLst>
          </p:cNvPr>
          <p:cNvCxnSpPr>
            <a:cxnSpLocks/>
          </p:cNvCxnSpPr>
          <p:nvPr/>
        </p:nvCxnSpPr>
        <p:spPr>
          <a:xfrm flipH="1" flipV="1">
            <a:off x="6158561" y="1456943"/>
            <a:ext cx="1637973" cy="6687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6">
            <a:extLst>
              <a:ext uri="{FF2B5EF4-FFF2-40B4-BE49-F238E27FC236}">
                <a16:creationId xmlns:a16="http://schemas.microsoft.com/office/drawing/2014/main" id="{5E6D407A-4C5B-571F-1AA3-4B3D850C2177}"/>
              </a:ext>
            </a:extLst>
          </p:cNvPr>
          <p:cNvSpPr/>
          <p:nvPr/>
        </p:nvSpPr>
        <p:spPr>
          <a:xfrm>
            <a:off x="4963023" y="3852730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Action (e.g. = 2):</a:t>
            </a: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0B2E10E4-4556-1B9A-DDE9-627BA9E9E8A1}"/>
              </a:ext>
            </a:extLst>
          </p:cNvPr>
          <p:cNvSpPr/>
          <p:nvPr/>
        </p:nvSpPr>
        <p:spPr>
          <a:xfrm>
            <a:off x="4898369" y="877308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Observations: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ccentBar"/>
          <p:cNvSpPr/>
          <p:nvPr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Title"/>
          <p:cNvSpPr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Reward Shaping</a:t>
            </a:r>
            <a:endParaRPr lang="en-US" sz="2600" dirty="0"/>
          </a:p>
        </p:txBody>
      </p:sp>
      <p:cxnSp>
        <p:nvCxnSpPr>
          <p:cNvPr id="202" name="SepLine"/>
          <p:cNvCxnSpPr/>
          <p:nvPr/>
        </p:nvCxnSpPr>
        <p:spPr>
          <a:xfrm>
            <a:off x="317500" y="774700"/>
            <a:ext cx="8509000" cy="0"/>
          </a:xfrm>
          <a:prstGeom prst="line">
            <a:avLst/>
          </a:prstGeom>
          <a:ln w="19050">
            <a:solidFill>
              <a:srgbClr val="D6E4F0"/>
            </a:solidFill>
          </a:ln>
        </p:spPr>
      </p:cxnSp>
      <p:sp>
        <p:nvSpPr>
          <p:cNvPr id="204" name="CardHeader"/>
          <p:cNvSpPr/>
          <p:nvPr/>
        </p:nvSpPr>
        <p:spPr>
          <a:xfrm>
            <a:off x="583406" y="889000"/>
            <a:ext cx="7967664" cy="368300"/>
          </a:xfrm>
          <a:prstGeom prst="roundRect">
            <a:avLst>
              <a:gd name="adj" fmla="val 3000"/>
            </a:avLst>
          </a:prstGeom>
          <a:solidFill>
            <a:srgbClr val="E8EDF3"/>
          </a:solidFill>
          <a:ln w="6350">
            <a:solidFill>
              <a:srgbClr val="D6E4F0"/>
            </a:solidFill>
          </a:ln>
        </p:spPr>
        <p:txBody>
          <a:bodyPr wrap="square" lIns="91440" tIns="0" rIns="0" bIns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Comparison</a:t>
            </a:r>
          </a:p>
        </p:txBody>
      </p:sp>
      <p:graphicFrame>
        <p:nvGraphicFramePr>
          <p:cNvPr id="206" name="Reward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3450"/>
              </p:ext>
            </p:extLst>
          </p:nvPr>
        </p:nvGraphicFramePr>
        <p:xfrm>
          <a:off x="900112" y="1347722"/>
          <a:ext cx="7343776" cy="3017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28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066">
                  <a:extLst>
                    <a:ext uri="{9D8B030D-6E8A-4147-A177-3AD203B41FA5}">
                      <a16:colId xmlns:a16="http://schemas.microsoft.com/office/drawing/2014/main" val="3129147511"/>
                    </a:ext>
                  </a:extLst>
                </a:gridCol>
                <a:gridCol w="175667">
                  <a:extLst>
                    <a:ext uri="{9D8B030D-6E8A-4147-A177-3AD203B41FA5}">
                      <a16:colId xmlns:a16="http://schemas.microsoft.com/office/drawing/2014/main" val="3892954019"/>
                    </a:ext>
                  </a:extLst>
                </a:gridCol>
                <a:gridCol w="1153355">
                  <a:extLst>
                    <a:ext uri="{9D8B030D-6E8A-4147-A177-3AD203B41FA5}">
                      <a16:colId xmlns:a16="http://schemas.microsoft.com/office/drawing/2014/main" val="536005186"/>
                    </a:ext>
                  </a:extLst>
                </a:gridCol>
                <a:gridCol w="1141411">
                  <a:extLst>
                    <a:ext uri="{9D8B030D-6E8A-4147-A177-3AD203B41FA5}">
                      <a16:colId xmlns:a16="http://schemas.microsoft.com/office/drawing/2014/main" val="1421492333"/>
                    </a:ext>
                  </a:extLst>
                </a:gridCol>
                <a:gridCol w="1371326">
                  <a:extLst>
                    <a:ext uri="{9D8B030D-6E8A-4147-A177-3AD203B41FA5}">
                      <a16:colId xmlns:a16="http://schemas.microsoft.com/office/drawing/2014/main" val="2806643730"/>
                    </a:ext>
                  </a:extLst>
                </a:gridCol>
              </a:tblGrid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Condition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1</a:t>
                      </a:r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 dirty="0">
                        <a:solidFill>
                          <a:srgbClr val="1A2E4A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2</a:t>
                      </a:r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 dirty="0">
                        <a:solidFill>
                          <a:srgbClr val="1A2E4A"/>
                        </a:solidFill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2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Action outcome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Action selects padding slot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continues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No new cells explored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  <a:endParaRPr lang="en-US" sz="1100" dirty="0">
                        <a:solidFill>
                          <a:srgbClr val="4472C4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Some cells explored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proportional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572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Episode termination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Exploration ≥ threshold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large positive</a:t>
                      </a:r>
                      <a:endParaRPr lang="en-US" sz="1100" dirty="0">
                        <a:solidFill>
                          <a:srgbClr val="2E7D3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terminated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Max steps exceeded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  <a:endParaRPr lang="en-US" sz="1100" dirty="0">
                        <a:solidFill>
                          <a:srgbClr val="4472C4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No progress for ≥ 20 steps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</a:rPr>
                        <a:t>intermediate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E67E2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E67E2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572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Additional signal — Reward 2 only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Oscillating behavior detected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55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Campaign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8051"/>
            <a:ext cx="4527031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Configuration search: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× observation set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 configuration per reward</a:t>
            </a:r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Hyperparameter optimization: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converged to a single optimal hyperparameter set</a:t>
            </a:r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Training budget: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/ 750k / 1M time steps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best models selected</a:t>
            </a:r>
            <a:endParaRPr lang="en-US" sz="1400" dirty="0"/>
          </a:p>
        </p:txBody>
      </p:sp>
      <p:pic>
        <p:nvPicPr>
          <p:cNvPr id="8" name="Image 0" descr="/home/claude/assets/experimental_process_white.png"/>
          <p:cNvPicPr>
            <a:picLocks noChangeAspect="1"/>
          </p:cNvPicPr>
          <p:nvPr/>
        </p:nvPicPr>
        <p:blipFill>
          <a:blip r:embed="rId3"/>
          <a:srcRect t="2820" b="2625"/>
          <a:stretch>
            <a:fillRect/>
          </a:stretch>
        </p:blipFill>
        <p:spPr>
          <a:xfrm>
            <a:off x="4537813" y="833629"/>
            <a:ext cx="4450830" cy="39212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1F82-86CB-2B93-A10A-F0881A4FF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2">
            <a:extLst>
              <a:ext uri="{FF2B5EF4-FFF2-40B4-BE49-F238E27FC236}">
                <a16:creationId xmlns:a16="http://schemas.microsoft.com/office/drawing/2014/main" id="{CEB9E8F4-9A40-E685-6DE7-62ECFAEF90F3}"/>
              </a:ext>
            </a:extLst>
          </p:cNvPr>
          <p:cNvSpPr/>
          <p:nvPr/>
        </p:nvSpPr>
        <p:spPr>
          <a:xfrm>
            <a:off x="688664" y="2021653"/>
            <a:ext cx="7766503" cy="1000153"/>
          </a:xfrm>
          <a:prstGeom prst="rect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B21816-4242-2403-BB00-E48F41181D72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4A0A1E-8666-2C5E-D4E5-44FD694B868B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metrics and baselines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69C474C-6A6E-54C7-CF90-95987EF8C62B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0">
                <a:extLst>
                  <a:ext uri="{FF2B5EF4-FFF2-40B4-BE49-F238E27FC236}">
                    <a16:creationId xmlns:a16="http://schemas.microsoft.com/office/drawing/2014/main" id="{EDC57CE9-7DB1-F0AF-FD1B-1BE8BFDC26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9387895"/>
                  </p:ext>
                </p:extLst>
              </p:nvPr>
            </p:nvGraphicFramePr>
            <p:xfrm>
              <a:off x="4470650" y="3240069"/>
              <a:ext cx="3851910" cy="1225849"/>
            </p:xfrm>
            <a:graphic>
              <a:graphicData uri="http://schemas.openxmlformats.org/drawingml/2006/table">
                <a:tbl>
                  <a:tblPr/>
                  <a:tblGrid>
                    <a:gridCol w="1283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11449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Heuristic policy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Mean Reward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Standard dev.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i="0" dirty="0">
                              <a:ea typeface="Cambria Math" panose="02040503050406030204" pitchFamily="18" charset="0"/>
                            </a:rPr>
                            <a:t>16.48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it-IT" sz="1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12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 </a:t>
                          </a:r>
                          <a:r>
                            <a:rPr lang="it-IT" sz="1200" i="0" dirty="0">
                              <a:ea typeface="Cambria Math" panose="02040503050406030204" pitchFamily="18" charset="0"/>
                            </a:rPr>
                            <a:t>1.78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15.01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it-IT" sz="1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it-IT" sz="12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1.12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0">
                <a:extLst>
                  <a:ext uri="{FF2B5EF4-FFF2-40B4-BE49-F238E27FC236}">
                    <a16:creationId xmlns:a16="http://schemas.microsoft.com/office/drawing/2014/main" id="{EDC57CE9-7DB1-F0AF-FD1B-1BE8BFDC26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9387895"/>
                  </p:ext>
                </p:extLst>
              </p:nvPr>
            </p:nvGraphicFramePr>
            <p:xfrm>
              <a:off x="4470650" y="3240069"/>
              <a:ext cx="3851910" cy="1225849"/>
            </p:xfrm>
            <a:graphic>
              <a:graphicData uri="http://schemas.openxmlformats.org/drawingml/2006/table">
                <a:tbl>
                  <a:tblPr/>
                  <a:tblGrid>
                    <a:gridCol w="1283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11449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Heuristic policy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Mean Reward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Standard dev.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i="0" dirty="0">
                              <a:ea typeface="Cambria Math" panose="02040503050406030204" pitchFamily="18" charset="0"/>
                            </a:rPr>
                            <a:t>16.48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474" t="-68421" r="-948" b="-1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15.01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474" t="-170667" r="-948" b="-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 5">
            <a:extLst>
              <a:ext uri="{FF2B5EF4-FFF2-40B4-BE49-F238E27FC236}">
                <a16:creationId xmlns:a16="http://schemas.microsoft.com/office/drawing/2014/main" id="{B580FB8F-3A5B-8AD7-2802-80DB23ADA122}"/>
              </a:ext>
            </a:extLst>
          </p:cNvPr>
          <p:cNvSpPr/>
          <p:nvPr/>
        </p:nvSpPr>
        <p:spPr>
          <a:xfrm>
            <a:off x="733457" y="2226803"/>
            <a:ext cx="4527031" cy="423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 (training loss)</a:t>
            </a: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97EF2BF-6C79-502E-5A29-073A2F24BD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18" t="73066" b="6569"/>
          <a:stretch>
            <a:fillRect/>
          </a:stretch>
        </p:blipFill>
        <p:spPr>
          <a:xfrm>
            <a:off x="4379015" y="2524463"/>
            <a:ext cx="3884480" cy="27843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CA7C3BD-FBDC-BD37-8A53-4891AE992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22" y="2172282"/>
            <a:ext cx="3988338" cy="354014"/>
          </a:xfrm>
          <a:prstGeom prst="rect">
            <a:avLst/>
          </a:prstGeom>
        </p:spPr>
      </p:pic>
      <p:sp>
        <p:nvSpPr>
          <p:cNvPr id="10" name="Shape 22">
            <a:extLst>
              <a:ext uri="{FF2B5EF4-FFF2-40B4-BE49-F238E27FC236}">
                <a16:creationId xmlns:a16="http://schemas.microsoft.com/office/drawing/2014/main" id="{518784C9-3C4B-0D94-71D6-4DAD31EEB22C}"/>
              </a:ext>
            </a:extLst>
          </p:cNvPr>
          <p:cNvSpPr/>
          <p:nvPr/>
        </p:nvSpPr>
        <p:spPr>
          <a:xfrm>
            <a:off x="4379015" y="2224261"/>
            <a:ext cx="4002609" cy="608736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75966A6-5387-B30B-85E6-5FE0FF060110}"/>
              </a:ext>
            </a:extLst>
          </p:cNvPr>
          <p:cNvSpPr/>
          <p:nvPr/>
        </p:nvSpPr>
        <p:spPr>
          <a:xfrm>
            <a:off x="688664" y="932745"/>
            <a:ext cx="4527031" cy="1225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cumulative episode reward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reward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reward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2B65FBC-BA4A-1A4E-7B1E-08122DC9B00A}"/>
              </a:ext>
            </a:extLst>
          </p:cNvPr>
          <p:cNvSpPr/>
          <p:nvPr/>
        </p:nvSpPr>
        <p:spPr>
          <a:xfrm>
            <a:off x="688664" y="3314113"/>
            <a:ext cx="4527031" cy="5958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 - heuristics baselines</a:t>
            </a: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6512A01C-4984-B722-8921-EDFE615C12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415" y="1144397"/>
            <a:ext cx="1976851" cy="494213"/>
          </a:xfrm>
          <a:prstGeom prst="rect">
            <a:avLst/>
          </a:prstGeom>
        </p:spPr>
      </p:pic>
      <p:sp>
        <p:nvSpPr>
          <p:cNvPr id="14" name="Shape 22">
            <a:extLst>
              <a:ext uri="{FF2B5EF4-FFF2-40B4-BE49-F238E27FC236}">
                <a16:creationId xmlns:a16="http://schemas.microsoft.com/office/drawing/2014/main" id="{0CBFA162-1513-4B75-7735-D0A344DCD9A0}"/>
              </a:ext>
            </a:extLst>
          </p:cNvPr>
          <p:cNvSpPr/>
          <p:nvPr/>
        </p:nvSpPr>
        <p:spPr>
          <a:xfrm>
            <a:off x="5301415" y="1081397"/>
            <a:ext cx="2078853" cy="571714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1DC4FEF8-9EF8-27DA-E6BD-C44EE18ADD4B}"/>
              </a:ext>
            </a:extLst>
          </p:cNvPr>
          <p:cNvSpPr/>
          <p:nvPr/>
        </p:nvSpPr>
        <p:spPr>
          <a:xfrm>
            <a:off x="700003" y="903634"/>
            <a:ext cx="7755333" cy="1000153"/>
          </a:xfrm>
          <a:prstGeom prst="rect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4F76B0BF-2404-9F95-FC07-620C437B4567}"/>
              </a:ext>
            </a:extLst>
          </p:cNvPr>
          <p:cNvSpPr/>
          <p:nvPr/>
        </p:nvSpPr>
        <p:spPr>
          <a:xfrm>
            <a:off x="688663" y="3145830"/>
            <a:ext cx="7766503" cy="1411882"/>
          </a:xfrm>
          <a:prstGeom prst="rect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1725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1: Degenerate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58" y="868434"/>
            <a:ext cx="7906705" cy="384295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84124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 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relative positions   ·   Sorted by distance    ·   </a:t>
            </a: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1   ·   1M steps</a:t>
            </a:r>
            <a:endParaRPr lang="en-US" sz="1200" dirty="0"/>
          </a:p>
        </p:txBody>
      </p:sp>
      <p:pic>
        <p:nvPicPr>
          <p:cNvPr id="9" name="Image 0" descr="/home/claude/assets/relative_sorted_1e6_loss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1" y="1402490"/>
            <a:ext cx="5029200" cy="2180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34791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1200" dirty="0"/>
          </a:p>
        </p:txBody>
      </p:sp>
      <p:pic>
        <p:nvPicPr>
          <p:cNvPr id="11" name="Image 1" descr="/home/claude/assets/relative_sorted_1e6_train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98695" y="1402490"/>
            <a:ext cx="3088105" cy="2180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347431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</a:t>
            </a:r>
            <a:endParaRPr lang="en-US" sz="1200" dirty="0"/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945D122D-FE56-F66D-9E60-75297FD9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58121"/>
              </p:ext>
            </p:extLst>
          </p:nvPr>
        </p:nvGraphicFramePr>
        <p:xfrm>
          <a:off x="1548383" y="3730622"/>
          <a:ext cx="287026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31">
                  <a:extLst>
                    <a:ext uri="{9D8B030D-6E8A-4147-A177-3AD203B41FA5}">
                      <a16:colId xmlns:a16="http://schemas.microsoft.com/office/drawing/2014/main" val="2914056647"/>
                    </a:ext>
                  </a:extLst>
                </a:gridCol>
                <a:gridCol w="1435131">
                  <a:extLst>
                    <a:ext uri="{9D8B030D-6E8A-4147-A177-3AD203B41FA5}">
                      <a16:colId xmlns:a16="http://schemas.microsoft.com/office/drawing/2014/main" val="2011988342"/>
                    </a:ext>
                  </a:extLst>
                </a:gridCol>
              </a:tblGrid>
              <a:tr h="259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Evaluation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reward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00443"/>
                  </a:ext>
                </a:extLst>
              </a:tr>
              <a:tr h="259321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. Dev.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91342"/>
                  </a:ext>
                </a:extLst>
              </a:tr>
              <a:tr h="259321">
                <a:tc>
                  <a:txBody>
                    <a:bodyPr/>
                    <a:lstStyle/>
                    <a:p>
                      <a:r>
                        <a:rPr lang="it-IT" sz="1200" dirty="0"/>
                        <a:t>16.91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68980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50146383-70B6-2311-65E8-CEB8607C3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42078"/>
              </p:ext>
            </p:extLst>
          </p:nvPr>
        </p:nvGraphicFramePr>
        <p:xfrm>
          <a:off x="4802122" y="3728314"/>
          <a:ext cx="287026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79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</a:tblGrid>
              <a:tr h="171011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171011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204730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6">
            <a:extLst>
              <a:ext uri="{FF2B5EF4-FFF2-40B4-BE49-F238E27FC236}">
                <a16:creationId xmlns:a16="http://schemas.microsoft.com/office/drawing/2014/main" id="{D8EFB94C-0DE9-BCBB-8B88-78A5834E0A55}"/>
              </a:ext>
            </a:extLst>
          </p:cNvPr>
          <p:cNvSpPr/>
          <p:nvPr/>
        </p:nvSpPr>
        <p:spPr>
          <a:xfrm>
            <a:off x="692944" y="1178432"/>
            <a:ext cx="7719536" cy="1318640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Reward Hacking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682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681" y="1664208"/>
            <a:ext cx="4000501" cy="66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policy learned always chose action = 0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huge TD loss</a:t>
            </a: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BC1CF05-FB80-5024-B303-168429DC47FC}"/>
              </a:ext>
            </a:extLst>
          </p:cNvPr>
          <p:cNvSpPr/>
          <p:nvPr/>
        </p:nvSpPr>
        <p:spPr>
          <a:xfrm>
            <a:off x="5898358" y="1772032"/>
            <a:ext cx="28575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Degenerated Policy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272714BA-2147-04E3-170B-53D1AD2B69E9}"/>
              </a:ext>
            </a:extLst>
          </p:cNvPr>
          <p:cNvCxnSpPr/>
          <p:nvPr/>
        </p:nvCxnSpPr>
        <p:spPr>
          <a:xfrm>
            <a:off x="5068258" y="1958340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 6">
            <a:extLst>
              <a:ext uri="{FF2B5EF4-FFF2-40B4-BE49-F238E27FC236}">
                <a16:creationId xmlns:a16="http://schemas.microsoft.com/office/drawing/2014/main" id="{B0F76DF1-2FC5-B064-121C-7293DA1C33E3}"/>
              </a:ext>
            </a:extLst>
          </p:cNvPr>
          <p:cNvSpPr/>
          <p:nvPr/>
        </p:nvSpPr>
        <p:spPr>
          <a:xfrm>
            <a:off x="692944" y="2844164"/>
            <a:ext cx="7719536" cy="1318640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0369533-4D61-B342-5649-10CAF7CF861D}"/>
              </a:ext>
            </a:extLst>
          </p:cNvPr>
          <p:cNvSpPr/>
          <p:nvPr/>
        </p:nvSpPr>
        <p:spPr>
          <a:xfrm>
            <a:off x="838682" y="30373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82A692-61BA-906F-351E-A5B833B2A71F}"/>
              </a:ext>
            </a:extLst>
          </p:cNvPr>
          <p:cNvSpPr/>
          <p:nvPr/>
        </p:nvSpPr>
        <p:spPr>
          <a:xfrm>
            <a:off x="838682" y="3329940"/>
            <a:ext cx="7536180" cy="66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always at end + Large penalty   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Strong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ncentive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chose action = 0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Centroids   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Chosing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 = 0 correspond to greedy heuristic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0075" y="918136"/>
            <a:ext cx="7915275" cy="346784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2982" y="87314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 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centroids positions   ·   Not-sorted    ·    Agent position    ·   Reward 2   ·   1M steps</a:t>
            </a:r>
            <a:endParaRPr lang="en-US" sz="1200" dirty="0"/>
          </a:p>
        </p:txBody>
      </p:sp>
      <p:pic>
        <p:nvPicPr>
          <p:cNvPr id="9" name="Image 0" descr="/home/claude/assets/absolute_ag_notsorted_1e6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360829"/>
            <a:ext cx="4924697" cy="2154196"/>
          </a:xfrm>
          <a:prstGeom prst="rect">
            <a:avLst/>
          </a:prstGeom>
        </p:spPr>
      </p:pic>
      <p:pic>
        <p:nvPicPr>
          <p:cNvPr id="11" name="Image 1" descr="/home/claude/assets/absolute_ag_notsorted_1e6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19998" y="1360828"/>
            <a:ext cx="3023937" cy="2154197"/>
          </a:xfrm>
          <a:prstGeom prst="rect">
            <a:avLst/>
          </a:prstGeom>
        </p:spPr>
      </p:pic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1B53B08E-3213-8AE6-722D-90F5AC50D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433285"/>
              </p:ext>
            </p:extLst>
          </p:nvPr>
        </p:nvGraphicFramePr>
        <p:xfrm>
          <a:off x="1190243" y="3748435"/>
          <a:ext cx="280994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973">
                  <a:extLst>
                    <a:ext uri="{9D8B030D-6E8A-4147-A177-3AD203B41FA5}">
                      <a16:colId xmlns:a16="http://schemas.microsoft.com/office/drawing/2014/main" val="2914056647"/>
                    </a:ext>
                  </a:extLst>
                </a:gridCol>
                <a:gridCol w="1404973">
                  <a:extLst>
                    <a:ext uri="{9D8B030D-6E8A-4147-A177-3AD203B41FA5}">
                      <a16:colId xmlns:a16="http://schemas.microsoft.com/office/drawing/2014/main" val="2011988342"/>
                    </a:ext>
                  </a:extLst>
                </a:gridCol>
              </a:tblGrid>
              <a:tr h="236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Evaluation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reward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00443"/>
                  </a:ext>
                </a:extLst>
              </a:tr>
              <a:tr h="236235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. Dev.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91342"/>
                  </a:ext>
                </a:extLst>
              </a:tr>
              <a:tr h="236235">
                <a:tc>
                  <a:txBody>
                    <a:bodyPr/>
                    <a:lstStyle/>
                    <a:p>
                      <a:r>
                        <a:rPr lang="it-IT" sz="1200" dirty="0"/>
                        <a:t>15.55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2.45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68980"/>
                  </a:ext>
                </a:extLst>
              </a:tr>
            </a:tbl>
          </a:graphicData>
        </a:graphic>
      </p:graphicFrame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FB42DADA-AB9B-1D95-3072-5F611B9B5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75880"/>
              </p:ext>
            </p:extLst>
          </p:nvPr>
        </p:nvGraphicFramePr>
        <p:xfrm>
          <a:off x="4504942" y="3740588"/>
          <a:ext cx="384610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783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586082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586082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586082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34036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  <a:gridCol w="534036">
                  <a:extLst>
                    <a:ext uri="{9D8B030D-6E8A-4147-A177-3AD203B41FA5}">
                      <a16:colId xmlns:a16="http://schemas.microsoft.com/office/drawing/2014/main" val="1105224779"/>
                    </a:ext>
                  </a:extLst>
                </a:gridCol>
              </a:tblGrid>
              <a:tr h="23623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236235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273217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  <p:sp>
        <p:nvSpPr>
          <p:cNvPr id="17" name="Text 7">
            <a:extLst>
              <a:ext uri="{FF2B5EF4-FFF2-40B4-BE49-F238E27FC236}">
                <a16:creationId xmlns:a16="http://schemas.microsoft.com/office/drawing/2014/main" id="{FD04F33C-E278-23E9-0264-CAC95382EAA7}"/>
              </a:ext>
            </a:extLst>
          </p:cNvPr>
          <p:cNvSpPr/>
          <p:nvPr/>
        </p:nvSpPr>
        <p:spPr>
          <a:xfrm>
            <a:off x="320040" y="346912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1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CD231252-5FF8-456E-16C7-45AA245BE1D0}"/>
              </a:ext>
            </a:extLst>
          </p:cNvPr>
          <p:cNvSpPr/>
          <p:nvPr/>
        </p:nvSpPr>
        <p:spPr>
          <a:xfrm>
            <a:off x="5623560" y="346430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0961-854E-EC71-472E-591F094F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531578A-E3BB-09BC-59CF-EC4114E95786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E15AF7-DD8E-4136-92A0-152A05D7BDB9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C8A423E-6CBC-6285-B644-90A897F665EC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0B0059-B144-1151-0203-90392E471778}"/>
              </a:ext>
            </a:extLst>
          </p:cNvPr>
          <p:cNvSpPr/>
          <p:nvPr/>
        </p:nvSpPr>
        <p:spPr>
          <a:xfrm>
            <a:off x="502920" y="2252281"/>
            <a:ext cx="8148161" cy="1920237"/>
          </a:xfrm>
          <a:prstGeom prst="rect">
            <a:avLst/>
          </a:prstGeom>
          <a:solidFill>
            <a:srgbClr val="F0F8F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66C2FBC-8DBB-B1B7-A2AD-9B94ED408D68}"/>
              </a:ext>
            </a:extLst>
          </p:cNvPr>
          <p:cNvSpPr/>
          <p:nvPr/>
        </p:nvSpPr>
        <p:spPr>
          <a:xfrm>
            <a:off x="588648" y="2803202"/>
            <a:ext cx="5280661" cy="10477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overall performance, comparable with heuristics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small TD loss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action choice</a:t>
            </a: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12B23C1-5D4F-C8C2-C317-5795A8B3CE33}"/>
              </a:ext>
            </a:extLst>
          </p:cNvPr>
          <p:cNvSpPr/>
          <p:nvPr/>
        </p:nvSpPr>
        <p:spPr>
          <a:xfrm>
            <a:off x="5960747" y="3034084"/>
            <a:ext cx="2766061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genuinely learning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94BADAC-E89C-B452-949C-0D76C130C014}"/>
              </a:ext>
            </a:extLst>
          </p:cNvPr>
          <p:cNvCxnSpPr/>
          <p:nvPr/>
        </p:nvCxnSpPr>
        <p:spPr>
          <a:xfrm>
            <a:off x="5629278" y="3296978"/>
            <a:ext cx="533400" cy="0"/>
          </a:xfrm>
          <a:prstGeom prst="straightConnector1">
            <a:avLst/>
          </a:prstGeom>
          <a:ln w="28575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775E278A-6ECD-2CC0-04B6-232778E09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593258"/>
              </p:ext>
            </p:extLst>
          </p:nvPr>
        </p:nvGraphicFramePr>
        <p:xfrm>
          <a:off x="525782" y="1019557"/>
          <a:ext cx="51206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30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1105224779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3568728515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1156081108"/>
                    </a:ext>
                  </a:extLst>
                </a:gridCol>
              </a:tblGrid>
              <a:tr h="26455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sorted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by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distance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  <p:sp>
        <p:nvSpPr>
          <p:cNvPr id="19" name="Text 8">
            <a:extLst>
              <a:ext uri="{FF2B5EF4-FFF2-40B4-BE49-F238E27FC236}">
                <a16:creationId xmlns:a16="http://schemas.microsoft.com/office/drawing/2014/main" id="{D4C2B804-F085-8FB8-F74C-F4A8DE171C55}"/>
              </a:ext>
            </a:extLst>
          </p:cNvPr>
          <p:cNvSpPr/>
          <p:nvPr/>
        </p:nvSpPr>
        <p:spPr>
          <a:xfrm>
            <a:off x="5989793" y="1286256"/>
            <a:ext cx="2766061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learned is </a:t>
            </a:r>
          </a:p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the heuristic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96C43A4C-15D6-5B2A-E554-84B6475071B3}"/>
              </a:ext>
            </a:extLst>
          </p:cNvPr>
          <p:cNvCxnSpPr>
            <a:cxnSpLocks/>
          </p:cNvCxnSpPr>
          <p:nvPr/>
        </p:nvCxnSpPr>
        <p:spPr>
          <a:xfrm>
            <a:off x="5857871" y="1588016"/>
            <a:ext cx="262891" cy="0"/>
          </a:xfrm>
          <a:prstGeom prst="straightConnector1">
            <a:avLst/>
          </a:prstGeom>
          <a:ln w="28575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7">
            <a:extLst>
              <a:ext uri="{FF2B5EF4-FFF2-40B4-BE49-F238E27FC236}">
                <a16:creationId xmlns:a16="http://schemas.microsoft.com/office/drawing/2014/main" id="{F2CB1858-9EB4-4CC7-7CE9-9191E65A2805}"/>
              </a:ext>
            </a:extLst>
          </p:cNvPr>
          <p:cNvSpPr/>
          <p:nvPr/>
        </p:nvSpPr>
        <p:spPr>
          <a:xfrm>
            <a:off x="542928" y="23940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552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F6A6-E9E3-70C5-C92D-6BE1B9378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2A185FB-6C81-C907-F1DB-81755007A792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A37824-64E3-AF34-8983-0045515CEB90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6B66D4-5DAB-F399-975C-EEF4926328F3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B2A6FF3E-20F2-75A6-1B97-44B9FA1FE1ED}"/>
              </a:ext>
            </a:extLst>
          </p:cNvPr>
          <p:cNvSpPr/>
          <p:nvPr/>
        </p:nvSpPr>
        <p:spPr>
          <a:xfrm>
            <a:off x="320040" y="1499077"/>
            <a:ext cx="2966085" cy="267462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4CF78298-C8EE-3DFC-B9F5-87B8383A3A3F}"/>
              </a:ext>
            </a:extLst>
          </p:cNvPr>
          <p:cNvSpPr/>
          <p:nvPr/>
        </p:nvSpPr>
        <p:spPr>
          <a:xfrm>
            <a:off x="457200" y="1623381"/>
            <a:ext cx="28289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setup</a:t>
            </a:r>
            <a:endParaRPr lang="en-US" sz="1400" b="1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3A8A94C0-CD7C-3FDC-8C84-B0A2547E143F}"/>
              </a:ext>
            </a:extLst>
          </p:cNvPr>
          <p:cNvSpPr/>
          <p:nvPr/>
        </p:nvSpPr>
        <p:spPr>
          <a:xfrm>
            <a:off x="457200" y="2001429"/>
            <a:ext cx="2828925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 20x20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Obstacle probability 0.05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range n = 3 cells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trained 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i="1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30DF32F-098E-D4E1-2549-4093D93099F1}"/>
              </a:ext>
            </a:extLst>
          </p:cNvPr>
          <p:cNvSpPr/>
          <p:nvPr/>
        </p:nvSpPr>
        <p:spPr>
          <a:xfrm>
            <a:off x="370840" y="915257"/>
            <a:ext cx="3279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simulation rendering</a:t>
            </a:r>
          </a:p>
        </p:txBody>
      </p:sp>
      <p:pic>
        <p:nvPicPr>
          <p:cNvPr id="10" name="video_best-model">
            <a:hlinkClick r:id="" action="ppaction://media"/>
            <a:extLst>
              <a:ext uri="{FF2B5EF4-FFF2-40B4-BE49-F238E27FC236}">
                <a16:creationId xmlns:a16="http://schemas.microsoft.com/office/drawing/2014/main" id="{1886301F-9F9A-6B6B-4DF9-26194CA044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04344" y="1460466"/>
            <a:ext cx="5703922" cy="2851962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8B651904-6CC3-8EB9-9C38-70B530C7C402}"/>
              </a:ext>
            </a:extLst>
          </p:cNvPr>
          <p:cNvSpPr/>
          <p:nvPr/>
        </p:nvSpPr>
        <p:spPr>
          <a:xfrm>
            <a:off x="4081462" y="1417601"/>
            <a:ext cx="4419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rendering example – Heuristic policy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92643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Comparison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96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100 test episodes per map size. Metric: mean episode reward at episode end (coverage 90%).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543725"/>
                  </p:ext>
                </p:extLst>
              </p:nvPr>
            </p:nvGraphicFramePr>
            <p:xfrm>
              <a:off x="528636" y="1578772"/>
              <a:ext cx="8086728" cy="2521740"/>
            </p:xfrm>
            <a:graphic>
              <a:graphicData uri="http://schemas.openxmlformats.org/drawingml/2006/table">
                <a:tbl>
                  <a:tblPr/>
                  <a:tblGrid>
                    <a:gridCol w="13477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Reward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Obs. Order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20×20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30×30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Outcome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16.48</a:t>
                          </a:r>
                          <a14:m>
                            <m:oMath xmlns:m="http://schemas.openxmlformats.org/officeDocument/2006/math"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 </a:t>
                          </a: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1.78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36.39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1.27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15.01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it-IT" sz="13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1.12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34.32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2.58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1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Relative - 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300" i="0" dirty="0"/>
                            <a:t>16.91</a:t>
                          </a:r>
                          <a:r>
                            <a:rPr lang="it-IT" sz="1300" i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 </a:t>
                          </a:r>
                          <a:r>
                            <a:rPr lang="it-IT" sz="1300" i="0" dirty="0"/>
                            <a:t>0.57</a:t>
                          </a:r>
                        </a:p>
                        <a:p>
                          <a:pPr marL="0" indent="0" algn="ctr">
                            <a:buNone/>
                          </a:pP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i="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C8472C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⚠ Degenerate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2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Absolute + Agent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Unsorted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300" i="0" dirty="0"/>
                            <a:t>15.55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it-IT" sz="1300" i="0" dirty="0"/>
                            <a:t> 2.45</a:t>
                          </a:r>
                        </a:p>
                        <a:p>
                          <a:pPr algn="ctr"/>
                          <a:endParaRPr lang="it-IT" sz="1300" i="0" dirty="0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3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31.46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it-IT" sz="1300" b="0" i="0" u="none" strike="noStrike" kern="1200" baseline="0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4.75</m:t>
                              </m:r>
                            </m:oMath>
                          </a14:m>
                          <a:endParaRPr lang="it-IT" sz="1300" i="0" dirty="0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2E7D32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✓ Converged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0FB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543725"/>
                  </p:ext>
                </p:extLst>
              </p:nvPr>
            </p:nvGraphicFramePr>
            <p:xfrm>
              <a:off x="528636" y="1578772"/>
              <a:ext cx="8086728" cy="2521740"/>
            </p:xfrm>
            <a:graphic>
              <a:graphicData uri="http://schemas.openxmlformats.org/drawingml/2006/table">
                <a:tbl>
                  <a:tblPr/>
                  <a:tblGrid>
                    <a:gridCol w="13477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Reward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Obs. Order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20×20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30×30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Outcome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101205" r="-201357" b="-3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099" t="-101205" r="-100450" b="-3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201205" r="-201357" b="-2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099" t="-201205" r="-100450" b="-2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1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Relative - 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301205" r="-201357" b="-1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i="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C8472C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⚠ Degenerate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2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Absolute + Agent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Unsorted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401205" r="-201357" b="-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099" t="-401205" r="-100450" b="-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2E7D32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✓ Converged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0FB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93354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DRL model was successfully integrated in a modular frontier-based exploration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9249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revealed the critical influence of observation and reward configuration on the learned policy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6573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demonstrates convergent training with stable loss — a proof-of-concept for learned frontier selection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framework can be considered validated by the meaningful results obtained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end-to-end DRL system, multi-agent settings, dynamic and 3D environments, more complex information structures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1CCEB-5AA5-084F-DE39-6223F847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924787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ontespizi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41429A-0E20-4A37-B7F9-5B30E28FAAB5}">
  <we:reference id="wa200010001" version="1.0.0.1" store="it-IT" storeType="OMEX"/>
  <we:alternateReferences>
    <we:reference id="WA200010001" version="1.0.0.1" store="WA200010001" storeType="OMEX"/>
  </we:alternateReferences>
  <we:properties>
    <we:property name="claude.fileId" value="&quot;a0536ab6-2f2e-4d83-9a69-81edefdca9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2296</TotalTime>
  <Words>1126</Words>
  <Application>Microsoft Office PowerPoint</Application>
  <PresentationFormat>Presentazione su schermo (16:9)</PresentationFormat>
  <Paragraphs>297</Paragraphs>
  <Slides>22</Slides>
  <Notes>14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Courier New</vt:lpstr>
      <vt:lpstr>standard slide</vt:lpstr>
      <vt:lpstr>Frontespizio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in Frontier-Based Autonomous Exploration</dc:title>
  <dc:subject>PptxGenJS Presentation</dc:subject>
  <dc:creator>Paolo Spallanzani</dc:creator>
  <cp:lastModifiedBy>PAOLO SPALLANZANI</cp:lastModifiedBy>
  <cp:revision>25</cp:revision>
  <dcterms:created xsi:type="dcterms:W3CDTF">2026-04-01T11:00:14Z</dcterms:created>
  <dcterms:modified xsi:type="dcterms:W3CDTF">2026-04-08T09:41:05Z</dcterms:modified>
</cp:coreProperties>
</file>